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6E9EF"/>
                </a:solidFill>
                <a:latin typeface="Calibri"/>
              </a:defRPr>
            </a:pPr>
            <a:r>
              <a:rPr sz="1200" b="0" i="0" u="none" strike="noStrike">
                <a:solidFill>
                  <a:srgbClr val="E6E9EF"/>
                </a:solidFill>
                <a:latin typeface="Calibri"/>
              </a:rPr>
              <a:t>Average FPS, mean of 5 runs</a:t>
            </a:r>
          </a:p>
        </c:rich>
      </c:tx>
      <c:layout/>
      <c:overlay val="0"/>
    </c:title>
    <c:autoTitleDeleted val="0"/>
    <c:plotArea>
      <c:layout/>
      <c:barChart>
        <c:barDir val="col"/>
        <c:grouping val="clustered"/>
        <c:varyColors val="0"/>
        <c:ser>
          <c:idx val="0"/>
          <c:order val="0"/>
          <c:tx>
            <c:strRef>
              <c:f>Sheet1!$B$1</c:f>
              <c:strCache>
                <c:ptCount val="1"/>
                <c:pt idx="0">
                  <c:v>None (n=5)</c:v>
                </c:pt>
              </c:strCache>
            </c:strRef>
          </c:tx>
          <c:spPr>
            <a:solidFill>
              <a:srgbClr val="7B8494"/>
            </a:solidFill>
            <a:effectLst/>
          </c:spPr>
          <c:invertIfNegative val="0"/>
          <c:dLbls>
            <c:numFmt formatCode="0.0" sourceLinked="0"/>
            <c:txPr>
              <a:bodyPr/>
              <a:lstStyle/>
              <a:p>
                <a:pPr>
                  <a:defRPr b="0" i="0" strike="noStrike" sz="1000" u="none">
                    <a:solidFill>
                      <a:srgbClr val="E6E9E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1920x1080</c:v>
                  </c:pt>
                  <c:pt idx="1">
                    <c:v>2560x1440</c:v>
                  </c:pt>
                </c:lvl>
              </c:multiLvlStrCache>
            </c:multiLvlStrRef>
          </c:cat>
          <c:val>
            <c:numRef>
              <c:f>Sheet1!$B$2:$B$3</c:f>
              <c:numCache>
                <c:formatCode>General</c:formatCode>
                <c:ptCount val="2"/>
                <c:pt idx="0">
                  <c:v>21.4</c:v>
                </c:pt>
                <c:pt idx="1">
                  <c:v>19.6</c:v>
                </c:pt>
              </c:numCache>
            </c:numRef>
          </c:val>
        </c:ser>
        <c:ser>
          <c:idx val="1"/>
          <c:order val="1"/>
          <c:tx>
            <c:strRef>
              <c:f>Sheet1!$C$1</c:f>
              <c:strCache>
                <c:ptCount val="1"/>
                <c:pt idx="0">
                  <c:v>Adaptive (n=5)</c:v>
                </c:pt>
              </c:strCache>
            </c:strRef>
          </c:tx>
          <c:spPr>
            <a:solidFill>
              <a:srgbClr val="35D0E8"/>
            </a:solidFill>
            <a:effectLst/>
          </c:spPr>
          <c:invertIfNegative val="0"/>
          <c:dLbls>
            <c:numFmt formatCode="0.0" sourceLinked="0"/>
            <c:txPr>
              <a:bodyPr/>
              <a:lstStyle/>
              <a:p>
                <a:pPr>
                  <a:defRPr b="0" i="0" strike="noStrike" sz="1000" u="none">
                    <a:solidFill>
                      <a:srgbClr val="E6E9E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1920x1080</c:v>
                  </c:pt>
                  <c:pt idx="1">
                    <c:v>2560x1440</c:v>
                  </c:pt>
                </c:lvl>
              </c:multiLvlStrCache>
            </c:multiLvlStrRef>
          </c:cat>
          <c:val>
            <c:numRef>
              <c:f>Sheet1!$C$2:$C$3</c:f>
              <c:numCache>
                <c:formatCode>General</c:formatCode>
                <c:ptCount val="2"/>
                <c:pt idx="0">
                  <c:v>96.8</c:v>
                </c:pt>
                <c:pt idx="1">
                  <c:v>72.1</c:v>
                </c:pt>
              </c:numCache>
            </c:numRef>
          </c:val>
        </c:ser>
        <c:dLbls>
          <c:numFmt formatCode="0.0" sourceLinked="0"/>
          <c:txPr>
            <a:bodyPr/>
            <a:lstStyle/>
            <a:p>
              <a:pPr>
                <a:defRPr b="0" i="0" strike="noStrike" sz="1000" u="none">
                  <a:solidFill>
                    <a:srgbClr val="E6E9E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AA3B2"/>
                </a:solidFill>
                <a:latin typeface="Calibri"/>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6350" cap="flat">
              <a:solidFill>
                <a:srgbClr val="2C3340"/>
              </a:solidFill>
              <a:prstDash val="solid"/>
              <a:round/>
            </a:ln>
          </c:spPr>
        </c:majorGridlines>
        <c:title>
          <c:tx>
            <c:rich>
              <a:bodyPr/>
              <a:lstStyle/>
              <a:p>
                <a:pPr>
                  <a:defRPr sz="1000" b="0" i="0" u="none" strike="noStrike">
                    <a:solidFill>
                      <a:srgbClr val="9AA3B2"/>
                    </a:solidFill>
                    <a:latin typeface="Arial"/>
                  </a:defRPr>
                </a:pPr>
                <a:r>
                  <a:rPr sz="1000" b="0" i="0" u="none" strike="noStrike">
                    <a:solidFill>
                      <a:srgbClr val="9AA3B2"/>
                    </a:solidFill>
                    <a:latin typeface="Arial"/>
                  </a:rPr>
                  <a:t>Average FPS (higher is better)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3B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E6E9E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6E9EF"/>
                </a:solidFill>
                <a:latin typeface="Calibri"/>
              </a:defRPr>
            </a:pPr>
            <a:r>
              <a:rPr sz="1200" b="0" i="0" u="none" strike="noStrike">
                <a:solidFill>
                  <a:srgbClr val="E6E9EF"/>
                </a:solidFill>
                <a:latin typeface="Calibri"/>
              </a:rPr>
              <a:t>1440p: FPS over time (mean of 5)</a:t>
            </a:r>
          </a:p>
        </c:rich>
      </c:tx>
      <c:layout/>
      <c:overlay val="0"/>
    </c:title>
    <c:autoTitleDeleted val="0"/>
    <c:plotArea>
      <c:layout/>
      <c:lineChart>
        <c:varyColors val="0"/>
        <c:ser>
          <c:idx val="0"/>
          <c:order val="0"/>
          <c:tx>
            <c:strRef>
              <c:f>Sheet1!$B$1</c:f>
              <c:strCache>
                <c:ptCount val="1"/>
                <c:pt idx="0">
                  <c:v>None</c:v>
                </c:pt>
              </c:strCache>
            </c:strRef>
          </c:tx>
          <c:spPr>
            <a:solidFill>
              <a:srgbClr val="7B8494"/>
            </a:solidFill>
            <a:ln w="25400" cap="flat">
              <a:solidFill>
                <a:srgbClr val="7B849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B8494"/>
              </a:solidFill>
              <a:ln w="9525" cap="flat">
                <a:solidFill>
                  <a:srgbClr val="7B8494"/>
                </a:solidFill>
                <a:prstDash val="solid"/>
                <a:round/>
              </a:ln>
              <a:effectLst/>
            </c:spPr>
          </c:marker>
          <c:cat>
            <c:multiLvlStrRef>
              <c:f>Sheet1!$A$2:$A$61</c:f>
              <c:multiLvlStrCache>
                <c:ptCount val="6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lvl>
              </c:multiLvlStrCache>
            </c:multiLvlStrRef>
          </c:cat>
          <c:val>
            <c:numRef>
              <c:f>Sheet1!$B$2:$B$61</c:f>
              <c:numCache>
                <c:formatCode>General</c:formatCode>
                <c:ptCount val="60"/>
                <c:pt idx="0">
                  <c:v>18</c:v>
                </c:pt>
                <c:pt idx="1">
                  <c:v>17</c:v>
                </c:pt>
                <c:pt idx="2">
                  <c:v>17</c:v>
                </c:pt>
                <c:pt idx="3">
                  <c:v>18</c:v>
                </c:pt>
                <c:pt idx="4">
                  <c:v>18.4</c:v>
                </c:pt>
                <c:pt idx="5">
                  <c:v>19.8</c:v>
                </c:pt>
                <c:pt idx="6">
                  <c:v>21.2</c:v>
                </c:pt>
                <c:pt idx="7">
                  <c:v>21.8</c:v>
                </c:pt>
                <c:pt idx="8">
                  <c:v>21.8</c:v>
                </c:pt>
                <c:pt idx="9">
                  <c:v>20.8</c:v>
                </c:pt>
                <c:pt idx="10">
                  <c:v>18</c:v>
                </c:pt>
                <c:pt idx="11">
                  <c:v>14.8</c:v>
                </c:pt>
                <c:pt idx="12">
                  <c:v>13.6</c:v>
                </c:pt>
                <c:pt idx="13">
                  <c:v>13</c:v>
                </c:pt>
                <c:pt idx="14">
                  <c:v>13.2</c:v>
                </c:pt>
                <c:pt idx="15">
                  <c:v>13</c:v>
                </c:pt>
                <c:pt idx="16">
                  <c:v>13.2</c:v>
                </c:pt>
                <c:pt idx="17">
                  <c:v>13</c:v>
                </c:pt>
                <c:pt idx="18">
                  <c:v>13.8</c:v>
                </c:pt>
                <c:pt idx="19">
                  <c:v>14</c:v>
                </c:pt>
                <c:pt idx="20">
                  <c:v>14</c:v>
                </c:pt>
                <c:pt idx="21">
                  <c:v>14</c:v>
                </c:pt>
                <c:pt idx="22">
                  <c:v>14.2</c:v>
                </c:pt>
                <c:pt idx="23">
                  <c:v>14.4</c:v>
                </c:pt>
                <c:pt idx="24">
                  <c:v>14.6</c:v>
                </c:pt>
                <c:pt idx="25">
                  <c:v>15</c:v>
                </c:pt>
                <c:pt idx="26">
                  <c:v>15.4</c:v>
                </c:pt>
                <c:pt idx="27">
                  <c:v>16.6</c:v>
                </c:pt>
                <c:pt idx="28">
                  <c:v>17.2</c:v>
                </c:pt>
                <c:pt idx="29">
                  <c:v>17.2</c:v>
                </c:pt>
                <c:pt idx="30">
                  <c:v>18</c:v>
                </c:pt>
                <c:pt idx="31">
                  <c:v>18</c:v>
                </c:pt>
                <c:pt idx="32">
                  <c:v>18.4</c:v>
                </c:pt>
                <c:pt idx="33">
                  <c:v>19.6</c:v>
                </c:pt>
                <c:pt idx="34">
                  <c:v>20</c:v>
                </c:pt>
                <c:pt idx="35">
                  <c:v>21.4</c:v>
                </c:pt>
                <c:pt idx="36">
                  <c:v>22.6</c:v>
                </c:pt>
                <c:pt idx="37">
                  <c:v>23</c:v>
                </c:pt>
                <c:pt idx="38">
                  <c:v>22</c:v>
                </c:pt>
                <c:pt idx="39">
                  <c:v>23</c:v>
                </c:pt>
                <c:pt idx="40">
                  <c:v>22.4</c:v>
                </c:pt>
                <c:pt idx="41">
                  <c:v>23.2</c:v>
                </c:pt>
                <c:pt idx="42">
                  <c:v>24.8</c:v>
                </c:pt>
                <c:pt idx="43">
                  <c:v>26</c:v>
                </c:pt>
                <c:pt idx="44">
                  <c:v>25</c:v>
                </c:pt>
                <c:pt idx="45">
                  <c:v>23</c:v>
                </c:pt>
                <c:pt idx="46">
                  <c:v>22.4</c:v>
                </c:pt>
                <c:pt idx="47">
                  <c:v>22.8</c:v>
                </c:pt>
                <c:pt idx="48">
                  <c:v>23.6</c:v>
                </c:pt>
                <c:pt idx="49">
                  <c:v>25.8</c:v>
                </c:pt>
                <c:pt idx="50">
                  <c:v>27.4</c:v>
                </c:pt>
                <c:pt idx="51">
                  <c:v>27.8</c:v>
                </c:pt>
                <c:pt idx="52">
                  <c:v>28.2</c:v>
                </c:pt>
                <c:pt idx="53">
                  <c:v>26.8</c:v>
                </c:pt>
                <c:pt idx="54">
                  <c:v>23.8</c:v>
                </c:pt>
                <c:pt idx="55">
                  <c:v>23.2</c:v>
                </c:pt>
                <c:pt idx="56">
                  <c:v>20.8</c:v>
                </c:pt>
                <c:pt idx="57">
                  <c:v>20.4</c:v>
                </c:pt>
                <c:pt idx="58">
                  <c:v>21</c:v>
                </c:pt>
                <c:pt idx="59">
                  <c:v>22</c:v>
                </c:pt>
              </c:numCache>
            </c:numRef>
          </c:val>
          <c:smooth val="0"/>
        </c:ser>
        <c:ser>
          <c:idx val="1"/>
          <c:order val="1"/>
          <c:tx>
            <c:strRef>
              <c:f>Sheet1!$C$1</c:f>
              <c:strCache>
                <c:ptCount val="1"/>
                <c:pt idx="0">
                  <c:v>Adaptive</c:v>
                </c:pt>
              </c:strCache>
            </c:strRef>
          </c:tx>
          <c:spPr>
            <a:solidFill>
              <a:srgbClr val="35D0E8"/>
            </a:solidFill>
            <a:ln w="25400" cap="flat">
              <a:solidFill>
                <a:srgbClr val="35D0E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5D0E8"/>
              </a:solidFill>
              <a:ln w="9525" cap="flat">
                <a:solidFill>
                  <a:srgbClr val="35D0E8"/>
                </a:solidFill>
                <a:prstDash val="solid"/>
                <a:round/>
              </a:ln>
              <a:effectLst/>
            </c:spPr>
          </c:marker>
          <c:cat>
            <c:multiLvlStrRef>
              <c:f>Sheet1!$A$2:$A$61</c:f>
              <c:multiLvlStrCache>
                <c:ptCount val="6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lvl>
              </c:multiLvlStrCache>
            </c:multiLvlStrRef>
          </c:cat>
          <c:val>
            <c:numRef>
              <c:f>Sheet1!$C$2:$C$61</c:f>
              <c:numCache>
                <c:formatCode>General</c:formatCode>
                <c:ptCount val="60"/>
                <c:pt idx="0">
                  <c:v>71</c:v>
                </c:pt>
                <c:pt idx="1">
                  <c:v>73.8</c:v>
                </c:pt>
                <c:pt idx="2">
                  <c:v>74</c:v>
                </c:pt>
                <c:pt idx="3">
                  <c:v>74.4</c:v>
                </c:pt>
                <c:pt idx="4">
                  <c:v>75.2</c:v>
                </c:pt>
                <c:pt idx="5">
                  <c:v>75.2</c:v>
                </c:pt>
                <c:pt idx="6">
                  <c:v>76</c:v>
                </c:pt>
                <c:pt idx="7">
                  <c:v>76</c:v>
                </c:pt>
                <c:pt idx="8">
                  <c:v>75.8</c:v>
                </c:pt>
                <c:pt idx="9">
                  <c:v>73.8</c:v>
                </c:pt>
                <c:pt idx="10">
                  <c:v>70.6</c:v>
                </c:pt>
                <c:pt idx="11">
                  <c:v>66.4</c:v>
                </c:pt>
                <c:pt idx="12">
                  <c:v>66</c:v>
                </c:pt>
                <c:pt idx="13">
                  <c:v>65.2</c:v>
                </c:pt>
                <c:pt idx="14">
                  <c:v>63.6</c:v>
                </c:pt>
                <c:pt idx="15">
                  <c:v>61</c:v>
                </c:pt>
                <c:pt idx="16">
                  <c:v>58.2</c:v>
                </c:pt>
                <c:pt idx="17">
                  <c:v>57.8</c:v>
                </c:pt>
                <c:pt idx="18">
                  <c:v>64.4</c:v>
                </c:pt>
                <c:pt idx="19">
                  <c:v>67</c:v>
                </c:pt>
                <c:pt idx="20">
                  <c:v>67.2</c:v>
                </c:pt>
                <c:pt idx="21">
                  <c:v>65.2</c:v>
                </c:pt>
                <c:pt idx="22">
                  <c:v>66.6</c:v>
                </c:pt>
                <c:pt idx="23">
                  <c:v>65.2</c:v>
                </c:pt>
                <c:pt idx="24">
                  <c:v>65</c:v>
                </c:pt>
                <c:pt idx="25">
                  <c:v>68.4</c:v>
                </c:pt>
                <c:pt idx="26">
                  <c:v>74.4</c:v>
                </c:pt>
                <c:pt idx="27">
                  <c:v>69.4</c:v>
                </c:pt>
                <c:pt idx="28">
                  <c:v>83.4</c:v>
                </c:pt>
                <c:pt idx="29">
                  <c:v>74</c:v>
                </c:pt>
                <c:pt idx="30">
                  <c:v>78</c:v>
                </c:pt>
                <c:pt idx="31">
                  <c:v>69.6</c:v>
                </c:pt>
                <c:pt idx="32">
                  <c:v>67.8</c:v>
                </c:pt>
                <c:pt idx="33">
                  <c:v>80.2</c:v>
                </c:pt>
                <c:pt idx="34">
                  <c:v>72.8</c:v>
                </c:pt>
                <c:pt idx="35">
                  <c:v>75</c:v>
                </c:pt>
                <c:pt idx="36">
                  <c:v>92.8</c:v>
                </c:pt>
                <c:pt idx="37">
                  <c:v>78.8</c:v>
                </c:pt>
                <c:pt idx="38">
                  <c:v>76.2</c:v>
                </c:pt>
                <c:pt idx="39">
                  <c:v>80</c:v>
                </c:pt>
                <c:pt idx="40">
                  <c:v>72.4</c:v>
                </c:pt>
                <c:pt idx="41">
                  <c:v>74.2</c:v>
                </c:pt>
                <c:pt idx="42">
                  <c:v>75.6</c:v>
                </c:pt>
                <c:pt idx="43">
                  <c:v>84</c:v>
                </c:pt>
                <c:pt idx="44">
                  <c:v>72.6</c:v>
                </c:pt>
                <c:pt idx="45">
                  <c:v>66</c:v>
                </c:pt>
                <c:pt idx="46">
                  <c:v>65.2</c:v>
                </c:pt>
                <c:pt idx="47">
                  <c:v>68.2</c:v>
                </c:pt>
                <c:pt idx="48">
                  <c:v>71.6</c:v>
                </c:pt>
                <c:pt idx="49">
                  <c:v>77</c:v>
                </c:pt>
                <c:pt idx="50">
                  <c:v>84.4</c:v>
                </c:pt>
                <c:pt idx="51">
                  <c:v>77.2</c:v>
                </c:pt>
                <c:pt idx="52">
                  <c:v>78.6</c:v>
                </c:pt>
                <c:pt idx="53">
                  <c:v>76.2</c:v>
                </c:pt>
                <c:pt idx="54">
                  <c:v>71.6</c:v>
                </c:pt>
                <c:pt idx="55">
                  <c:v>74.6</c:v>
                </c:pt>
                <c:pt idx="56">
                  <c:v>69.4</c:v>
                </c:pt>
                <c:pt idx="57">
                  <c:v>68</c:v>
                </c:pt>
                <c:pt idx="58">
                  <c:v>70</c:v>
                </c:pt>
                <c:pt idx="59">
                  <c:v>74.6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9AA3B2"/>
                    </a:solidFill>
                    <a:latin typeface="Arial"/>
                  </a:defRPr>
                </a:pPr>
                <a:r>
                  <a:rPr sz="1000" b="0" i="0" u="none" strike="noStrike">
                    <a:solidFill>
                      <a:srgbClr val="9AA3B2"/>
                    </a:solidFill>
                    <a:latin typeface="Arial"/>
                  </a:rPr>
                  <a:t>time (s)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AA3B2"/>
                </a:solidFill>
                <a:latin typeface="Calibri"/>
              </a:defRPr>
            </a:pPr>
            <a:endParaRPr lang="en-US"/>
          </a:p>
        </c:txPr>
        <c:crossAx val="2094734552"/>
        <c:crosses val="autoZero"/>
        <c:auto val="1"/>
        <c:lblAlgn val="ctr"/>
        <c:noMultiLvlLbl val="1"/>
        <c:tickLblSkip val="10"/>
      </c:catAx>
      <c:valAx>
        <c:axId val="2094734552"/>
        <c:scaling>
          <c:orientation val="minMax"/>
          <c:max val="100"/>
          <c:min val="0"/>
        </c:scaling>
        <c:delete val="0"/>
        <c:axPos val="l"/>
        <c:majorGridlines>
          <c:spPr>
            <a:ln w="6350" cap="flat">
              <a:solidFill>
                <a:srgbClr val="2C3340"/>
              </a:solidFill>
              <a:prstDash val="solid"/>
              <a:round/>
            </a:ln>
          </c:spPr>
        </c:majorGridlines>
        <c:title>
          <c:tx>
            <c:rich>
              <a:bodyPr/>
              <a:lstStyle/>
              <a:p>
                <a:pPr>
                  <a:defRPr sz="1000" b="0" i="0" u="none" strike="noStrike">
                    <a:solidFill>
                      <a:srgbClr val="9AA3B2"/>
                    </a:solidFill>
                    <a:latin typeface="Arial"/>
                  </a:defRPr>
                </a:pPr>
                <a:r>
                  <a:rPr sz="1000" b="0" i="0" u="none" strike="noStrike">
                    <a:solidFill>
                      <a:srgbClr val="9AA3B2"/>
                    </a:solidFill>
                    <a:latin typeface="Arial"/>
                  </a:rPr>
                  <a:t>FPS per 1 s bin</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3B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E6E9E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6E9EF"/>
                </a:solidFill>
                <a:latin typeface="Calibri"/>
              </a:defRPr>
            </a:pPr>
            <a:r>
              <a:rPr sz="1200" b="0" i="0" u="none" strike="noStrike">
                <a:solidFill>
                  <a:srgbClr val="E6E9EF"/>
                </a:solidFill>
                <a:latin typeface="Calibri"/>
              </a:rPr>
              <a:t>Adaptive bias over time (mean of 5)</a:t>
            </a:r>
          </a:p>
        </c:rich>
      </c:tx>
      <c:layout/>
      <c:overlay val="0"/>
    </c:title>
    <c:autoTitleDeleted val="0"/>
    <c:plotArea>
      <c:layout/>
      <c:lineChart>
        <c:varyColors val="0"/>
        <c:ser>
          <c:idx val="0"/>
          <c:order val="0"/>
          <c:tx>
            <c:strRef>
              <c:f>Sheet1!$B$1</c:f>
              <c:strCache>
                <c:ptCount val="1"/>
                <c:pt idx="0">
                  <c:v>1080p (target 16.67 ms)</c:v>
                </c:pt>
              </c:strCache>
            </c:strRef>
          </c:tx>
          <c:spPr>
            <a:solidFill>
              <a:srgbClr val="A78BFA"/>
            </a:solidFill>
            <a:ln w="25400" cap="flat">
              <a:solidFill>
                <a:srgbClr val="A78BF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78BFA"/>
              </a:solidFill>
              <a:ln w="9525" cap="flat">
                <a:solidFill>
                  <a:srgbClr val="A78BFA"/>
                </a:solidFill>
                <a:prstDash val="solid"/>
                <a:round/>
              </a:ln>
              <a:effectLst/>
            </c:spPr>
          </c:marker>
          <c:cat>
            <c:multiLvlStrRef>
              <c:f>Sheet1!$A$2:$A$61</c:f>
              <c:multiLvlStrCache>
                <c:ptCount val="6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lvl>
              </c:multiLvlStrCache>
            </c:multiLvlStrRef>
          </c:cat>
          <c:val>
            <c:numRef>
              <c:f>Sheet1!$B$2:$B$61</c:f>
              <c:numCache>
                <c:formatCode>General</c:formatCode>
                <c:ptCount val="6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numCache>
            </c:numRef>
          </c:val>
          <c:smooth val="0"/>
        </c:ser>
        <c:ser>
          <c:idx val="1"/>
          <c:order val="1"/>
          <c:tx>
            <c:strRef>
              <c:f>Sheet1!$C$1</c:f>
              <c:strCache>
                <c:ptCount val="1"/>
                <c:pt idx="0">
                  <c:v>1440p (target 8 ms)</c:v>
                </c:pt>
              </c:strCache>
            </c:strRef>
          </c:tx>
          <c:spPr>
            <a:solidFill>
              <a:srgbClr val="35D0E8"/>
            </a:solidFill>
            <a:ln w="25400" cap="flat">
              <a:solidFill>
                <a:srgbClr val="35D0E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5D0E8"/>
              </a:solidFill>
              <a:ln w="9525" cap="flat">
                <a:solidFill>
                  <a:srgbClr val="35D0E8"/>
                </a:solidFill>
                <a:prstDash val="solid"/>
                <a:round/>
              </a:ln>
              <a:effectLst/>
            </c:spPr>
          </c:marker>
          <c:cat>
            <c:multiLvlStrRef>
              <c:f>Sheet1!$A$2:$A$61</c:f>
              <c:multiLvlStrCache>
                <c:ptCount val="6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lvl>
              </c:multiLvlStrCache>
            </c:multiLvlStrRef>
          </c:cat>
          <c:val>
            <c:numRef>
              <c:f>Sheet1!$C$2:$C$61</c:f>
              <c:numCache>
                <c:formatCode>General</c:formatCode>
                <c:ptCount val="60"/>
                <c:pt idx="0">
                  <c:v>0.11</c:v>
                </c:pt>
                <c:pt idx="1">
                  <c:v>0.44</c:v>
                </c:pt>
                <c:pt idx="2">
                  <c:v>0.68</c:v>
                </c:pt>
                <c:pt idx="3">
                  <c:v>0.9</c:v>
                </c:pt>
                <c:pt idx="4">
                  <c:v>1.13</c:v>
                </c:pt>
                <c:pt idx="5">
                  <c:v>1.36</c:v>
                </c:pt>
                <c:pt idx="6">
                  <c:v>1.58</c:v>
                </c:pt>
                <c:pt idx="7">
                  <c:v>1.78</c:v>
                </c:pt>
                <c:pt idx="8">
                  <c:v>1.97</c:v>
                </c:pt>
                <c:pt idx="9">
                  <c:v>2</c:v>
                </c:pt>
                <c:pt idx="10">
                  <c:v>2</c:v>
                </c:pt>
                <c:pt idx="11">
                  <c:v>2</c:v>
                </c:pt>
                <c:pt idx="12">
                  <c:v>2</c:v>
                </c:pt>
                <c:pt idx="13">
                  <c:v>2</c:v>
                </c:pt>
                <c:pt idx="14">
                  <c:v>2</c:v>
                </c:pt>
                <c:pt idx="15">
                  <c:v>2</c:v>
                </c:pt>
                <c:pt idx="16">
                  <c:v>2</c:v>
                </c:pt>
                <c:pt idx="17">
                  <c:v>2</c:v>
                </c:pt>
                <c:pt idx="18">
                  <c:v>2</c:v>
                </c:pt>
                <c:pt idx="19">
                  <c:v>2</c:v>
                </c:pt>
                <c:pt idx="20">
                  <c:v>2</c:v>
                </c:pt>
                <c:pt idx="21">
                  <c:v>2</c:v>
                </c:pt>
                <c:pt idx="22">
                  <c:v>2</c:v>
                </c:pt>
                <c:pt idx="23">
                  <c:v>2</c:v>
                </c:pt>
                <c:pt idx="24">
                  <c:v>2</c:v>
                </c:pt>
                <c:pt idx="25">
                  <c:v>2</c:v>
                </c:pt>
                <c:pt idx="26">
                  <c:v>2</c:v>
                </c:pt>
                <c:pt idx="27">
                  <c:v>2</c:v>
                </c:pt>
                <c:pt idx="28">
                  <c:v>2</c:v>
                </c:pt>
                <c:pt idx="29">
                  <c:v>2</c:v>
                </c:pt>
                <c:pt idx="30">
                  <c:v>2</c:v>
                </c:pt>
                <c:pt idx="31">
                  <c:v>2</c:v>
                </c:pt>
                <c:pt idx="32">
                  <c:v>2</c:v>
                </c:pt>
                <c:pt idx="33">
                  <c:v>2</c:v>
                </c:pt>
                <c:pt idx="34">
                  <c:v>2</c:v>
                </c:pt>
                <c:pt idx="35">
                  <c:v>2</c:v>
                </c:pt>
                <c:pt idx="36">
                  <c:v>2</c:v>
                </c:pt>
                <c:pt idx="37">
                  <c:v>1.99</c:v>
                </c:pt>
                <c:pt idx="38">
                  <c:v>2</c:v>
                </c:pt>
                <c:pt idx="39">
                  <c:v>2</c:v>
                </c:pt>
                <c:pt idx="40">
                  <c:v>2</c:v>
                </c:pt>
                <c:pt idx="41">
                  <c:v>2</c:v>
                </c:pt>
                <c:pt idx="42">
                  <c:v>2</c:v>
                </c:pt>
                <c:pt idx="43">
                  <c:v>2</c:v>
                </c:pt>
                <c:pt idx="44">
                  <c:v>2</c:v>
                </c:pt>
                <c:pt idx="45">
                  <c:v>2</c:v>
                </c:pt>
                <c:pt idx="46">
                  <c:v>2</c:v>
                </c:pt>
                <c:pt idx="47">
                  <c:v>2</c:v>
                </c:pt>
                <c:pt idx="48">
                  <c:v>2</c:v>
                </c:pt>
                <c:pt idx="49">
                  <c:v>2</c:v>
                </c:pt>
                <c:pt idx="50">
                  <c:v>2</c:v>
                </c:pt>
                <c:pt idx="51">
                  <c:v>2</c:v>
                </c:pt>
                <c:pt idx="52">
                  <c:v>2</c:v>
                </c:pt>
                <c:pt idx="53">
                  <c:v>2</c:v>
                </c:pt>
                <c:pt idx="54">
                  <c:v>2</c:v>
                </c:pt>
                <c:pt idx="55">
                  <c:v>2</c:v>
                </c:pt>
                <c:pt idx="56">
                  <c:v>2</c:v>
                </c:pt>
                <c:pt idx="57">
                  <c:v>2</c:v>
                </c:pt>
                <c:pt idx="58">
                  <c:v>2</c:v>
                </c:pt>
                <c:pt idx="59">
                  <c:v>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9AA3B2"/>
                    </a:solidFill>
                    <a:latin typeface="Arial"/>
                  </a:defRPr>
                </a:pPr>
                <a:r>
                  <a:rPr sz="1000" b="0" i="0" u="none" strike="noStrike">
                    <a:solidFill>
                      <a:srgbClr val="9AA3B2"/>
                    </a:solidFill>
                    <a:latin typeface="Arial"/>
                  </a:rPr>
                  <a:t>time (s)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AA3B2"/>
                </a:solidFill>
                <a:latin typeface="Calibri"/>
              </a:defRPr>
            </a:pPr>
            <a:endParaRPr lang="en-US"/>
          </a:p>
        </c:txPr>
        <c:crossAx val="2094734552"/>
        <c:crosses val="autoZero"/>
        <c:auto val="1"/>
        <c:lblAlgn val="ctr"/>
        <c:noMultiLvlLbl val="1"/>
        <c:tickLblSkip val="10"/>
      </c:catAx>
      <c:valAx>
        <c:axId val="2094734552"/>
        <c:scaling>
          <c:orientation val="minMax"/>
          <c:max val="2"/>
          <c:min val="0"/>
        </c:scaling>
        <c:delete val="0"/>
        <c:axPos val="l"/>
        <c:majorGridlines>
          <c:spPr>
            <a:ln w="6350" cap="flat">
              <a:solidFill>
                <a:srgbClr val="2C3340"/>
              </a:solidFill>
              <a:prstDash val="solid"/>
              <a:round/>
            </a:ln>
          </c:spPr>
        </c:majorGridlines>
        <c:title>
          <c:tx>
            <c:rich>
              <a:bodyPr/>
              <a:lstStyle/>
              <a:p>
                <a:pPr>
                  <a:defRPr sz="1000" b="0" i="0" u="none" strike="noStrike">
                    <a:solidFill>
                      <a:srgbClr val="9AA3B2"/>
                    </a:solidFill>
                    <a:latin typeface="Arial"/>
                  </a:defRPr>
                </a:pPr>
                <a:r>
                  <a:rPr sz="1000" b="0" i="0" u="none" strike="noStrike">
                    <a:solidFill>
                      <a:srgbClr val="9AA3B2"/>
                    </a:solidFill>
                    <a:latin typeface="Arial"/>
                  </a:rPr>
                  <a:t>Controller bias (0 = start thresholds)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3B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E6E9E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asks one narrow question: when the renderer is over its frame budget, can a controller coarsen vegetation detail automatically, in a bounded and stable way, and does that buy frame time? The scene is a Terrain3D forest with about 42 thousand vegetation instances and a very dense grass field. I compare the scene with no LOD at all against the adaptive version on the same scene and camera path. The screenshot is a real captured frame. In short: adaptive LOD cuts frame time by roughly three quarters against full detail; most of that comes from distance LOD itself, and the controller adds only a little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Rendering cost grows with triangles, draw calls and overdraw, and LOD trades detail for cost by switching to simpler representations with distance. The weakness of fixed distances is that they ignore the frame budget. The left side is general concept; the schematic is illustrative, not my meshes. The right side is what I built: distance LOD for trees, grass, bushes and debris, with thresholds scaled by one feedback-controlled bias in adaptive mode; the comparison is against None, where everything is drawn at full detail. Not implemented: per-instance importance, cross-fading, and mesh LOD for bushes.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Along the top is the adaptive part, which only runs in adaptive mode: the GPU render time of the main viewport is smoothed, compared with a target, and a PI controller with rate limits produces one global bias between 0 and 2, mapped to a per-category bias. Along the bottom is the shared pipeline, switched off entirely in None: for each tree, grass cell or chunk the policy compares camera distance in metres with thresholds, with hysteresis, and updates MultiMesh tiers under a change budget. With the bias at zero the thresholds are the starting distances, i.e. the adaptive system with the controller idle. The snippet is the real threshold code: baseline divided by one plus bias, clamped by a floor in metres. The constraint is expressed as distance floors and per-category caps, not literally as a two-level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contributions with statuses I can defend. One: thresholds driven by a controller instead of fixed; the recording shows the bias rising from zero to its maximum of 2.0 (the GPU was in a slow state that session) while the on-screen tree threshold moves. Two: everything in metres. Three: constrained coarsening, and here I am exact: it is distance floors for trees plus per-category caps, and the panel shows the LOD2 threshold stopping at 100 metres. That is not literally a two-level limit. Four: the benchmark harness, with the same path hash, interleaved runs and full CSV and JSON output. Five: the trade-off, where I have exact primitive counts and measured frame-time reductions against full detail but no perceptual metric. No claim of global novelty: the literature check on slide 8 was 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from the project benchmark harness: Godot 4.7.2 in a debug and editor build, because no export templates are installed, so a release build was not possible. Quadro P3200 laptop GPU, Forward+ on D3D12, VSync off, uncapped. A fixed 528 metre camera path at 8 metres per second, 10 seconds of warm-up and 60 seconds measured. Five runs per mode and resolution with the order rotated each repetition. Both modes see the same scene, seed and path hash; None simply has every LOD policy disabled. Fairness risks: earlier sessions showed the GPU changing speed by two to three times between runs, this series was stable; the build is debug; and the targets differ by profile. The screen recording is a demonstration, not benchmark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series: 5 runs per mode and resolution, debug build, stable GPU state. At 1080p the average goes from 21.4 FPS with no LOD to 96.8 with adaptive LOD, 4.5x as many; mean frame time falls from 46.7 to 10.3 ms. At 1440p it goes from 19.6 to 72.1 FPS, 3.7x. The cause is mainly the amount of geometry: rendered primitives fall by about 90 percent and draw calls from about 3120 to 591. An honest reading: almost all of this comes from having distance LOD at all. Compared with the fixed-threshold version, which is not shown on this slide, the PI controller adds +0.2% at 1080p, where it stays idle because the GPU is under its target, and +2.4% at 1440p, where it saturates. So the controller is a safety mechanism that engages when the frame is over budget, not the main source of speed. 0 frames fell below 10 FPS in any of these runs. All numbers are from a debug and editor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images are real captures from the project. The video is a genuine screen recording of the running scene, made after I removed the Baseline button, so the panel offers only None and Adaptive and F4 toggles between them. At the same viewpoint, None draws all 403 thousand grass clumps and every tree at full detail; with adaptive on, the controller raises its bias to the maximum and the panel shows the grass drawn count falling to a few thousand and the tree LOD2 threshold moving from 150 to 100 metres, where its floor stops it. The still images come from the earlier session where the GPU was faster and the bias reached about 1.4. The visual change is mid-field grass thinning; nearby trees are identical. The recording runs with screen capture on, so its FPS is not benchmark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places the result next to recent work from 2020 onwards. I want to be clear about its limits: I did a limited web search, not a systematic review, and very few papers report comparable numbers for LOD controllers on vegetation, so this is context rather than a ranking. The closest in spirit is a 2026 Visual Computer paper on frame-budget-driven adaptive LOD for VR, which reports the 95th percentile GPU frame time falling from 18.1 to 10.9 ms and over-budget frames falling from 84.5 to 7.0 percent against full-resolution rendering. Our equivalent, against no LOD, is a 99th percentile frame time falling from 72.0 to 12.9 ms at 1080p. The reductions are larger here, but the baselines, scenes and hardware differ, and ours is mostly distance LOD rather than the controller. The 2025 HPG work on GPU tree generation reports a median 7.74 ms full-scene frame on a Radeon RX 7900 XTX, which is a different goal, memory and generation, on much newer hardware. The 2024 CPU-usage LOD paper reports CPU time falling 15.1 to 14.2 ms and 10.8 to 10.3 ms, triangles down 15.8 and 25 percent, and FPS up from 66.1 to 90 and from 121 to 146. That is the closest comparison for our controller step: its gains are larger than our plus 0.2 and plus 2.4 percent, but its signal is CPU usage while ours is GPU time on a GPU-bound scene, and the scenes and hardware differ. It supports our future work item of a CPU-bound signal. The foliage path tracing paper shares the theme but I could not extract comparable numbers. Verify the figures against the papers before citing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What works: distance LOD for four vegetation categories with a PI-controlled bias, bounded by floors and caps, validated by four self-test suites run through a log-checking runner, and measured with a reproducible harness. What the data supports: against no LOD, the adaptive mode takes the scene from 21.4 to 96.8 FPS at 1080p and from 19.6 to 72.1 at 1440p, with about 90 percent fewer primitives. What it does not support: crediting the controller for that gain, since against fixed distances it adds only +0.2% and +2.4%, or claiming the 8 ms target is met at 1440p. Limits: debug build only, GPU state drift, no perceptual metric, and a limited literature search. The takeaway is a bounded, quality-preserving mechanism whose controller is a safety margin on top of ordinary distance LOD.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5181E"/>
        </a:solidFill>
      </p:bgPr>
    </p:bg>
    <p:spTree>
      <p:nvGrpSpPr>
        <p:cNvPr id="1" name=""/>
        <p:cNvGrpSpPr/>
        <p:nvPr/>
      </p:nvGrpSpPr>
      <p:grpSpPr>
        <a:xfrm>
          <a:off x="0" y="0"/>
          <a:ext cx="0" cy="0"/>
          <a:chOff x="0" y="0"/>
          <a:chExt cx="0" cy="0"/>
        </a:xfrm>
      </p:grpSpPr>
      <p:sp>
        <p:nvSpPr>
          <p:cNvPr id="2" name="Text 0"/>
          <p:cNvSpPr txBox="1"/>
          <p:nvPr/>
        </p:nvSpPr>
        <p:spPr>
          <a:xfrm>
            <a:off x="457200" y="6492240"/>
            <a:ext cx="5486400" cy="228600"/>
          </a:xfrm>
          <a:prstGeom prst="rect">
            <a:avLst/>
          </a:prstGeom>
          <a:noFill/>
          <a:ln/>
        </p:spPr>
        <p:txBody>
          <a:bodyPr wrap="square" lIns="0" tIns="0" rIns="0" bIns="0" rtlCol="0" anchor="ctr"/>
          <a:lstStyle/>
          <a:p>
            <a:pPr indent="0" marL="0">
              <a:buNone/>
            </a:pPr>
            <a:r>
              <a:rPr lang="en-US" sz="1000" dirty="0">
                <a:solidFill>
                  <a:srgbClr val="7B8494"/>
                </a:solidFill>
                <a:latin typeface="Calibri" pitchFamily="34" charset="0"/>
                <a:ea typeface="Calibri" pitchFamily="34" charset="-122"/>
                <a:cs typeface="Calibri" pitchFamily="34" charset="-120"/>
              </a:rPr>
              <a:t>Adaptive LOD in Godot  |  Shreeniwas Salian</a:t>
            </a:r>
            <a:endParaRPr lang="en-US" sz="100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5181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video" Target="../media/media-7-3.mp4"/><Relationship Id="rId4" Type="http://schemas.microsoft.com/office/2007/relationships/media" Target="../media/media-7-3.mp4"/><Relationship Id="rId5" Type="http://schemas.openxmlformats.org/officeDocument/2006/relationships/image" Target="../media/image-7-5.png"/><Relationship Id="rId6" Type="http://schemas.openxmlformats.org/officeDocument/2006/relationships/image" Target="../media/image-7-6.jpg"/><Relationship Id="rId7" Type="http://schemas.openxmlformats.org/officeDocument/2006/relationships/image" Target="../media/image-7-7.jp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5486400" cy="274320"/>
          </a:xfrm>
          <a:prstGeom prst="rect">
            <a:avLst/>
          </a:prstGeom>
          <a:noFill/>
          <a:ln/>
        </p:spPr>
        <p:txBody>
          <a:bodyPr wrap="square" lIns="0" tIns="0" rIns="0" bIns="0" rtlCol="0" anchor="t"/>
          <a:lstStyle/>
          <a:p>
            <a:pPr indent="0" marL="0">
              <a:buNone/>
            </a:pPr>
            <a:r>
              <a:rPr lang="en-US" sz="1200" b="1" spc="200" kern="0" dirty="0">
                <a:solidFill>
                  <a:srgbClr val="35D0E8"/>
                </a:solidFill>
                <a:latin typeface="Calibri" pitchFamily="34" charset="0"/>
                <a:ea typeface="Calibri" pitchFamily="34" charset="-122"/>
                <a:cs typeface="Calibri" pitchFamily="34" charset="-120"/>
              </a:rPr>
              <a:t>COMPUTER GRAPHICS  |  GAME ENGINE ENGINEERING</a:t>
            </a:r>
            <a:endParaRPr lang="en-US" sz="1200" dirty="0"/>
          </a:p>
        </p:txBody>
      </p:sp>
      <p:sp>
        <p:nvSpPr>
          <p:cNvPr id="3" name="Text 1"/>
          <p:cNvSpPr txBox="1"/>
          <p:nvPr/>
        </p:nvSpPr>
        <p:spPr>
          <a:xfrm>
            <a:off x="548640" y="1097280"/>
            <a:ext cx="5394960" cy="1920240"/>
          </a:xfrm>
          <a:prstGeom prst="rect">
            <a:avLst/>
          </a:prstGeom>
          <a:noFill/>
          <a:ln/>
        </p:spPr>
        <p:txBody>
          <a:bodyPr wrap="square" lIns="0" tIns="0" rIns="0" bIns="0" rtlCol="0" anchor="t"/>
          <a:lstStyle/>
          <a:p>
            <a:pPr indent="0" marL="0">
              <a:buNone/>
            </a:pPr>
            <a:r>
              <a:rPr lang="en-US" sz="3800" b="1" dirty="0">
                <a:solidFill>
                  <a:srgbClr val="E6E9EF"/>
                </a:solidFill>
                <a:latin typeface="Cambria" pitchFamily="34" charset="0"/>
                <a:ea typeface="Cambria" pitchFamily="34" charset="-122"/>
                <a:cs typeface="Cambria" pitchFamily="34" charset="-120"/>
              </a:rPr>
              <a:t>Adaptive Level of Detail for Real-Time Rendering in Godot</a:t>
            </a:r>
            <a:endParaRPr lang="en-US" sz="3800" dirty="0"/>
          </a:p>
        </p:txBody>
      </p:sp>
      <p:sp>
        <p:nvSpPr>
          <p:cNvPr id="4" name="Text 2"/>
          <p:cNvSpPr txBox="1"/>
          <p:nvPr/>
        </p:nvSpPr>
        <p:spPr>
          <a:xfrm>
            <a:off x="548640" y="3154680"/>
            <a:ext cx="5303520" cy="822960"/>
          </a:xfrm>
          <a:prstGeom prst="rect">
            <a:avLst/>
          </a:prstGeom>
          <a:noFill/>
          <a:ln/>
        </p:spPr>
        <p:txBody>
          <a:bodyPr wrap="square" lIns="0" tIns="0" rIns="0" bIns="0" rtlCol="0" anchor="t"/>
          <a:lstStyle/>
          <a:p>
            <a:pPr indent="0" marL="0">
              <a:buNone/>
            </a:pPr>
            <a:r>
              <a:rPr lang="en-US" sz="1600" dirty="0">
                <a:solidFill>
                  <a:srgbClr val="9AA3B2"/>
                </a:solidFill>
                <a:latin typeface="Calibri" pitchFamily="34" charset="0"/>
                <a:ea typeface="Calibri" pitchFamily="34" charset="-122"/>
                <a:cs typeface="Calibri" pitchFamily="34" charset="-120"/>
              </a:rPr>
              <a:t>A feedback-controlled, distance-based LOD for vegetation, compared against no LOD (full detail)</a:t>
            </a:r>
            <a:endParaRPr lang="en-US" sz="1600" dirty="0"/>
          </a:p>
        </p:txBody>
      </p:sp>
      <p:sp>
        <p:nvSpPr>
          <p:cNvPr id="5" name="Text 3"/>
          <p:cNvSpPr txBox="1"/>
          <p:nvPr/>
        </p:nvSpPr>
        <p:spPr>
          <a:xfrm>
            <a:off x="548640" y="4114800"/>
            <a:ext cx="5303520" cy="365760"/>
          </a:xfrm>
          <a:prstGeom prst="rect">
            <a:avLst/>
          </a:prstGeom>
          <a:noFill/>
          <a:ln/>
        </p:spPr>
        <p:txBody>
          <a:bodyPr wrap="square" lIns="0" tIns="0" rIns="0" bIns="0" rtlCol="0" anchor="t"/>
          <a:lstStyle/>
          <a:p>
            <a:pPr indent="0" marL="0">
              <a:buNone/>
            </a:pPr>
            <a:r>
              <a:rPr lang="en-US" sz="2000" b="1" dirty="0">
                <a:solidFill>
                  <a:srgbClr val="E6E9EF"/>
                </a:solidFill>
                <a:latin typeface="Calibri" pitchFamily="34" charset="0"/>
                <a:ea typeface="Calibri" pitchFamily="34" charset="-122"/>
                <a:cs typeface="Calibri" pitchFamily="34" charset="-120"/>
              </a:rPr>
              <a:t>Shreeniwas Salian</a:t>
            </a:r>
            <a:endParaRPr lang="en-US" sz="2000" dirty="0"/>
          </a:p>
        </p:txBody>
      </p:sp>
      <p:sp>
        <p:nvSpPr>
          <p:cNvPr id="6" name="Shape 4"/>
          <p:cNvSpPr/>
          <p:nvPr/>
        </p:nvSpPr>
        <p:spPr>
          <a:xfrm>
            <a:off x="548640" y="4846320"/>
            <a:ext cx="5303520" cy="1051560"/>
          </a:xfrm>
          <a:prstGeom prst="rect">
            <a:avLst/>
          </a:prstGeom>
          <a:solidFill>
            <a:srgbClr val="1F242D"/>
          </a:solidFill>
          <a:ln w="9525">
            <a:solidFill>
              <a:srgbClr val="3A4150"/>
            </a:solidFill>
            <a:prstDash val="solid"/>
          </a:ln>
        </p:spPr>
      </p:sp>
      <p:sp>
        <p:nvSpPr>
          <p:cNvPr id="7" name="Text 5"/>
          <p:cNvSpPr txBox="1"/>
          <p:nvPr/>
        </p:nvSpPr>
        <p:spPr>
          <a:xfrm>
            <a:off x="731520" y="4956048"/>
            <a:ext cx="4937760" cy="868680"/>
          </a:xfrm>
          <a:prstGeom prst="rect">
            <a:avLst/>
          </a:prstGeom>
          <a:noFill/>
          <a:ln/>
        </p:spPr>
        <p:txBody>
          <a:bodyPr wrap="square" lIns="0" tIns="0" rIns="0" bIns="0" rtlCol="0" anchor="t"/>
          <a:lstStyle/>
          <a:p>
            <a:pPr indent="0" marL="0">
              <a:buNone/>
            </a:pPr>
            <a:r>
              <a:rPr lang="en-US" sz="1400" b="1" dirty="0">
                <a:solidFill>
                  <a:srgbClr val="35D0E8"/>
                </a:solidFill>
                <a:latin typeface="Calibri" pitchFamily="34" charset="0"/>
                <a:ea typeface="Calibri" pitchFamily="34" charset="-122"/>
                <a:cs typeface="Calibri" pitchFamily="34" charset="-120"/>
              </a:rPr>
              <a:t>Problem  </a:t>
            </a:r>
            <a:pPr indent="0" marL="0">
              <a:buNone/>
            </a:pPr>
            <a:r>
              <a:rPr lang="en-US" sz="1400" dirty="0">
                <a:solidFill>
                  <a:srgbClr val="E6E9EF"/>
                </a:solidFill>
                <a:latin typeface="Calibri" pitchFamily="34" charset="0"/>
                <a:ea typeface="Calibri" pitchFamily="34" charset="-122"/>
                <a:cs typeface="Calibri" pitchFamily="34" charset="-120"/>
              </a:rPr>
              <a:t>Dense vegetation scenes cost frame time; fixed LOD distances cannot react when the GPU is over budget, so detail is either wasted or cut blindly.</a:t>
            </a:r>
            <a:endParaRPr lang="en-US" sz="1400" dirty="0"/>
          </a:p>
        </p:txBody>
      </p:sp>
      <p:pic>
        <p:nvPicPr>
          <p:cNvPr id="8" name="Image 0" descr="Screenshot of the running Godot scene">    </p:cNvPr>
          <p:cNvPicPr>
            <a:picLocks noChangeAspect="1"/>
          </p:cNvPicPr>
          <p:nvPr/>
        </p:nvPicPr>
        <p:blipFill>
          <a:blip r:embed="rId1"/>
          <a:stretch>
            <a:fillRect/>
          </a:stretch>
        </p:blipFill>
        <p:spPr>
          <a:xfrm>
            <a:off x="6309360" y="1234440"/>
            <a:ext cx="5394960" cy="3026664"/>
          </a:xfrm>
          <a:prstGeom prst="rect">
            <a:avLst/>
          </a:prstGeom>
        </p:spPr>
      </p:pic>
      <p:sp>
        <p:nvSpPr>
          <p:cNvPr id="9" name="Text 6"/>
          <p:cNvSpPr txBox="1"/>
          <p:nvPr/>
        </p:nvSpPr>
        <p:spPr>
          <a:xfrm>
            <a:off x="6309360" y="4343400"/>
            <a:ext cx="5394960" cy="457200"/>
          </a:xfrm>
          <a:prstGeom prst="rect">
            <a:avLst/>
          </a:prstGeom>
          <a:noFill/>
          <a:ln/>
        </p:spPr>
        <p:txBody>
          <a:bodyPr wrap="square" lIns="0" tIns="0" rIns="0" bIns="0" rtlCol="0" anchor="t"/>
          <a:lstStyle/>
          <a:p>
            <a:pPr indent="0" marL="0">
              <a:buNone/>
            </a:pPr>
            <a:r>
              <a:rPr lang="en-US" sz="1100" dirty="0">
                <a:solidFill>
                  <a:srgbClr val="9AA3B2"/>
                </a:solidFill>
                <a:latin typeface="Calibri" pitchFamily="34" charset="0"/>
                <a:ea typeface="Calibri" pitchFamily="34" charset="-122"/>
                <a:cs typeface="Calibri" pitchFamily="34" charset="-120"/>
              </a:rPr>
              <a:t>Real frame captured from the running project (Godot 4.7.2, Terrain3D 1.0.2, 1920x1080, Adaptive mode).</a:t>
            </a:r>
            <a:endParaRPr lang="en-US" sz="1100" dirty="0"/>
          </a:p>
        </p:txBody>
      </p:sp>
      <p:sp>
        <p:nvSpPr>
          <p:cNvPr id="10" name="Text 7"/>
          <p:cNvSpPr txBox="1"/>
          <p:nvPr/>
        </p:nvSpPr>
        <p:spPr>
          <a:xfrm>
            <a:off x="6309360" y="5029200"/>
            <a:ext cx="1737360" cy="457200"/>
          </a:xfrm>
          <a:prstGeom prst="rect">
            <a:avLst/>
          </a:prstGeom>
          <a:noFill/>
          <a:ln/>
        </p:spPr>
        <p:txBody>
          <a:bodyPr wrap="square" lIns="0" tIns="0" rIns="0" bIns="0" rtlCol="0" anchor="t"/>
          <a:lstStyle/>
          <a:p>
            <a:pPr indent="0" marL="0">
              <a:buNone/>
            </a:pPr>
            <a:r>
              <a:rPr lang="en-US" sz="2400" b="1" dirty="0">
                <a:solidFill>
                  <a:srgbClr val="35D0E8"/>
                </a:solidFill>
                <a:latin typeface="Calibri" pitchFamily="34" charset="0"/>
                <a:ea typeface="Calibri" pitchFamily="34" charset="-122"/>
                <a:cs typeface="Calibri" pitchFamily="34" charset="-120"/>
              </a:rPr>
              <a:t>41,698</a:t>
            </a:r>
            <a:endParaRPr lang="en-US" sz="2400" dirty="0"/>
          </a:p>
        </p:txBody>
      </p:sp>
      <p:sp>
        <p:nvSpPr>
          <p:cNvPr id="11" name="Text 8"/>
          <p:cNvSpPr txBox="1"/>
          <p:nvPr/>
        </p:nvSpPr>
        <p:spPr>
          <a:xfrm>
            <a:off x="6309360" y="5532120"/>
            <a:ext cx="1737360" cy="457200"/>
          </a:xfrm>
          <a:prstGeom prst="rect">
            <a:avLst/>
          </a:prstGeom>
          <a:noFill/>
          <a:ln/>
        </p:spPr>
        <p:txBody>
          <a:bodyPr wrap="square" lIns="0" tIns="0" rIns="0" bIns="0" rtlCol="0" anchor="t"/>
          <a:lstStyle/>
          <a:p>
            <a:pPr indent="0" marL="0">
              <a:buNone/>
            </a:pPr>
            <a:r>
              <a:rPr lang="en-US" sz="1200" dirty="0">
                <a:solidFill>
                  <a:srgbClr val="9AA3B2"/>
                </a:solidFill>
                <a:latin typeface="Calibri" pitchFamily="34" charset="0"/>
                <a:ea typeface="Calibri" pitchFamily="34" charset="-122"/>
                <a:cs typeface="Calibri" pitchFamily="34" charset="-120"/>
              </a:rPr>
              <a:t>vegetation instances</a:t>
            </a:r>
            <a:endParaRPr lang="en-US" sz="1200" dirty="0"/>
          </a:p>
        </p:txBody>
      </p:sp>
      <p:sp>
        <p:nvSpPr>
          <p:cNvPr id="12" name="Text 9"/>
          <p:cNvSpPr txBox="1"/>
          <p:nvPr/>
        </p:nvSpPr>
        <p:spPr>
          <a:xfrm>
            <a:off x="8138160" y="5029200"/>
            <a:ext cx="1737360" cy="457200"/>
          </a:xfrm>
          <a:prstGeom prst="rect">
            <a:avLst/>
          </a:prstGeom>
          <a:noFill/>
          <a:ln/>
        </p:spPr>
        <p:txBody>
          <a:bodyPr wrap="square" lIns="0" tIns="0" rIns="0" bIns="0" rtlCol="0" anchor="t"/>
          <a:lstStyle/>
          <a:p>
            <a:pPr indent="0" marL="0">
              <a:buNone/>
            </a:pPr>
            <a:r>
              <a:rPr lang="en-US" sz="2400" b="1" dirty="0">
                <a:solidFill>
                  <a:srgbClr val="35D0E8"/>
                </a:solidFill>
                <a:latin typeface="Calibri" pitchFamily="34" charset="0"/>
                <a:ea typeface="Calibri" pitchFamily="34" charset="-122"/>
                <a:cs typeface="Calibri" pitchFamily="34" charset="-120"/>
              </a:rPr>
              <a:t>528 m</a:t>
            </a:r>
            <a:endParaRPr lang="en-US" sz="2400" dirty="0"/>
          </a:p>
        </p:txBody>
      </p:sp>
      <p:sp>
        <p:nvSpPr>
          <p:cNvPr id="13" name="Text 10"/>
          <p:cNvSpPr txBox="1"/>
          <p:nvPr/>
        </p:nvSpPr>
        <p:spPr>
          <a:xfrm>
            <a:off x="8138160" y="5532120"/>
            <a:ext cx="1737360" cy="457200"/>
          </a:xfrm>
          <a:prstGeom prst="rect">
            <a:avLst/>
          </a:prstGeom>
          <a:noFill/>
          <a:ln/>
        </p:spPr>
        <p:txBody>
          <a:bodyPr wrap="square" lIns="0" tIns="0" rIns="0" bIns="0" rtlCol="0" anchor="t"/>
          <a:lstStyle/>
          <a:p>
            <a:pPr indent="0" marL="0">
              <a:buNone/>
            </a:pPr>
            <a:r>
              <a:rPr lang="en-US" sz="1200" dirty="0">
                <a:solidFill>
                  <a:srgbClr val="9AA3B2"/>
                </a:solidFill>
                <a:latin typeface="Calibri" pitchFamily="34" charset="0"/>
                <a:ea typeface="Calibri" pitchFamily="34" charset="-122"/>
                <a:cs typeface="Calibri" pitchFamily="34" charset="-120"/>
              </a:rPr>
              <a:t>deterministic camera path</a:t>
            </a:r>
            <a:endParaRPr lang="en-US" sz="1200" dirty="0"/>
          </a:p>
        </p:txBody>
      </p:sp>
      <p:sp>
        <p:nvSpPr>
          <p:cNvPr id="14" name="Text 11"/>
          <p:cNvSpPr txBox="1"/>
          <p:nvPr/>
        </p:nvSpPr>
        <p:spPr>
          <a:xfrm>
            <a:off x="9966960" y="5029200"/>
            <a:ext cx="1737360" cy="457200"/>
          </a:xfrm>
          <a:prstGeom prst="rect">
            <a:avLst/>
          </a:prstGeom>
          <a:noFill/>
          <a:ln/>
        </p:spPr>
        <p:txBody>
          <a:bodyPr wrap="square" lIns="0" tIns="0" rIns="0" bIns="0" rtlCol="0" anchor="t"/>
          <a:lstStyle/>
          <a:p>
            <a:pPr indent="0" marL="0">
              <a:buNone/>
            </a:pPr>
            <a:r>
              <a:rPr lang="en-US" sz="2400" b="1" dirty="0">
                <a:solidFill>
                  <a:srgbClr val="A78BFA"/>
                </a:solidFill>
                <a:latin typeface="Calibri" pitchFamily="34" charset="0"/>
                <a:ea typeface="Calibri" pitchFamily="34" charset="-122"/>
                <a:cs typeface="Calibri" pitchFamily="34" charset="-120"/>
              </a:rPr>
              <a:t>2 modes</a:t>
            </a:r>
            <a:endParaRPr lang="en-US" sz="2400" dirty="0"/>
          </a:p>
        </p:txBody>
      </p:sp>
      <p:sp>
        <p:nvSpPr>
          <p:cNvPr id="15" name="Text 12"/>
          <p:cNvSpPr txBox="1"/>
          <p:nvPr/>
        </p:nvSpPr>
        <p:spPr>
          <a:xfrm>
            <a:off x="9966960" y="5532120"/>
            <a:ext cx="1737360" cy="457200"/>
          </a:xfrm>
          <a:prstGeom prst="rect">
            <a:avLst/>
          </a:prstGeom>
          <a:noFill/>
          <a:ln/>
        </p:spPr>
        <p:txBody>
          <a:bodyPr wrap="square" lIns="0" tIns="0" rIns="0" bIns="0" rtlCol="0" anchor="t"/>
          <a:lstStyle/>
          <a:p>
            <a:pPr indent="0" marL="0">
              <a:buNone/>
            </a:pPr>
            <a:r>
              <a:rPr lang="en-US" sz="1200" dirty="0">
                <a:solidFill>
                  <a:srgbClr val="9AA3B2"/>
                </a:solidFill>
                <a:latin typeface="Calibri" pitchFamily="34" charset="0"/>
                <a:ea typeface="Calibri" pitchFamily="34" charset="-122"/>
                <a:cs typeface="Calibri" pitchFamily="34" charset="-120"/>
              </a:rPr>
              <a:t>none / adaptive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200" b="1" spc="200" kern="0" dirty="0">
                <a:solidFill>
                  <a:srgbClr val="35D0E8"/>
                </a:solidFill>
                <a:latin typeface="Calibri" pitchFamily="34" charset="0"/>
                <a:ea typeface="Calibri" pitchFamily="34" charset="-122"/>
                <a:cs typeface="Calibri" pitchFamily="34" charset="-120"/>
              </a:rPr>
              <a:t>PROBLEM AND MOTIVATION</a:t>
            </a:r>
            <a:endParaRPr lang="en-US" sz="1200" dirty="0"/>
          </a:p>
        </p:txBody>
      </p:sp>
      <p:sp>
        <p:nvSpPr>
          <p:cNvPr id="3" name="Text 1"/>
          <p:cNvSpPr txBox="1"/>
          <p:nvPr/>
        </p:nvSpPr>
        <p:spPr>
          <a:xfrm>
            <a:off x="457200" y="502920"/>
            <a:ext cx="11247120" cy="548640"/>
          </a:xfrm>
          <a:prstGeom prst="rect">
            <a:avLst/>
          </a:prstGeom>
          <a:noFill/>
          <a:ln/>
        </p:spPr>
        <p:txBody>
          <a:bodyPr wrap="square" lIns="0" tIns="0" rIns="0" bIns="0" rtlCol="0" anchor="ctr">
            <a:normAutofit/>
          </a:bodyPr>
          <a:lstStyle/>
          <a:p>
            <a:pPr indent="0" marL="0">
              <a:buNone/>
            </a:pPr>
            <a:r>
              <a:rPr lang="en-US" sz="3000" b="1" dirty="0">
                <a:solidFill>
                  <a:srgbClr val="E6E9EF"/>
                </a:solidFill>
                <a:latin typeface="Cambria" pitchFamily="34" charset="0"/>
                <a:ea typeface="Cambria" pitchFamily="34" charset="-122"/>
                <a:cs typeface="Cambria" pitchFamily="34" charset="-120"/>
              </a:rPr>
              <a:t>Why LOD, and where fixed thresholds fall short</a:t>
            </a:r>
            <a:endParaRPr lang="en-US" sz="3000" dirty="0"/>
          </a:p>
        </p:txBody>
      </p:sp>
      <p:sp>
        <p:nvSpPr>
          <p:cNvPr id="4" name="Shape 2"/>
          <p:cNvSpPr/>
          <p:nvPr/>
        </p:nvSpPr>
        <p:spPr>
          <a:xfrm>
            <a:off x="457200" y="1234440"/>
            <a:ext cx="5760720" cy="3246120"/>
          </a:xfrm>
          <a:prstGeom prst="rect">
            <a:avLst/>
          </a:prstGeom>
          <a:solidFill>
            <a:srgbClr val="1F242D"/>
          </a:solidFill>
          <a:ln w="9525">
            <a:solidFill>
              <a:srgbClr val="3A4150"/>
            </a:solidFill>
            <a:prstDash val="solid"/>
          </a:ln>
        </p:spPr>
      </p:sp>
      <p:pic>
        <p:nvPicPr>
          <p:cNvPr id="5" name="Image 0" descr="S:/godot/adaptivelod/presentation/charts/diagram_lod_levels_schematic.png">    </p:cNvPr>
          <p:cNvPicPr>
            <a:picLocks noChangeAspect="1"/>
          </p:cNvPicPr>
          <p:nvPr/>
        </p:nvPicPr>
        <p:blipFill>
          <a:blip r:embed="rId1"/>
          <a:stretch>
            <a:fillRect/>
          </a:stretch>
        </p:blipFill>
        <p:spPr>
          <a:xfrm>
            <a:off x="640080" y="1325880"/>
            <a:ext cx="5394960" cy="1801368"/>
          </a:xfrm>
          <a:prstGeom prst="rect">
            <a:avLst/>
          </a:prstGeom>
        </p:spPr>
      </p:pic>
      <p:sp>
        <p:nvSpPr>
          <p:cNvPr id="6" name="Text 3"/>
          <p:cNvSpPr txBox="1"/>
          <p:nvPr/>
        </p:nvSpPr>
        <p:spPr>
          <a:xfrm>
            <a:off x="640080" y="3127248"/>
            <a:ext cx="5394960" cy="228600"/>
          </a:xfrm>
          <a:prstGeom prst="rect">
            <a:avLst/>
          </a:prstGeom>
          <a:noFill/>
          <a:ln/>
        </p:spPr>
        <p:txBody>
          <a:bodyPr wrap="square" lIns="0" tIns="0" rIns="0" bIns="0" rtlCol="0" anchor="t"/>
          <a:lstStyle/>
          <a:p>
            <a:pPr indent="0" marL="0">
              <a:buNone/>
            </a:pPr>
            <a:r>
              <a:rPr lang="en-US" sz="1000" dirty="0">
                <a:solidFill>
                  <a:srgbClr val="9AA3B2"/>
                </a:solidFill>
                <a:latin typeface="Calibri" pitchFamily="34" charset="0"/>
                <a:ea typeface="Calibri" pitchFamily="34" charset="-122"/>
                <a:cs typeface="Calibri" pitchFamily="34" charset="-120"/>
              </a:rPr>
              <a:t>Schematic only: polygon count falls as distance grows (not the project meshes).</a:t>
            </a:r>
            <a:endParaRPr lang="en-US" sz="1000" dirty="0"/>
          </a:p>
        </p:txBody>
      </p:sp>
      <p:sp>
        <p:nvSpPr>
          <p:cNvPr id="7" name="Shape 4"/>
          <p:cNvSpPr/>
          <p:nvPr/>
        </p:nvSpPr>
        <p:spPr>
          <a:xfrm>
            <a:off x="640080" y="3474720"/>
            <a:ext cx="1709928" cy="594360"/>
          </a:xfrm>
          <a:prstGeom prst="rect">
            <a:avLst/>
          </a:prstGeom>
          <a:solidFill>
            <a:srgbClr val="262C37"/>
          </a:solidFill>
          <a:ln w="12700">
            <a:solidFill>
              <a:srgbClr val="35D0E8"/>
            </a:solidFill>
            <a:prstDash val="solid"/>
          </a:ln>
        </p:spPr>
      </p:sp>
      <p:sp>
        <p:nvSpPr>
          <p:cNvPr id="8" name="Text 5"/>
          <p:cNvSpPr txBox="1"/>
          <p:nvPr/>
        </p:nvSpPr>
        <p:spPr>
          <a:xfrm>
            <a:off x="640080" y="3511296"/>
            <a:ext cx="1709928" cy="548640"/>
          </a:xfrm>
          <a:prstGeom prst="rect">
            <a:avLst/>
          </a:prstGeom>
          <a:noFill/>
          <a:ln/>
        </p:spPr>
        <p:txBody>
          <a:bodyPr wrap="square" lIns="0" tIns="0" rIns="0" bIns="0" rtlCol="0" anchor="t"/>
          <a:lstStyle/>
          <a:p>
            <a:pPr algn="ctr" indent="0" marL="0">
              <a:buNone/>
            </a:pPr>
            <a:r>
              <a:rPr lang="en-US" sz="1200" b="1" dirty="0">
                <a:solidFill>
                  <a:srgbClr val="35D0E8"/>
                </a:solidFill>
                <a:latin typeface="Calibri" pitchFamily="34" charset="0"/>
                <a:ea typeface="Calibri" pitchFamily="34" charset="-122"/>
                <a:cs typeface="Calibri" pitchFamily="34" charset="-120"/>
              </a:rPr>
              <a:t>LOD0</a:t>
            </a:r>
            <a:endParaRPr lang="en-US" sz="1200" dirty="0"/>
          </a:p>
          <a:p>
            <a:pPr algn="ctr" indent="0" marL="0">
              <a:buNone/>
            </a:pPr>
            <a:r>
              <a:rPr lang="en-US" sz="1200" dirty="0">
                <a:solidFill>
                  <a:srgbClr val="E6E9EF"/>
                </a:solidFill>
                <a:latin typeface="Calibri" pitchFamily="34" charset="0"/>
                <a:ea typeface="Calibri" pitchFamily="34" charset="-122"/>
                <a:cs typeface="Calibri" pitchFamily="34" charset="-120"/>
              </a:rPr>
              <a:t>0 to 60 m</a:t>
            </a:r>
            <a:endParaRPr lang="en-US" sz="1200" dirty="0"/>
          </a:p>
        </p:txBody>
      </p:sp>
      <p:sp>
        <p:nvSpPr>
          <p:cNvPr id="9" name="Shape 6"/>
          <p:cNvSpPr/>
          <p:nvPr/>
        </p:nvSpPr>
        <p:spPr>
          <a:xfrm>
            <a:off x="2441448" y="3474720"/>
            <a:ext cx="1709928" cy="594360"/>
          </a:xfrm>
          <a:prstGeom prst="rect">
            <a:avLst/>
          </a:prstGeom>
          <a:solidFill>
            <a:srgbClr val="262C37"/>
          </a:solidFill>
          <a:ln w="12700">
            <a:solidFill>
              <a:srgbClr val="A78BFA"/>
            </a:solidFill>
            <a:prstDash val="solid"/>
          </a:ln>
        </p:spPr>
      </p:sp>
      <p:sp>
        <p:nvSpPr>
          <p:cNvPr id="10" name="Text 7"/>
          <p:cNvSpPr txBox="1"/>
          <p:nvPr/>
        </p:nvSpPr>
        <p:spPr>
          <a:xfrm>
            <a:off x="2441448" y="3511296"/>
            <a:ext cx="1709928" cy="548640"/>
          </a:xfrm>
          <a:prstGeom prst="rect">
            <a:avLst/>
          </a:prstGeom>
          <a:noFill/>
          <a:ln/>
        </p:spPr>
        <p:txBody>
          <a:bodyPr wrap="square" lIns="0" tIns="0" rIns="0" bIns="0" rtlCol="0" anchor="t"/>
          <a:lstStyle/>
          <a:p>
            <a:pPr algn="ctr" indent="0" marL="0">
              <a:buNone/>
            </a:pPr>
            <a:r>
              <a:rPr lang="en-US" sz="1200" b="1" dirty="0">
                <a:solidFill>
                  <a:srgbClr val="A78BFA"/>
                </a:solidFill>
                <a:latin typeface="Calibri" pitchFamily="34" charset="0"/>
                <a:ea typeface="Calibri" pitchFamily="34" charset="-122"/>
                <a:cs typeface="Calibri" pitchFamily="34" charset="-120"/>
              </a:rPr>
              <a:t>LOD1</a:t>
            </a:r>
            <a:endParaRPr lang="en-US" sz="1200" dirty="0"/>
          </a:p>
          <a:p>
            <a:pPr algn="ctr" indent="0" marL="0">
              <a:buNone/>
            </a:pPr>
            <a:r>
              <a:rPr lang="en-US" sz="1200" dirty="0">
                <a:solidFill>
                  <a:srgbClr val="E6E9EF"/>
                </a:solidFill>
                <a:latin typeface="Calibri" pitchFamily="34" charset="0"/>
                <a:ea typeface="Calibri" pitchFamily="34" charset="-122"/>
                <a:cs typeface="Calibri" pitchFamily="34" charset="-120"/>
              </a:rPr>
              <a:t>60 to 150 m</a:t>
            </a:r>
            <a:endParaRPr lang="en-US" sz="1200" dirty="0"/>
          </a:p>
        </p:txBody>
      </p:sp>
      <p:sp>
        <p:nvSpPr>
          <p:cNvPr id="11" name="Shape 8"/>
          <p:cNvSpPr/>
          <p:nvPr/>
        </p:nvSpPr>
        <p:spPr>
          <a:xfrm>
            <a:off x="4242816" y="3474720"/>
            <a:ext cx="1709928" cy="594360"/>
          </a:xfrm>
          <a:prstGeom prst="rect">
            <a:avLst/>
          </a:prstGeom>
          <a:solidFill>
            <a:srgbClr val="262C37"/>
          </a:solidFill>
          <a:ln w="12700">
            <a:solidFill>
              <a:srgbClr val="7B8494"/>
            </a:solidFill>
            <a:prstDash val="solid"/>
          </a:ln>
        </p:spPr>
      </p:sp>
      <p:sp>
        <p:nvSpPr>
          <p:cNvPr id="12" name="Text 9"/>
          <p:cNvSpPr txBox="1"/>
          <p:nvPr/>
        </p:nvSpPr>
        <p:spPr>
          <a:xfrm>
            <a:off x="4242816" y="3511296"/>
            <a:ext cx="1709928" cy="548640"/>
          </a:xfrm>
          <a:prstGeom prst="rect">
            <a:avLst/>
          </a:prstGeom>
          <a:noFill/>
          <a:ln/>
        </p:spPr>
        <p:txBody>
          <a:bodyPr wrap="square" lIns="0" tIns="0" rIns="0" bIns="0" rtlCol="0" anchor="t"/>
          <a:lstStyle/>
          <a:p>
            <a:pPr algn="ctr" indent="0" marL="0">
              <a:buNone/>
            </a:pPr>
            <a:r>
              <a:rPr lang="en-US" sz="1200" b="1" dirty="0">
                <a:solidFill>
                  <a:srgbClr val="7B8494"/>
                </a:solidFill>
                <a:latin typeface="Calibri" pitchFamily="34" charset="0"/>
                <a:ea typeface="Calibri" pitchFamily="34" charset="-122"/>
                <a:cs typeface="Calibri" pitchFamily="34" charset="-120"/>
              </a:rPr>
              <a:t>LOD2</a:t>
            </a:r>
            <a:endParaRPr lang="en-US" sz="1200" dirty="0"/>
          </a:p>
          <a:p>
            <a:pPr algn="ctr" indent="0" marL="0">
              <a:buNone/>
            </a:pPr>
            <a:r>
              <a:rPr lang="en-US" sz="1200" dirty="0">
                <a:solidFill>
                  <a:srgbClr val="E6E9EF"/>
                </a:solidFill>
                <a:latin typeface="Calibri" pitchFamily="34" charset="0"/>
                <a:ea typeface="Calibri" pitchFamily="34" charset="-122"/>
                <a:cs typeface="Calibri" pitchFamily="34" charset="-120"/>
              </a:rPr>
              <a:t>beyond 150 m</a:t>
            </a:r>
            <a:endParaRPr lang="en-US" sz="1200" dirty="0"/>
          </a:p>
        </p:txBody>
      </p:sp>
      <p:sp>
        <p:nvSpPr>
          <p:cNvPr id="13" name="Text 10"/>
          <p:cNvSpPr txBox="1"/>
          <p:nvPr/>
        </p:nvSpPr>
        <p:spPr>
          <a:xfrm>
            <a:off x="640080" y="4114800"/>
            <a:ext cx="5394960" cy="228600"/>
          </a:xfrm>
          <a:prstGeom prst="rect">
            <a:avLst/>
          </a:prstGeom>
          <a:noFill/>
          <a:ln/>
        </p:spPr>
        <p:txBody>
          <a:bodyPr wrap="square" lIns="0" tIns="0" rIns="0" bIns="0" rtlCol="0" anchor="t"/>
          <a:lstStyle/>
          <a:p>
            <a:pPr indent="0" marL="0">
              <a:buNone/>
            </a:pPr>
            <a:r>
              <a:rPr lang="en-US" sz="1000" dirty="0">
                <a:solidFill>
                  <a:srgbClr val="9AA3B2"/>
                </a:solidFill>
                <a:latin typeface="Calibri" pitchFamily="34" charset="0"/>
                <a:ea typeface="Calibri" pitchFamily="34" charset="-122"/>
                <a:cs typeface="Calibri" pitchFamily="34" charset="-120"/>
              </a:rPr>
              <a:t>Starting tree thresholds from the code (60 m / 150 m, 10 m hysteresis); the bias scales them.</a:t>
            </a:r>
            <a:endParaRPr lang="en-US" sz="1000" dirty="0"/>
          </a:p>
        </p:txBody>
      </p:sp>
      <p:sp>
        <p:nvSpPr>
          <p:cNvPr id="14" name="Text 11"/>
          <p:cNvSpPr txBox="1"/>
          <p:nvPr/>
        </p:nvSpPr>
        <p:spPr>
          <a:xfrm>
            <a:off x="457200" y="4663440"/>
            <a:ext cx="5760720" cy="274320"/>
          </a:xfrm>
          <a:prstGeom prst="rect">
            <a:avLst/>
          </a:prstGeom>
          <a:noFill/>
          <a:ln/>
        </p:spPr>
        <p:txBody>
          <a:bodyPr wrap="square" lIns="0" tIns="0" rIns="0" bIns="0" rtlCol="0" anchor="t"/>
          <a:lstStyle/>
          <a:p>
            <a:pPr indent="0" marL="0">
              <a:buNone/>
            </a:pPr>
            <a:r>
              <a:rPr lang="en-US" sz="1800" b="1" dirty="0">
                <a:solidFill>
                  <a:srgbClr val="35D0E8"/>
                </a:solidFill>
                <a:latin typeface="Calibri" pitchFamily="34" charset="0"/>
                <a:ea typeface="Calibri" pitchFamily="34" charset="-122"/>
                <a:cs typeface="Calibri" pitchFamily="34" charset="-120"/>
              </a:rPr>
              <a:t>General LOD concepts</a:t>
            </a:r>
            <a:endParaRPr lang="en-US" sz="1800" dirty="0"/>
          </a:p>
        </p:txBody>
      </p:sp>
      <p:sp>
        <p:nvSpPr>
          <p:cNvPr id="15" name="Text 12"/>
          <p:cNvSpPr txBox="1"/>
          <p:nvPr/>
        </p:nvSpPr>
        <p:spPr>
          <a:xfrm>
            <a:off x="457200" y="4983480"/>
            <a:ext cx="5760720" cy="13716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E6E9EF"/>
                </a:solidFill>
                <a:latin typeface="Calibri" pitchFamily="34" charset="0"/>
                <a:ea typeface="Calibri" pitchFamily="34" charset="-122"/>
                <a:cs typeface="Calibri" pitchFamily="34" charset="-120"/>
              </a:rPr>
              <a:t>Cost scales with triangles, draw calls and overdraw</a:t>
            </a:r>
            <a:endParaRPr lang="en-US" sz="1400" dirty="0"/>
          </a:p>
          <a:p>
            <a:pPr marL="342900" indent="-342900">
              <a:spcAft>
                <a:spcPts val="500"/>
              </a:spcAft>
              <a:buSzPct val="100000"/>
              <a:buChar char="•"/>
            </a:pPr>
            <a:r>
              <a:rPr lang="en-US" sz="1400" dirty="0">
                <a:solidFill>
                  <a:srgbClr val="E6E9EF"/>
                </a:solidFill>
                <a:latin typeface="Calibri" pitchFamily="34" charset="0"/>
                <a:ea typeface="Calibri" pitchFamily="34" charset="-122"/>
                <a:cs typeface="Calibri" pitchFamily="34" charset="-120"/>
              </a:rPr>
              <a:t>Distant objects need fewer triangles for the same look</a:t>
            </a:r>
            <a:endParaRPr lang="en-US" sz="1400" dirty="0"/>
          </a:p>
          <a:p>
            <a:pPr marL="342900" indent="-342900">
              <a:spcAft>
                <a:spcPts val="500"/>
              </a:spcAft>
              <a:buSzPct val="100000"/>
              <a:buChar char="•"/>
            </a:pPr>
            <a:r>
              <a:rPr lang="en-US" sz="1400" dirty="0">
                <a:solidFill>
                  <a:srgbClr val="E6E9EF"/>
                </a:solidFill>
                <a:latin typeface="Calibri" pitchFamily="34" charset="0"/>
                <a:ea typeface="Calibri" pitchFamily="34" charset="-122"/>
                <a:cs typeface="Calibri" pitchFamily="34" charset="-120"/>
              </a:rPr>
              <a:t>Fixed distances ignore the actual frame budget</a:t>
            </a:r>
            <a:endParaRPr lang="en-US" sz="1400" dirty="0"/>
          </a:p>
        </p:txBody>
      </p:sp>
      <p:sp>
        <p:nvSpPr>
          <p:cNvPr id="16" name="Shape 13"/>
          <p:cNvSpPr/>
          <p:nvPr/>
        </p:nvSpPr>
        <p:spPr>
          <a:xfrm>
            <a:off x="6492240" y="1234440"/>
            <a:ext cx="5212080" cy="5074920"/>
          </a:xfrm>
          <a:prstGeom prst="rect">
            <a:avLst/>
          </a:prstGeom>
          <a:solidFill>
            <a:srgbClr val="1F242D"/>
          </a:solidFill>
          <a:ln w="9525">
            <a:solidFill>
              <a:srgbClr val="3A4150"/>
            </a:solidFill>
            <a:prstDash val="solid"/>
          </a:ln>
        </p:spPr>
      </p:sp>
      <p:sp>
        <p:nvSpPr>
          <p:cNvPr id="17" name="Text 14"/>
          <p:cNvSpPr txBox="1"/>
          <p:nvPr/>
        </p:nvSpPr>
        <p:spPr>
          <a:xfrm>
            <a:off x="6720840" y="1371600"/>
            <a:ext cx="4754880" cy="320040"/>
          </a:xfrm>
          <a:prstGeom prst="rect">
            <a:avLst/>
          </a:prstGeom>
          <a:noFill/>
          <a:ln/>
        </p:spPr>
        <p:txBody>
          <a:bodyPr wrap="square" lIns="0" tIns="0" rIns="0" bIns="0" rtlCol="0" anchor="t"/>
          <a:lstStyle/>
          <a:p>
            <a:pPr indent="0" marL="0">
              <a:buNone/>
            </a:pPr>
            <a:r>
              <a:rPr lang="en-US" sz="1800" b="1" dirty="0">
                <a:solidFill>
                  <a:srgbClr val="A78BFA"/>
                </a:solidFill>
                <a:latin typeface="Calibri" pitchFamily="34" charset="0"/>
                <a:ea typeface="Calibri" pitchFamily="34" charset="-122"/>
                <a:cs typeface="Calibri" pitchFamily="34" charset="-120"/>
              </a:rPr>
              <a:t>Implemented in this project</a:t>
            </a:r>
            <a:endParaRPr lang="en-US" sz="1800" dirty="0"/>
          </a:p>
        </p:txBody>
      </p:sp>
      <p:sp>
        <p:nvSpPr>
          <p:cNvPr id="18" name="Text 15"/>
          <p:cNvSpPr txBox="1"/>
          <p:nvPr/>
        </p:nvSpPr>
        <p:spPr>
          <a:xfrm>
            <a:off x="6720840" y="1783080"/>
            <a:ext cx="480060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6E9EF"/>
                </a:solidFill>
                <a:latin typeface="Calibri" pitchFamily="34" charset="0"/>
                <a:ea typeface="Calibri" pitchFamily="34" charset="-122"/>
                <a:cs typeface="Calibri" pitchFamily="34" charset="-120"/>
              </a:rPr>
              <a:t>Distance LOD for 4 categories: trees (3 mesh levels), grass (3 tiers + cull), bushes and debris (density thinning)</a:t>
            </a:r>
            <a:endParaRPr lang="en-US" sz="1400" dirty="0"/>
          </a:p>
          <a:p>
            <a:pPr marL="342900" indent="-342900">
              <a:spcAft>
                <a:spcPts val="800"/>
              </a:spcAft>
              <a:buSzPct val="100000"/>
              <a:buChar char="•"/>
            </a:pPr>
            <a:r>
              <a:rPr lang="en-US" sz="1400" dirty="0">
                <a:solidFill>
                  <a:srgbClr val="E6E9EF"/>
                </a:solidFill>
                <a:latin typeface="Calibri" pitchFamily="34" charset="0"/>
                <a:ea typeface="Calibri" pitchFamily="34" charset="-122"/>
                <a:cs typeface="Calibri" pitchFamily="34" charset="-120"/>
              </a:rPr>
              <a:t>Adaptive: one PI-controlled bias scales those thresholds from measured GPU render time</a:t>
            </a:r>
            <a:endParaRPr lang="en-US" sz="1400" dirty="0"/>
          </a:p>
          <a:p>
            <a:pPr marL="342900" indent="-342900">
              <a:spcAft>
                <a:spcPts val="800"/>
              </a:spcAft>
              <a:buSzPct val="100000"/>
              <a:buChar char="•"/>
            </a:pPr>
            <a:r>
              <a:rPr lang="en-US" sz="1400" dirty="0">
                <a:solidFill>
                  <a:srgbClr val="E6E9EF"/>
                </a:solidFill>
                <a:latin typeface="Calibri" pitchFamily="34" charset="0"/>
                <a:ea typeface="Calibri" pitchFamily="34" charset="-122"/>
                <a:cs typeface="Calibri" pitchFamily="34" charset="-120"/>
              </a:rPr>
              <a:t>Hysteresis, rate limits and a per-update change budget limit popping</a:t>
            </a:r>
            <a:endParaRPr lang="en-US" sz="1400" dirty="0"/>
          </a:p>
          <a:p>
            <a:pPr marL="342900" indent="-342900">
              <a:spcAft>
                <a:spcPts val="800"/>
              </a:spcAft>
              <a:buSzPct val="100000"/>
              <a:buChar char="•"/>
            </a:pPr>
            <a:r>
              <a:rPr lang="en-US" sz="1400" dirty="0">
                <a:solidFill>
                  <a:srgbClr val="E6E9EF"/>
                </a:solidFill>
                <a:latin typeface="Calibri" pitchFamily="34" charset="0"/>
                <a:ea typeface="Calibri" pitchFamily="34" charset="-122"/>
                <a:cs typeface="Calibri" pitchFamily="34" charset="-120"/>
              </a:rPr>
              <a:t>Same scene, seed and camera path for None and Adaptive</a:t>
            </a:r>
            <a:endParaRPr lang="en-US" sz="1400" dirty="0"/>
          </a:p>
        </p:txBody>
      </p:sp>
      <p:sp>
        <p:nvSpPr>
          <p:cNvPr id="19" name="Text 16"/>
          <p:cNvSpPr txBox="1"/>
          <p:nvPr/>
        </p:nvSpPr>
        <p:spPr>
          <a:xfrm>
            <a:off x="6720840" y="4572000"/>
            <a:ext cx="4754880" cy="320040"/>
          </a:xfrm>
          <a:prstGeom prst="rect">
            <a:avLst/>
          </a:prstGeom>
          <a:noFill/>
          <a:ln/>
        </p:spPr>
        <p:txBody>
          <a:bodyPr wrap="square" lIns="0" tIns="0" rIns="0" bIns="0" rtlCol="0" anchor="t"/>
          <a:lstStyle/>
          <a:p>
            <a:pPr indent="0" marL="0">
              <a:buNone/>
            </a:pPr>
            <a:r>
              <a:rPr lang="en-US" sz="1800" b="1" dirty="0">
                <a:solidFill>
                  <a:srgbClr val="F5B14C"/>
                </a:solidFill>
                <a:latin typeface="Calibri" pitchFamily="34" charset="0"/>
                <a:ea typeface="Calibri" pitchFamily="34" charset="-122"/>
                <a:cs typeface="Calibri" pitchFamily="34" charset="-120"/>
              </a:rPr>
              <a:t>Not implemented</a:t>
            </a:r>
            <a:endParaRPr lang="en-US" sz="1800" dirty="0"/>
          </a:p>
        </p:txBody>
      </p:sp>
      <p:sp>
        <p:nvSpPr>
          <p:cNvPr id="20" name="Text 17"/>
          <p:cNvSpPr txBox="1"/>
          <p:nvPr/>
        </p:nvSpPr>
        <p:spPr>
          <a:xfrm>
            <a:off x="6720840" y="4937760"/>
            <a:ext cx="4800600" cy="12801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E6E9EF"/>
                </a:solidFill>
                <a:latin typeface="Calibri" pitchFamily="34" charset="0"/>
                <a:ea typeface="Calibri" pitchFamily="34" charset="-122"/>
                <a:cs typeface="Calibri" pitchFamily="34" charset="-120"/>
              </a:rPr>
              <a:t>Per-instance or screen-size importance</a:t>
            </a:r>
            <a:endParaRPr lang="en-US" sz="1400" dirty="0"/>
          </a:p>
          <a:p>
            <a:pPr marL="342900" indent="-342900">
              <a:spcAft>
                <a:spcPts val="300"/>
              </a:spcAft>
              <a:buSzPct val="100000"/>
              <a:buChar char="•"/>
            </a:pPr>
            <a:r>
              <a:rPr lang="en-US" sz="1400" dirty="0">
                <a:solidFill>
                  <a:srgbClr val="E6E9EF"/>
                </a:solidFill>
                <a:latin typeface="Calibri" pitchFamily="34" charset="0"/>
                <a:ea typeface="Calibri" pitchFamily="34" charset="-122"/>
                <a:cs typeface="Calibri" pitchFamily="34" charset="-120"/>
              </a:rPr>
              <a:t>Cross-fade or dither between mesh levels (trees still pop)</a:t>
            </a:r>
            <a:endParaRPr lang="en-US" sz="1400" dirty="0"/>
          </a:p>
          <a:p>
            <a:pPr marL="342900" indent="-342900">
              <a:spcAft>
                <a:spcPts val="300"/>
              </a:spcAft>
              <a:buSzPct val="100000"/>
              <a:buChar char="•"/>
            </a:pPr>
            <a:r>
              <a:rPr lang="en-US" sz="1400" dirty="0">
                <a:solidFill>
                  <a:srgbClr val="E6E9EF"/>
                </a:solidFill>
                <a:latin typeface="Calibri" pitchFamily="34" charset="0"/>
                <a:ea typeface="Calibri" pitchFamily="34" charset="-122"/>
                <a:cs typeface="Calibri" pitchFamily="34" charset="-120"/>
              </a:rPr>
              <a:t>Mesh LOD for bushes (density only)</a:t>
            </a:r>
            <a:endParaRPr lang="en-US" sz="140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200" b="1" spc="200" kern="0" dirty="0">
                <a:solidFill>
                  <a:srgbClr val="35D0E8"/>
                </a:solidFill>
                <a:latin typeface="Calibri" pitchFamily="34" charset="0"/>
                <a:ea typeface="Calibri" pitchFamily="34" charset="-122"/>
                <a:cs typeface="Calibri" pitchFamily="34" charset="-120"/>
              </a:rPr>
              <a:t>SYSTEM ARCHITECTURE</a:t>
            </a:r>
            <a:endParaRPr lang="en-US" sz="1200" dirty="0"/>
          </a:p>
        </p:txBody>
      </p:sp>
      <p:sp>
        <p:nvSpPr>
          <p:cNvPr id="3" name="Text 1"/>
          <p:cNvSpPr txBox="1"/>
          <p:nvPr/>
        </p:nvSpPr>
        <p:spPr>
          <a:xfrm>
            <a:off x="457200" y="502920"/>
            <a:ext cx="11247120" cy="548640"/>
          </a:xfrm>
          <a:prstGeom prst="rect">
            <a:avLst/>
          </a:prstGeom>
          <a:noFill/>
          <a:ln/>
        </p:spPr>
        <p:txBody>
          <a:bodyPr wrap="square" lIns="0" tIns="0" rIns="0" bIns="0" rtlCol="0" anchor="ctr">
            <a:normAutofit/>
          </a:bodyPr>
          <a:lstStyle/>
          <a:p>
            <a:pPr indent="0" marL="0">
              <a:buNone/>
            </a:pPr>
            <a:r>
              <a:rPr lang="en-US" sz="3000" b="1" dirty="0">
                <a:solidFill>
                  <a:srgbClr val="E6E9EF"/>
                </a:solidFill>
                <a:latin typeface="Cambria" pitchFamily="34" charset="0"/>
                <a:ea typeface="Cambria" pitchFamily="34" charset="-122"/>
                <a:cs typeface="Cambria" pitchFamily="34" charset="-120"/>
              </a:rPr>
              <a:t>Architecture: one controller bias scales fixed metre thresholds</a:t>
            </a:r>
            <a:endParaRPr lang="en-US" sz="3000" dirty="0"/>
          </a:p>
        </p:txBody>
      </p:sp>
      <p:sp>
        <p:nvSpPr>
          <p:cNvPr id="4" name="Text 2"/>
          <p:cNvSpPr txBox="1"/>
          <p:nvPr/>
        </p:nvSpPr>
        <p:spPr>
          <a:xfrm>
            <a:off x="502920" y="1188720"/>
            <a:ext cx="7315200" cy="228600"/>
          </a:xfrm>
          <a:prstGeom prst="rect">
            <a:avLst/>
          </a:prstGeom>
          <a:noFill/>
          <a:ln/>
        </p:spPr>
        <p:txBody>
          <a:bodyPr wrap="square" lIns="0" tIns="0" rIns="0" bIns="0" rtlCol="0" anchor="t"/>
          <a:lstStyle/>
          <a:p>
            <a:pPr indent="0" marL="0">
              <a:buNone/>
            </a:pPr>
            <a:r>
              <a:rPr lang="en-US" sz="1100" b="1" dirty="0">
                <a:solidFill>
                  <a:srgbClr val="A78BFA"/>
                </a:solidFill>
                <a:latin typeface="Calibri" pitchFamily="34" charset="0"/>
                <a:ea typeface="Calibri" pitchFamily="34" charset="-122"/>
                <a:cs typeface="Calibri" pitchFamily="34" charset="-120"/>
              </a:rPr>
              <a:t>ADAPTIVE MODE ONLY  (adaptive_lod.gd, pi_controller.gd)</a:t>
            </a:r>
            <a:endParaRPr lang="en-US" sz="1100" dirty="0"/>
          </a:p>
        </p:txBody>
      </p:sp>
      <p:sp>
        <p:nvSpPr>
          <p:cNvPr id="5" name="Shape 3"/>
          <p:cNvSpPr/>
          <p:nvPr/>
        </p:nvSpPr>
        <p:spPr>
          <a:xfrm>
            <a:off x="502920" y="1463040"/>
            <a:ext cx="2011680" cy="822960"/>
          </a:xfrm>
          <a:prstGeom prst="rect">
            <a:avLst/>
          </a:prstGeom>
          <a:solidFill>
            <a:srgbClr val="262C37"/>
          </a:solidFill>
          <a:ln w="15875">
            <a:solidFill>
              <a:srgbClr val="A78BFA"/>
            </a:solidFill>
            <a:prstDash val="solid"/>
          </a:ln>
        </p:spPr>
      </p:sp>
      <p:sp>
        <p:nvSpPr>
          <p:cNvPr id="6" name="Text 4"/>
          <p:cNvSpPr txBox="1"/>
          <p:nvPr/>
        </p:nvSpPr>
        <p:spPr>
          <a:xfrm>
            <a:off x="576072" y="1517904"/>
            <a:ext cx="1865376" cy="73152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GPU render time</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viewport measured time, VSync off</a:t>
            </a:r>
            <a:endParaRPr lang="en-US" sz="1200" dirty="0"/>
          </a:p>
        </p:txBody>
      </p:sp>
      <p:sp>
        <p:nvSpPr>
          <p:cNvPr id="7" name="Shape 5"/>
          <p:cNvSpPr/>
          <p:nvPr/>
        </p:nvSpPr>
        <p:spPr>
          <a:xfrm>
            <a:off x="2514600" y="1874520"/>
            <a:ext cx="274320" cy="0"/>
          </a:xfrm>
          <a:prstGeom prst="line">
            <a:avLst/>
          </a:prstGeom>
          <a:noFill/>
          <a:ln w="19050">
            <a:solidFill>
              <a:srgbClr val="A78BFA"/>
            </a:solidFill>
            <a:prstDash val="solid"/>
            <a:tailEnd type="triangle"/>
          </a:ln>
        </p:spPr>
      </p:sp>
      <p:sp>
        <p:nvSpPr>
          <p:cNvPr id="8" name="Shape 6"/>
          <p:cNvSpPr/>
          <p:nvPr/>
        </p:nvSpPr>
        <p:spPr>
          <a:xfrm>
            <a:off x="2788920" y="1463040"/>
            <a:ext cx="2011680" cy="822960"/>
          </a:xfrm>
          <a:prstGeom prst="rect">
            <a:avLst/>
          </a:prstGeom>
          <a:solidFill>
            <a:srgbClr val="262C37"/>
          </a:solidFill>
          <a:ln w="15875">
            <a:solidFill>
              <a:srgbClr val="A78BFA"/>
            </a:solidFill>
            <a:prstDash val="solid"/>
          </a:ln>
        </p:spPr>
      </p:sp>
      <p:sp>
        <p:nvSpPr>
          <p:cNvPr id="9" name="Text 7"/>
          <p:cNvSpPr txBox="1"/>
          <p:nvPr/>
        </p:nvSpPr>
        <p:spPr>
          <a:xfrm>
            <a:off x="2862072" y="1517904"/>
            <a:ext cx="1865376" cy="73152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Smoothing</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EMA 0.5 s, spike clip 3x target</a:t>
            </a:r>
            <a:endParaRPr lang="en-US" sz="1200" dirty="0"/>
          </a:p>
        </p:txBody>
      </p:sp>
      <p:sp>
        <p:nvSpPr>
          <p:cNvPr id="10" name="Shape 8"/>
          <p:cNvSpPr/>
          <p:nvPr/>
        </p:nvSpPr>
        <p:spPr>
          <a:xfrm>
            <a:off x="4800600" y="1874520"/>
            <a:ext cx="274320" cy="0"/>
          </a:xfrm>
          <a:prstGeom prst="line">
            <a:avLst/>
          </a:prstGeom>
          <a:noFill/>
          <a:ln w="19050">
            <a:solidFill>
              <a:srgbClr val="A78BFA"/>
            </a:solidFill>
            <a:prstDash val="solid"/>
            <a:tailEnd type="triangle"/>
          </a:ln>
        </p:spPr>
      </p:sp>
      <p:sp>
        <p:nvSpPr>
          <p:cNvPr id="11" name="Shape 9"/>
          <p:cNvSpPr/>
          <p:nvPr/>
        </p:nvSpPr>
        <p:spPr>
          <a:xfrm>
            <a:off x="5074920" y="1463040"/>
            <a:ext cx="2011680" cy="822960"/>
          </a:xfrm>
          <a:prstGeom prst="rect">
            <a:avLst/>
          </a:prstGeom>
          <a:solidFill>
            <a:srgbClr val="262C37"/>
          </a:solidFill>
          <a:ln w="15875">
            <a:solidFill>
              <a:srgbClr val="A78BFA"/>
            </a:solidFill>
            <a:prstDash val="solid"/>
          </a:ln>
        </p:spPr>
      </p:sp>
      <p:sp>
        <p:nvSpPr>
          <p:cNvPr id="12" name="Text 10"/>
          <p:cNvSpPr txBox="1"/>
          <p:nvPr/>
        </p:nvSpPr>
        <p:spPr>
          <a:xfrm>
            <a:off x="5148072" y="1517904"/>
            <a:ext cx="1865376" cy="73152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PI controller</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target 16.67 ms (8 ms stress), deadband 3%</a:t>
            </a:r>
            <a:endParaRPr lang="en-US" sz="1200" dirty="0"/>
          </a:p>
        </p:txBody>
      </p:sp>
      <p:sp>
        <p:nvSpPr>
          <p:cNvPr id="13" name="Shape 11"/>
          <p:cNvSpPr/>
          <p:nvPr/>
        </p:nvSpPr>
        <p:spPr>
          <a:xfrm>
            <a:off x="7086600" y="1874520"/>
            <a:ext cx="274320" cy="0"/>
          </a:xfrm>
          <a:prstGeom prst="line">
            <a:avLst/>
          </a:prstGeom>
          <a:noFill/>
          <a:ln w="19050">
            <a:solidFill>
              <a:srgbClr val="A78BFA"/>
            </a:solidFill>
            <a:prstDash val="solid"/>
            <a:tailEnd type="triangle"/>
          </a:ln>
        </p:spPr>
      </p:sp>
      <p:sp>
        <p:nvSpPr>
          <p:cNvPr id="14" name="Shape 12"/>
          <p:cNvSpPr/>
          <p:nvPr/>
        </p:nvSpPr>
        <p:spPr>
          <a:xfrm>
            <a:off x="7360920" y="1463040"/>
            <a:ext cx="2011680" cy="822960"/>
          </a:xfrm>
          <a:prstGeom prst="rect">
            <a:avLst/>
          </a:prstGeom>
          <a:solidFill>
            <a:srgbClr val="262C37"/>
          </a:solidFill>
          <a:ln w="15875">
            <a:solidFill>
              <a:srgbClr val="A78BFA"/>
            </a:solidFill>
            <a:prstDash val="solid"/>
          </a:ln>
        </p:spPr>
      </p:sp>
      <p:sp>
        <p:nvSpPr>
          <p:cNvPr id="15" name="Text 13"/>
          <p:cNvSpPr txBox="1"/>
          <p:nvPr/>
        </p:nvSpPr>
        <p:spPr>
          <a:xfrm>
            <a:off x="7434072" y="1517904"/>
            <a:ext cx="1865376" cy="73152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Rate limits</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+0.10 up / -0.03 down per 0.25 s</a:t>
            </a:r>
            <a:endParaRPr lang="en-US" sz="1200" dirty="0"/>
          </a:p>
        </p:txBody>
      </p:sp>
      <p:sp>
        <p:nvSpPr>
          <p:cNvPr id="16" name="Shape 14"/>
          <p:cNvSpPr/>
          <p:nvPr/>
        </p:nvSpPr>
        <p:spPr>
          <a:xfrm>
            <a:off x="9372600" y="1874520"/>
            <a:ext cx="274320" cy="0"/>
          </a:xfrm>
          <a:prstGeom prst="line">
            <a:avLst/>
          </a:prstGeom>
          <a:noFill/>
          <a:ln w="19050">
            <a:solidFill>
              <a:srgbClr val="A78BFA"/>
            </a:solidFill>
            <a:prstDash val="solid"/>
            <a:tailEnd type="triangle"/>
          </a:ln>
        </p:spPr>
      </p:sp>
      <p:sp>
        <p:nvSpPr>
          <p:cNvPr id="17" name="Shape 15"/>
          <p:cNvSpPr/>
          <p:nvPr/>
        </p:nvSpPr>
        <p:spPr>
          <a:xfrm>
            <a:off x="9646920" y="1463040"/>
            <a:ext cx="2011680" cy="822960"/>
          </a:xfrm>
          <a:prstGeom prst="rect">
            <a:avLst/>
          </a:prstGeom>
          <a:solidFill>
            <a:srgbClr val="262C37"/>
          </a:solidFill>
          <a:ln w="15875">
            <a:solidFill>
              <a:srgbClr val="A78BFA"/>
            </a:solidFill>
            <a:prstDash val="solid"/>
          </a:ln>
        </p:spPr>
      </p:sp>
      <p:sp>
        <p:nvSpPr>
          <p:cNvPr id="18" name="Text 16"/>
          <p:cNvSpPr txBox="1"/>
          <p:nvPr/>
        </p:nvSpPr>
        <p:spPr>
          <a:xfrm>
            <a:off x="9720072" y="1517904"/>
            <a:ext cx="1865376" cy="73152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Global bias 0..2</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then per-category onset, gain, cap</a:t>
            </a:r>
            <a:endParaRPr lang="en-US" sz="1200" dirty="0"/>
          </a:p>
        </p:txBody>
      </p:sp>
      <p:sp>
        <p:nvSpPr>
          <p:cNvPr id="19" name="Text 17"/>
          <p:cNvSpPr txBox="1"/>
          <p:nvPr/>
        </p:nvSpPr>
        <p:spPr>
          <a:xfrm>
            <a:off x="502920" y="2651760"/>
            <a:ext cx="9144000" cy="228600"/>
          </a:xfrm>
          <a:prstGeom prst="rect">
            <a:avLst/>
          </a:prstGeom>
          <a:noFill/>
          <a:ln/>
        </p:spPr>
        <p:txBody>
          <a:bodyPr wrap="square" lIns="0" tIns="0" rIns="0" bIns="0" rtlCol="0" anchor="t"/>
          <a:lstStyle/>
          <a:p>
            <a:pPr indent="0" marL="0">
              <a:buNone/>
            </a:pPr>
            <a:r>
              <a:rPr lang="en-US" sz="1100" b="1" dirty="0">
                <a:solidFill>
                  <a:srgbClr val="35D0E8"/>
                </a:solidFill>
                <a:latin typeface="Calibri" pitchFamily="34" charset="0"/>
                <a:ea typeface="Calibri" pitchFamily="34" charset="-122"/>
                <a:cs typeface="Calibri" pitchFamily="34" charset="-120"/>
              </a:rPr>
              <a:t>SHARED PIPELINE  (lod_manager.gd, lod_policy.gd; all off in None)</a:t>
            </a:r>
            <a:endParaRPr lang="en-US" sz="1100" dirty="0"/>
          </a:p>
        </p:txBody>
      </p:sp>
      <p:sp>
        <p:nvSpPr>
          <p:cNvPr id="20" name="Shape 18"/>
          <p:cNvSpPr/>
          <p:nvPr/>
        </p:nvSpPr>
        <p:spPr>
          <a:xfrm>
            <a:off x="502920" y="2926080"/>
            <a:ext cx="1691640" cy="914400"/>
          </a:xfrm>
          <a:prstGeom prst="rect">
            <a:avLst/>
          </a:prstGeom>
          <a:solidFill>
            <a:srgbClr val="262C37"/>
          </a:solidFill>
          <a:ln w="15875">
            <a:solidFill>
              <a:srgbClr val="35D0E8"/>
            </a:solidFill>
            <a:prstDash val="solid"/>
          </a:ln>
        </p:spPr>
      </p:sp>
      <p:sp>
        <p:nvSpPr>
          <p:cNvPr id="21" name="Text 19"/>
          <p:cNvSpPr txBox="1"/>
          <p:nvPr/>
        </p:nvSpPr>
        <p:spPr>
          <a:xfrm>
            <a:off x="576072" y="2980944"/>
            <a:ext cx="1545336" cy="82296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Scene + camera path</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528 m, 8 m/s, seed 1337</a:t>
            </a:r>
            <a:endParaRPr lang="en-US" sz="1200" dirty="0"/>
          </a:p>
        </p:txBody>
      </p:sp>
      <p:sp>
        <p:nvSpPr>
          <p:cNvPr id="22" name="Shape 20"/>
          <p:cNvSpPr/>
          <p:nvPr/>
        </p:nvSpPr>
        <p:spPr>
          <a:xfrm>
            <a:off x="2194560" y="3383280"/>
            <a:ext cx="206654" cy="0"/>
          </a:xfrm>
          <a:prstGeom prst="line">
            <a:avLst/>
          </a:prstGeom>
          <a:noFill/>
          <a:ln w="19050">
            <a:solidFill>
              <a:srgbClr val="35D0E8"/>
            </a:solidFill>
            <a:prstDash val="solid"/>
            <a:tailEnd type="triangle"/>
          </a:ln>
        </p:spPr>
      </p:sp>
      <p:sp>
        <p:nvSpPr>
          <p:cNvPr id="23" name="Shape 21"/>
          <p:cNvSpPr/>
          <p:nvPr/>
        </p:nvSpPr>
        <p:spPr>
          <a:xfrm>
            <a:off x="2401214" y="2926080"/>
            <a:ext cx="1691640" cy="914400"/>
          </a:xfrm>
          <a:prstGeom prst="rect">
            <a:avLst/>
          </a:prstGeom>
          <a:solidFill>
            <a:srgbClr val="262C37"/>
          </a:solidFill>
          <a:ln w="15875">
            <a:solidFill>
              <a:srgbClr val="35D0E8"/>
            </a:solidFill>
            <a:prstDash val="solid"/>
          </a:ln>
        </p:spPr>
      </p:sp>
      <p:sp>
        <p:nvSpPr>
          <p:cNvPr id="24" name="Text 22"/>
          <p:cNvSpPr txBox="1"/>
          <p:nvPr/>
        </p:nvSpPr>
        <p:spPr>
          <a:xfrm>
            <a:off x="2474366" y="2980944"/>
            <a:ext cx="1545336" cy="82296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Camera distance</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metres, per chunk / cell / tree</a:t>
            </a:r>
            <a:endParaRPr lang="en-US" sz="1200" dirty="0"/>
          </a:p>
        </p:txBody>
      </p:sp>
      <p:sp>
        <p:nvSpPr>
          <p:cNvPr id="25" name="Shape 23"/>
          <p:cNvSpPr/>
          <p:nvPr/>
        </p:nvSpPr>
        <p:spPr>
          <a:xfrm>
            <a:off x="4092854" y="3383280"/>
            <a:ext cx="206654" cy="0"/>
          </a:xfrm>
          <a:prstGeom prst="line">
            <a:avLst/>
          </a:prstGeom>
          <a:noFill/>
          <a:ln w="19050">
            <a:solidFill>
              <a:srgbClr val="35D0E8"/>
            </a:solidFill>
            <a:prstDash val="solid"/>
            <a:tailEnd type="triangle"/>
          </a:ln>
        </p:spPr>
      </p:sp>
      <p:sp>
        <p:nvSpPr>
          <p:cNvPr id="26" name="Shape 24"/>
          <p:cNvSpPr/>
          <p:nvPr/>
        </p:nvSpPr>
        <p:spPr>
          <a:xfrm>
            <a:off x="4299509" y="2926080"/>
            <a:ext cx="1691640" cy="914400"/>
          </a:xfrm>
          <a:prstGeom prst="rect">
            <a:avLst/>
          </a:prstGeom>
          <a:solidFill>
            <a:srgbClr val="262C37"/>
          </a:solidFill>
          <a:ln w="15875">
            <a:solidFill>
              <a:srgbClr val="35D0E8"/>
            </a:solidFill>
            <a:prstDash val="solid"/>
          </a:ln>
        </p:spPr>
      </p:sp>
      <p:sp>
        <p:nvSpPr>
          <p:cNvPr id="27" name="Text 25"/>
          <p:cNvSpPr txBox="1"/>
          <p:nvPr/>
        </p:nvSpPr>
        <p:spPr>
          <a:xfrm>
            <a:off x="4372661" y="2980944"/>
            <a:ext cx="1545336" cy="82296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LOD policy</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start thresholds at bias 0</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adaptive: distance x (1+bias)</a:t>
            </a:r>
            <a:endParaRPr lang="en-US" sz="1200" dirty="0"/>
          </a:p>
        </p:txBody>
      </p:sp>
      <p:sp>
        <p:nvSpPr>
          <p:cNvPr id="28" name="Shape 26"/>
          <p:cNvSpPr/>
          <p:nvPr/>
        </p:nvSpPr>
        <p:spPr>
          <a:xfrm>
            <a:off x="5991149" y="3383280"/>
            <a:ext cx="206654" cy="0"/>
          </a:xfrm>
          <a:prstGeom prst="line">
            <a:avLst/>
          </a:prstGeom>
          <a:noFill/>
          <a:ln w="19050">
            <a:solidFill>
              <a:srgbClr val="35D0E8"/>
            </a:solidFill>
            <a:prstDash val="solid"/>
            <a:tailEnd type="triangle"/>
          </a:ln>
        </p:spPr>
      </p:sp>
      <p:sp>
        <p:nvSpPr>
          <p:cNvPr id="29" name="Shape 27"/>
          <p:cNvSpPr/>
          <p:nvPr/>
        </p:nvSpPr>
        <p:spPr>
          <a:xfrm>
            <a:off x="6197803" y="2926080"/>
            <a:ext cx="1691640" cy="914400"/>
          </a:xfrm>
          <a:prstGeom prst="rect">
            <a:avLst/>
          </a:prstGeom>
          <a:solidFill>
            <a:srgbClr val="262C37"/>
          </a:solidFill>
          <a:ln w="15875">
            <a:solidFill>
              <a:srgbClr val="35D0E8"/>
            </a:solidFill>
            <a:prstDash val="solid"/>
          </a:ln>
        </p:spPr>
      </p:sp>
      <p:sp>
        <p:nvSpPr>
          <p:cNvPr id="30" name="Text 28"/>
          <p:cNvSpPr txBox="1"/>
          <p:nvPr/>
        </p:nvSpPr>
        <p:spPr>
          <a:xfrm>
            <a:off x="6270955" y="2980944"/>
            <a:ext cx="1545336" cy="82296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Detail update</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MultiMesh tier / count, hysteresis, change budget</a:t>
            </a:r>
            <a:endParaRPr lang="en-US" sz="1200" dirty="0"/>
          </a:p>
        </p:txBody>
      </p:sp>
      <p:sp>
        <p:nvSpPr>
          <p:cNvPr id="31" name="Shape 29"/>
          <p:cNvSpPr/>
          <p:nvPr/>
        </p:nvSpPr>
        <p:spPr>
          <a:xfrm>
            <a:off x="7889443" y="3383280"/>
            <a:ext cx="206654" cy="0"/>
          </a:xfrm>
          <a:prstGeom prst="line">
            <a:avLst/>
          </a:prstGeom>
          <a:noFill/>
          <a:ln w="19050">
            <a:solidFill>
              <a:srgbClr val="35D0E8"/>
            </a:solidFill>
            <a:prstDash val="solid"/>
            <a:tailEnd type="triangle"/>
          </a:ln>
        </p:spPr>
      </p:sp>
      <p:sp>
        <p:nvSpPr>
          <p:cNvPr id="32" name="Shape 30"/>
          <p:cNvSpPr/>
          <p:nvPr/>
        </p:nvSpPr>
        <p:spPr>
          <a:xfrm>
            <a:off x="8096098" y="2926080"/>
            <a:ext cx="1691640" cy="914400"/>
          </a:xfrm>
          <a:prstGeom prst="rect">
            <a:avLst/>
          </a:prstGeom>
          <a:solidFill>
            <a:srgbClr val="262C37"/>
          </a:solidFill>
          <a:ln w="15875">
            <a:solidFill>
              <a:srgbClr val="35D0E8"/>
            </a:solidFill>
            <a:prstDash val="solid"/>
          </a:ln>
        </p:spPr>
      </p:sp>
      <p:sp>
        <p:nvSpPr>
          <p:cNvPr id="33" name="Text 31"/>
          <p:cNvSpPr txBox="1"/>
          <p:nvPr/>
        </p:nvSpPr>
        <p:spPr>
          <a:xfrm>
            <a:off x="8169250" y="2980944"/>
            <a:ext cx="1545336" cy="82296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Rendered frame</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MetricsSampler: frame, GPU, draws</a:t>
            </a:r>
            <a:endParaRPr lang="en-US" sz="1200" dirty="0"/>
          </a:p>
        </p:txBody>
      </p:sp>
      <p:sp>
        <p:nvSpPr>
          <p:cNvPr id="34" name="Shape 32"/>
          <p:cNvSpPr/>
          <p:nvPr/>
        </p:nvSpPr>
        <p:spPr>
          <a:xfrm>
            <a:off x="9787738" y="3383280"/>
            <a:ext cx="206654" cy="0"/>
          </a:xfrm>
          <a:prstGeom prst="line">
            <a:avLst/>
          </a:prstGeom>
          <a:noFill/>
          <a:ln w="19050">
            <a:solidFill>
              <a:srgbClr val="35D0E8"/>
            </a:solidFill>
            <a:prstDash val="solid"/>
            <a:tailEnd type="triangle"/>
          </a:ln>
        </p:spPr>
      </p:sp>
      <p:sp>
        <p:nvSpPr>
          <p:cNvPr id="35" name="Shape 33"/>
          <p:cNvSpPr/>
          <p:nvPr/>
        </p:nvSpPr>
        <p:spPr>
          <a:xfrm>
            <a:off x="9994392" y="2926080"/>
            <a:ext cx="1691640" cy="914400"/>
          </a:xfrm>
          <a:prstGeom prst="rect">
            <a:avLst/>
          </a:prstGeom>
          <a:solidFill>
            <a:srgbClr val="262C37"/>
          </a:solidFill>
          <a:ln w="15875">
            <a:solidFill>
              <a:srgbClr val="35D0E8"/>
            </a:solidFill>
            <a:prstDash val="solid"/>
          </a:ln>
        </p:spPr>
      </p:sp>
      <p:sp>
        <p:nvSpPr>
          <p:cNvPr id="36" name="Text 34"/>
          <p:cNvSpPr txBox="1"/>
          <p:nvPr/>
        </p:nvSpPr>
        <p:spPr>
          <a:xfrm>
            <a:off x="10067544" y="2980944"/>
            <a:ext cx="1545336" cy="822960"/>
          </a:xfrm>
          <a:prstGeom prst="rect">
            <a:avLst/>
          </a:prstGeom>
          <a:noFill/>
          <a:ln/>
        </p:spPr>
        <p:txBody>
          <a:bodyPr wrap="square" lIns="0" tIns="0" rIns="0" bIns="0" rtlCol="0" anchor="ctr"/>
          <a:lstStyle/>
          <a:p>
            <a:pPr algn="ctr" indent="0" marL="0">
              <a:buNone/>
            </a:pPr>
            <a:r>
              <a:rPr lang="en-US" sz="1200" b="1" dirty="0">
                <a:solidFill>
                  <a:srgbClr val="E6E9EF"/>
                </a:solidFill>
                <a:latin typeface="Calibri" pitchFamily="34" charset="0"/>
                <a:ea typeface="Calibri" pitchFamily="34" charset="-122"/>
                <a:cs typeface="Calibri" pitchFamily="34" charset="-120"/>
              </a:rPr>
              <a:t>CSV + JSON</a:t>
            </a:r>
            <a:endParaRPr lang="en-US" sz="1200" dirty="0"/>
          </a:p>
          <a:p>
            <a:pPr algn="ctr" indent="0" marL="0">
              <a:buNone/>
            </a:pPr>
            <a:r>
              <a:rPr lang="en-US" sz="1050" dirty="0">
                <a:solidFill>
                  <a:srgbClr val="9AA3B2"/>
                </a:solidFill>
                <a:latin typeface="Calibri" pitchFamily="34" charset="0"/>
                <a:ea typeface="Calibri" pitchFamily="34" charset="-122"/>
                <a:cs typeface="Calibri" pitchFamily="34" charset="-120"/>
              </a:rPr>
              <a:t>benchmark_summary: avg, p50, p95, p99</a:t>
            </a:r>
            <a:endParaRPr lang="en-US" sz="1200" dirty="0"/>
          </a:p>
        </p:txBody>
      </p:sp>
      <p:sp>
        <p:nvSpPr>
          <p:cNvPr id="37" name="Shape 35"/>
          <p:cNvSpPr/>
          <p:nvPr/>
        </p:nvSpPr>
        <p:spPr>
          <a:xfrm>
            <a:off x="10652760" y="2286000"/>
            <a:ext cx="0" cy="182880"/>
          </a:xfrm>
          <a:prstGeom prst="line">
            <a:avLst/>
          </a:prstGeom>
          <a:noFill/>
          <a:ln w="19050">
            <a:solidFill>
              <a:srgbClr val="A78BFA"/>
            </a:solidFill>
            <a:prstDash val="solid"/>
          </a:ln>
        </p:spPr>
      </p:sp>
      <p:sp>
        <p:nvSpPr>
          <p:cNvPr id="38" name="Shape 36"/>
          <p:cNvSpPr/>
          <p:nvPr/>
        </p:nvSpPr>
        <p:spPr>
          <a:xfrm>
            <a:off x="5145329" y="2468880"/>
            <a:ext cx="5507431" cy="0"/>
          </a:xfrm>
          <a:prstGeom prst="line">
            <a:avLst/>
          </a:prstGeom>
          <a:noFill/>
          <a:ln w="19050">
            <a:solidFill>
              <a:srgbClr val="A78BFA"/>
            </a:solidFill>
            <a:prstDash val="solid"/>
          </a:ln>
        </p:spPr>
      </p:sp>
      <p:sp>
        <p:nvSpPr>
          <p:cNvPr id="39" name="Shape 37"/>
          <p:cNvSpPr/>
          <p:nvPr/>
        </p:nvSpPr>
        <p:spPr>
          <a:xfrm>
            <a:off x="5145329" y="2468880"/>
            <a:ext cx="0" cy="457200"/>
          </a:xfrm>
          <a:prstGeom prst="line">
            <a:avLst/>
          </a:prstGeom>
          <a:noFill/>
          <a:ln w="19050">
            <a:solidFill>
              <a:srgbClr val="A78BFA"/>
            </a:solidFill>
            <a:prstDash val="solid"/>
            <a:tailEnd type="triangle"/>
          </a:ln>
        </p:spPr>
      </p:sp>
      <p:sp>
        <p:nvSpPr>
          <p:cNvPr id="40" name="Text 38"/>
          <p:cNvSpPr txBox="1"/>
          <p:nvPr/>
        </p:nvSpPr>
        <p:spPr>
          <a:xfrm>
            <a:off x="5236769" y="2487168"/>
            <a:ext cx="548640" cy="201168"/>
          </a:xfrm>
          <a:prstGeom prst="rect">
            <a:avLst/>
          </a:prstGeom>
          <a:noFill/>
          <a:ln/>
        </p:spPr>
        <p:txBody>
          <a:bodyPr wrap="square" lIns="0" tIns="0" rIns="0" bIns="0" rtlCol="0" anchor="t"/>
          <a:lstStyle/>
          <a:p>
            <a:pPr indent="0" marL="0">
              <a:buNone/>
            </a:pPr>
            <a:r>
              <a:rPr lang="en-US" sz="1000" b="1" dirty="0">
                <a:solidFill>
                  <a:srgbClr val="A78BFA"/>
                </a:solidFill>
                <a:latin typeface="Calibri" pitchFamily="34" charset="0"/>
                <a:ea typeface="Calibri" pitchFamily="34" charset="-122"/>
                <a:cs typeface="Calibri" pitchFamily="34" charset="-120"/>
              </a:rPr>
              <a:t>bias</a:t>
            </a:r>
            <a:endParaRPr lang="en-US" sz="1000" dirty="0"/>
          </a:p>
        </p:txBody>
      </p:sp>
      <p:sp>
        <p:nvSpPr>
          <p:cNvPr id="41" name="Shape 39"/>
          <p:cNvSpPr/>
          <p:nvPr/>
        </p:nvSpPr>
        <p:spPr>
          <a:xfrm>
            <a:off x="502920" y="4069080"/>
            <a:ext cx="3611880" cy="2286000"/>
          </a:xfrm>
          <a:prstGeom prst="rect">
            <a:avLst/>
          </a:prstGeom>
          <a:solidFill>
            <a:srgbClr val="1F242D"/>
          </a:solidFill>
          <a:ln w="9525">
            <a:solidFill>
              <a:srgbClr val="3A4150"/>
            </a:solidFill>
            <a:prstDash val="solid"/>
          </a:ln>
        </p:spPr>
      </p:sp>
      <p:sp>
        <p:nvSpPr>
          <p:cNvPr id="42" name="Text 40"/>
          <p:cNvSpPr txBox="1"/>
          <p:nvPr/>
        </p:nvSpPr>
        <p:spPr>
          <a:xfrm>
            <a:off x="640080" y="4133088"/>
            <a:ext cx="3383280" cy="274320"/>
          </a:xfrm>
          <a:prstGeom prst="rect">
            <a:avLst/>
          </a:prstGeom>
          <a:noFill/>
          <a:ln/>
        </p:spPr>
        <p:txBody>
          <a:bodyPr wrap="square" lIns="0" tIns="0" rIns="0" bIns="0" rtlCol="0" anchor="t"/>
          <a:lstStyle/>
          <a:p>
            <a:pPr indent="0" marL="0">
              <a:buNone/>
            </a:pPr>
            <a:r>
              <a:rPr lang="en-US" sz="1500" b="1" dirty="0">
                <a:solidFill>
                  <a:srgbClr val="35D0E8"/>
                </a:solidFill>
                <a:latin typeface="Calibri" pitchFamily="34" charset="0"/>
                <a:ea typeface="Calibri" pitchFamily="34" charset="-122"/>
                <a:cs typeface="Calibri" pitchFamily="34" charset="-120"/>
              </a:rPr>
              <a:t>Thresholds in metres</a:t>
            </a:r>
            <a:endParaRPr lang="en-US" sz="1500" dirty="0"/>
          </a:p>
        </p:txBody>
      </p:sp>
      <p:sp>
        <p:nvSpPr>
          <p:cNvPr id="43" name="Text 41"/>
          <p:cNvSpPr txBox="1"/>
          <p:nvPr/>
        </p:nvSpPr>
        <p:spPr>
          <a:xfrm>
            <a:off x="640080" y="4434840"/>
            <a:ext cx="3383280" cy="18745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E6E9EF"/>
                </a:solidFill>
                <a:latin typeface="Calibri" pitchFamily="34" charset="0"/>
                <a:ea typeface="Calibri" pitchFamily="34" charset="-122"/>
                <a:cs typeface="Calibri" pitchFamily="34" charset="-120"/>
              </a:rPr>
              <a:t>Trees: effective = max(floor, base / (1 + bias)), never above base</a:t>
            </a:r>
            <a:endParaRPr lang="en-US" sz="1200" dirty="0"/>
          </a:p>
          <a:p>
            <a:pPr marL="342900" indent="-342900">
              <a:spcAft>
                <a:spcPts val="300"/>
              </a:spcAft>
              <a:buSzPct val="100000"/>
              <a:buChar char="•"/>
            </a:pPr>
            <a:r>
              <a:rPr lang="en-US" sz="1200" dirty="0">
                <a:solidFill>
                  <a:srgbClr val="E6E9EF"/>
                </a:solidFill>
                <a:latin typeface="Calibri" pitchFamily="34" charset="0"/>
                <a:ea typeface="Calibri" pitchFamily="34" charset="-122"/>
                <a:cs typeface="Calibri" pitchFamily="34" charset="-120"/>
              </a:rPr>
              <a:t>Hysteresis added in metres (10 m)</a:t>
            </a:r>
            <a:endParaRPr lang="en-US" sz="1200" dirty="0"/>
          </a:p>
          <a:p>
            <a:pPr marL="342900" indent="-342900">
              <a:spcAft>
                <a:spcPts val="300"/>
              </a:spcAft>
              <a:buSzPct val="100000"/>
              <a:buChar char="•"/>
            </a:pPr>
            <a:r>
              <a:rPr lang="en-US" sz="1200" dirty="0">
                <a:solidFill>
                  <a:srgbClr val="E6E9EF"/>
                </a:solidFill>
                <a:latin typeface="Calibri" pitchFamily="34" charset="0"/>
                <a:ea typeface="Calibri" pitchFamily="34" charset="-122"/>
                <a:cs typeface="Calibri" pitchFamily="34" charset="-120"/>
              </a:rPr>
              <a:t>Bias 0 gives the starting thresholds, so one code path serves every bias</a:t>
            </a:r>
            <a:endParaRPr lang="en-US" sz="1200" dirty="0"/>
          </a:p>
        </p:txBody>
      </p:sp>
      <p:sp>
        <p:nvSpPr>
          <p:cNvPr id="44" name="Shape 42"/>
          <p:cNvSpPr/>
          <p:nvPr/>
        </p:nvSpPr>
        <p:spPr>
          <a:xfrm>
            <a:off x="4251960" y="4069080"/>
            <a:ext cx="3611880" cy="2286000"/>
          </a:xfrm>
          <a:prstGeom prst="rect">
            <a:avLst/>
          </a:prstGeom>
          <a:solidFill>
            <a:srgbClr val="1F242D"/>
          </a:solidFill>
          <a:ln w="9525">
            <a:solidFill>
              <a:srgbClr val="3A4150"/>
            </a:solidFill>
            <a:prstDash val="solid"/>
          </a:ln>
        </p:spPr>
      </p:sp>
      <p:sp>
        <p:nvSpPr>
          <p:cNvPr id="45" name="Text 43"/>
          <p:cNvSpPr txBox="1"/>
          <p:nvPr/>
        </p:nvSpPr>
        <p:spPr>
          <a:xfrm>
            <a:off x="4389120" y="4133088"/>
            <a:ext cx="3383280" cy="274320"/>
          </a:xfrm>
          <a:prstGeom prst="rect">
            <a:avLst/>
          </a:prstGeom>
          <a:noFill/>
          <a:ln/>
        </p:spPr>
        <p:txBody>
          <a:bodyPr wrap="square" lIns="0" tIns="0" rIns="0" bIns="0" rtlCol="0" anchor="t"/>
          <a:lstStyle/>
          <a:p>
            <a:pPr indent="0" marL="0">
              <a:buNone/>
            </a:pPr>
            <a:r>
              <a:rPr lang="en-US" sz="1500" b="1" dirty="0">
                <a:solidFill>
                  <a:srgbClr val="35D0E8"/>
                </a:solidFill>
                <a:latin typeface="Calibri" pitchFamily="34" charset="0"/>
                <a:ea typeface="Calibri" pitchFamily="34" charset="-122"/>
                <a:cs typeface="Calibri" pitchFamily="34" charset="-120"/>
              </a:rPr>
              <a:t>Bounded coarsening</a:t>
            </a:r>
            <a:endParaRPr lang="en-US" sz="1500" dirty="0"/>
          </a:p>
        </p:txBody>
      </p:sp>
      <p:sp>
        <p:nvSpPr>
          <p:cNvPr id="46" name="Text 44"/>
          <p:cNvSpPr txBox="1"/>
          <p:nvPr/>
        </p:nvSpPr>
        <p:spPr>
          <a:xfrm>
            <a:off x="4389120" y="4434840"/>
            <a:ext cx="3383280" cy="18745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E6E9EF"/>
                </a:solidFill>
                <a:latin typeface="Calibri" pitchFamily="34" charset="0"/>
                <a:ea typeface="Calibri" pitchFamily="34" charset="-122"/>
                <a:cs typeface="Calibri" pitchFamily="34" charset="-120"/>
              </a:rPr>
              <a:t>Tree floors: LOD1 never before 60 m, LOD2 never before 100 m</a:t>
            </a:r>
            <a:endParaRPr lang="en-US" sz="1200" dirty="0"/>
          </a:p>
          <a:p>
            <a:pPr marL="342900" indent="-342900">
              <a:spcAft>
                <a:spcPts val="300"/>
              </a:spcAft>
              <a:buSzPct val="100000"/>
              <a:buChar char="•"/>
            </a:pPr>
            <a:r>
              <a:rPr lang="en-US" sz="1200" dirty="0">
                <a:solidFill>
                  <a:srgbClr val="E6E9EF"/>
                </a:solidFill>
                <a:latin typeface="Calibri" pitchFamily="34" charset="0"/>
                <a:ea typeface="Calibri" pitchFamily="34" charset="-122"/>
                <a:cs typeface="Calibri" pitchFamily="34" charset="-120"/>
              </a:rPr>
              <a:t>Per-category caps: grass 1.0, trees 1.0, bushes 0.5, debris 0.5</a:t>
            </a:r>
            <a:endParaRPr lang="en-US" sz="1200" dirty="0"/>
          </a:p>
          <a:p>
            <a:pPr marL="342900" indent="-342900">
              <a:spcAft>
                <a:spcPts val="300"/>
              </a:spcAft>
              <a:buSzPct val="100000"/>
              <a:buChar char="•"/>
            </a:pPr>
            <a:r>
              <a:rPr lang="en-US" sz="1200" dirty="0">
                <a:solidFill>
                  <a:srgbClr val="E6E9EF"/>
                </a:solidFill>
                <a:latin typeface="Calibri" pitchFamily="34" charset="0"/>
                <a:ea typeface="Calibri" pitchFamily="34" charset="-122"/>
                <a:cs typeface="Calibri" pitchFamily="34" charset="-120"/>
              </a:rPr>
              <a:t>bias_min 0: never finer than baseline. bias_max 2.0</a:t>
            </a:r>
            <a:endParaRPr lang="en-US" sz="1200" dirty="0"/>
          </a:p>
        </p:txBody>
      </p:sp>
      <p:sp>
        <p:nvSpPr>
          <p:cNvPr id="47" name="Shape 45"/>
          <p:cNvSpPr/>
          <p:nvPr/>
        </p:nvSpPr>
        <p:spPr>
          <a:xfrm>
            <a:off x="8001000" y="4069080"/>
            <a:ext cx="3703320" cy="2286000"/>
          </a:xfrm>
          <a:prstGeom prst="rect">
            <a:avLst/>
          </a:prstGeom>
          <a:solidFill>
            <a:srgbClr val="0E1116"/>
          </a:solidFill>
          <a:ln w="9525">
            <a:solidFill>
              <a:srgbClr val="3A4150"/>
            </a:solidFill>
            <a:prstDash val="solid"/>
          </a:ln>
        </p:spPr>
      </p:sp>
      <p:sp>
        <p:nvSpPr>
          <p:cNvPr id="48" name="Text 46"/>
          <p:cNvSpPr txBox="1"/>
          <p:nvPr/>
        </p:nvSpPr>
        <p:spPr>
          <a:xfrm>
            <a:off x="8119872" y="4114800"/>
            <a:ext cx="3474720" cy="201168"/>
          </a:xfrm>
          <a:prstGeom prst="rect">
            <a:avLst/>
          </a:prstGeom>
          <a:noFill/>
          <a:ln/>
        </p:spPr>
        <p:txBody>
          <a:bodyPr wrap="square" lIns="0" tIns="0" rIns="0" bIns="0" rtlCol="0" anchor="t"/>
          <a:lstStyle/>
          <a:p>
            <a:pPr indent="0" marL="0">
              <a:buNone/>
            </a:pPr>
            <a:r>
              <a:rPr lang="en-US" sz="1000" dirty="0">
                <a:solidFill>
                  <a:srgbClr val="9AA3B2"/>
                </a:solidFill>
                <a:latin typeface="Calibri" pitchFamily="34" charset="0"/>
                <a:ea typeface="Calibri" pitchFamily="34" charset="-122"/>
                <a:cs typeface="Calibri" pitchFamily="34" charset="-120"/>
              </a:rPr>
              <a:t>baseline_lod.gd: _rebuild_thresholds()</a:t>
            </a:r>
            <a:endParaRPr lang="en-US" sz="1000" dirty="0"/>
          </a:p>
        </p:txBody>
      </p:sp>
      <p:sp>
        <p:nvSpPr>
          <p:cNvPr id="49" name="Text 47"/>
          <p:cNvSpPr txBox="1"/>
          <p:nvPr/>
        </p:nvSpPr>
        <p:spPr>
          <a:xfrm>
            <a:off x="8119872" y="4389120"/>
            <a:ext cx="3520440" cy="1874520"/>
          </a:xfrm>
          <a:prstGeom prst="rect">
            <a:avLst/>
          </a:prstGeom>
          <a:noFill/>
          <a:ln/>
        </p:spPr>
        <p:txBody>
          <a:bodyPr wrap="square" lIns="0" tIns="0" rIns="0" bIns="0" rtlCol="0" anchor="t"/>
          <a:lstStyle/>
          <a:p>
            <a:pPr indent="0" marL="0">
              <a:buNone/>
            </a:pPr>
            <a:r>
              <a:rPr lang="en-US" sz="1100" dirty="0">
                <a:solidFill>
                  <a:srgbClr val="35D0E8"/>
                </a:solidFill>
                <a:latin typeface="Courier New" pitchFamily="34" charset="0"/>
                <a:ea typeface="Courier New" pitchFamily="34" charset="-122"/>
                <a:cs typeface="Courier New" pitchFamily="34" charset="-120"/>
              </a:rPr>
              <a:t>for i in 2:</a:t>
            </a:r>
            <a:endParaRPr lang="en-US" sz="1100" dirty="0"/>
          </a:p>
          <a:p>
            <a:pPr indent="0" marL="0">
              <a:buNone/>
            </a:pPr>
            <a:r>
              <a:rPr lang="en-US" sz="1100" dirty="0">
                <a:solidFill>
                  <a:srgbClr val="35D0E8"/>
                </a:solidFill>
                <a:latin typeface="Courier New" pitchFamily="34" charset="0"/>
                <a:ea typeface="Courier New" pitchFamily="34" charset="-122"/>
                <a:cs typeface="Courier New" pitchFamily="34" charset="-120"/>
              </a:rPr>
              <a:t>  var effective: float = base[i] / _dist_scale</a:t>
            </a:r>
            <a:endParaRPr lang="en-US" sz="1100" dirty="0"/>
          </a:p>
          <a:p>
            <a:pPr indent="0" marL="0">
              <a:buNone/>
            </a:pPr>
            <a:r>
              <a:rPr lang="en-US" sz="1100" dirty="0">
                <a:solidFill>
                  <a:srgbClr val="35D0E8"/>
                </a:solidFill>
                <a:latin typeface="Courier New" pitchFamily="34" charset="0"/>
                <a:ea typeface="Courier New" pitchFamily="34" charset="-122"/>
                <a:cs typeface="Courier New" pitchFamily="34" charset="-120"/>
              </a:rPr>
              <a:t>  if _dist_scale &gt; 1.0:  # coarser</a:t>
            </a:r>
            <a:endParaRPr lang="en-US" sz="1100" dirty="0"/>
          </a:p>
          <a:p>
            <a:pPr indent="0" marL="0">
              <a:buNone/>
            </a:pPr>
            <a:r>
              <a:rPr lang="en-US" sz="1100" dirty="0">
                <a:solidFill>
                  <a:srgbClr val="35D0E8"/>
                </a:solidFill>
                <a:latin typeface="Courier New" pitchFamily="34" charset="0"/>
                <a:ea typeface="Courier New" pitchFamily="34" charset="-122"/>
                <a:cs typeface="Courier New" pitchFamily="34" charset="-120"/>
              </a:rPr>
              <a:t>    effective = minf(base[i],</a:t>
            </a:r>
            <a:endParaRPr lang="en-US" sz="1100" dirty="0"/>
          </a:p>
          <a:p>
            <a:pPr indent="0" marL="0">
              <a:buNone/>
            </a:pPr>
            <a:r>
              <a:rPr lang="en-US" sz="1100" dirty="0">
                <a:solidFill>
                  <a:srgbClr val="35D0E8"/>
                </a:solidFill>
                <a:latin typeface="Courier New" pitchFamily="34" charset="0"/>
                <a:ea typeface="Courier New" pitchFamily="34" charset="-122"/>
                <a:cs typeface="Courier New" pitchFamily="34" charset="-120"/>
              </a:rPr>
              <a:t>      maxf(effective, floors[i]))</a:t>
            </a:r>
            <a:endParaRPr lang="en-US" sz="1100" dirty="0"/>
          </a:p>
          <a:p>
            <a:pPr indent="0" marL="0">
              <a:buNone/>
            </a:pPr>
            <a:r>
              <a:rPr lang="en-US" sz="1100" dirty="0">
                <a:solidFill>
                  <a:srgbClr val="35D0E8"/>
                </a:solidFill>
                <a:latin typeface="Courier New" pitchFamily="34" charset="0"/>
                <a:ea typeface="Courier New" pitchFamily="34" charset="-122"/>
                <a:cs typeface="Courier New" pitchFamily="34" charset="-120"/>
              </a:rPr>
              <a:t>  _thresholds[i] = effective</a:t>
            </a:r>
            <a:endParaRPr lang="en-US" sz="110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200" b="1" spc="200" kern="0" dirty="0">
                <a:solidFill>
                  <a:srgbClr val="35D0E8"/>
                </a:solidFill>
                <a:latin typeface="Calibri" pitchFamily="34" charset="0"/>
                <a:ea typeface="Calibri" pitchFamily="34" charset="-122"/>
                <a:cs typeface="Calibri" pitchFamily="34" charset="-120"/>
              </a:rPr>
              <a:t>NOVELTY</a:t>
            </a:r>
            <a:endParaRPr lang="en-US" sz="1200" dirty="0"/>
          </a:p>
        </p:txBody>
      </p:sp>
      <p:sp>
        <p:nvSpPr>
          <p:cNvPr id="3" name="Text 1"/>
          <p:cNvSpPr txBox="1"/>
          <p:nvPr/>
        </p:nvSpPr>
        <p:spPr>
          <a:xfrm>
            <a:off x="457200" y="502920"/>
            <a:ext cx="11247120" cy="548640"/>
          </a:xfrm>
          <a:prstGeom prst="rect">
            <a:avLst/>
          </a:prstGeom>
          <a:noFill/>
          <a:ln/>
        </p:spPr>
        <p:txBody>
          <a:bodyPr wrap="square" lIns="0" tIns="0" rIns="0" bIns="0" rtlCol="0" anchor="ctr">
            <a:normAutofit/>
          </a:bodyPr>
          <a:lstStyle/>
          <a:p>
            <a:pPr indent="0" marL="0">
              <a:buNone/>
            </a:pPr>
            <a:r>
              <a:rPr lang="en-US" sz="3000" b="1" dirty="0">
                <a:solidFill>
                  <a:srgbClr val="E6E9EF"/>
                </a:solidFill>
                <a:latin typeface="Cambria" pitchFamily="34" charset="0"/>
                <a:ea typeface="Cambria" pitchFamily="34" charset="-122"/>
                <a:cs typeface="Cambria" pitchFamily="34" charset="-120"/>
              </a:rPr>
              <a:t>Technical contributions, and what the evidence supports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1828800"/>
                <a:gridCol w="1737360"/>
                <a:gridCol w="2651760"/>
                <a:gridCol w="1737360"/>
                <a:gridCol w="3291840"/>
              </a:tblGrid>
              <a:tr h="320040">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Contribution</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None (no LOD) does</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Adaptive changes</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Why it matters</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Evidence</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r>
              <a:tr h="822960">
                <a:tc>
                  <a:txBody>
                    <a:bodyPr/>
                    <a:lstStyle/>
                    <a:p>
                      <a:pPr indent="0" marL="0">
                        <a:buNone/>
                      </a:pPr>
                      <a:r>
                        <a:rPr lang="en-US" sz="1100" b="1" dirty="0">
                          <a:solidFill>
                            <a:srgbClr val="E6E9EF"/>
                          </a:solidFill>
                          <a:latin typeface="Calibri" pitchFamily="34" charset="0"/>
                          <a:ea typeface="Calibri" pitchFamily="34" charset="-122"/>
                          <a:cs typeface="Calibri" pitchFamily="34" charset="-120"/>
                        </a:rPr>
                        <a:t>1  Adaptive thresholds</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Draws everything at full detail</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One PI-controlled bias scales all thresholds from GPU time</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Reacts to load instead of ignoring it</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Live recording: bias rises from 0 to its 2.0 maximum while the panel shows the tree threshold move. Bias saturated in 84.3% of 1440p frames</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777240">
                <a:tc>
                  <a:txBody>
                    <a:bodyPr/>
                    <a:lstStyle/>
                    <a:p>
                      <a:pPr indent="0" marL="0">
                        <a:buNone/>
                      </a:pPr>
                      <a:r>
                        <a:rPr lang="en-US" sz="1100" b="1" dirty="0">
                          <a:solidFill>
                            <a:srgbClr val="E6E9EF"/>
                          </a:solidFill>
                          <a:latin typeface="Calibri" pitchFamily="34" charset="0"/>
                          <a:ea typeface="Calibri" pitchFamily="34" charset="-122"/>
                          <a:cs typeface="Calibri" pitchFamily="34" charset="-120"/>
                        </a:rPr>
                        <a:t>2  Real-world units</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No distance logic</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Floors, caps and hysteresis in metres; coarser = distance x (1+bias)</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Effect is predictable and tunable in scene units</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Panel shows thresholds in m. Self-tests: 124 + 90 + 51 + 17 checks pass (grass determinism stage not run)</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822960">
                <a:tc>
                  <a:txBody>
                    <a:bodyPr/>
                    <a:lstStyle/>
                    <a:p>
                      <a:pPr indent="0" marL="0">
                        <a:buNone/>
                      </a:pPr>
                      <a:r>
                        <a:rPr lang="en-US" sz="1100" b="1" dirty="0">
                          <a:solidFill>
                            <a:srgbClr val="E6E9EF"/>
                          </a:solidFill>
                          <a:latin typeface="Calibri" pitchFamily="34" charset="0"/>
                          <a:ea typeface="Calibri" pitchFamily="34" charset="-122"/>
                          <a:cs typeface="Calibri" pitchFamily="34" charset="-120"/>
                        </a:rPr>
                        <a:t>3  Constrained coarsening</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No notion of a limit</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Tree floors 60 / 100 m, category caps, bias range 0..2</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Keeps nearby detail intact</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At high bias the panel shows 60 / 100 m: LOD2 stops at the floor. Not literally a 2-level limit</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777240">
                <a:tc>
                  <a:txBody>
                    <a:bodyPr/>
                    <a:lstStyle/>
                    <a:p>
                      <a:pPr indent="0" marL="0">
                        <a:buNone/>
                      </a:pPr>
                      <a:r>
                        <a:rPr lang="en-US" sz="1100" b="1" dirty="0">
                          <a:solidFill>
                            <a:srgbClr val="E6E9EF"/>
                          </a:solidFill>
                          <a:latin typeface="Calibri" pitchFamily="34" charset="0"/>
                          <a:ea typeface="Calibri" pitchFamily="34" charset="-122"/>
                          <a:cs typeface="Calibri" pitchFamily="34" charset="-120"/>
                        </a:rPr>
                        <a:t>4  Unified benchmark</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n/a</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Same scene, seed, path (sha256 logged), interleaved runs, CSV + JSON</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Fair, repeatable comparison</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30 runs, 5 per mode and resolution. Earlier sessions showed 2 to 3x GPU-state drift</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777240">
                <a:tc>
                  <a:txBody>
                    <a:bodyPr/>
                    <a:lstStyle/>
                    <a:p>
                      <a:pPr indent="0" marL="0">
                        <a:buNone/>
                      </a:pPr>
                      <a:r>
                        <a:rPr lang="en-US" sz="1100" b="1" dirty="0">
                          <a:solidFill>
                            <a:srgbClr val="E6E9EF"/>
                          </a:solidFill>
                          <a:latin typeface="Calibri" pitchFamily="34" charset="0"/>
                          <a:ea typeface="Calibri" pitchFamily="34" charset="-122"/>
                          <a:cs typeface="Calibri" pitchFamily="34" charset="-120"/>
                        </a:rPr>
                        <a:t>5  Quality / speed trade-off</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Full detail</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Measures primitives, draws, GPU ms and visual difference</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Shows what a saving costs</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DDE1E8"/>
                          </a:solidFill>
                          <a:latin typeface="Calibri" pitchFamily="34" charset="0"/>
                          <a:ea typeface="Calibri" pitchFamily="34" charset="-122"/>
                          <a:cs typeface="Calibri" pitchFamily="34" charset="-120"/>
                        </a:rPr>
                        <a:t>vs None: 77.9% (1080p) and 72.9% (1440p) lower frame time, 90% fewer primitives. No perceptual metric</a:t>
                      </a:r>
                      <a:endParaRPr lang="en-US" sz="1100" dirty="0">
                        <a:latin typeface="Calibri" charset="0"/>
                        <a:ea typeface="Calibri" charset="0"/>
                        <a:cs typeface="Calibri" charset="0"/>
                      </a:endParaRPr>
                    </a:p>
                  </a:txBody>
                  <a:tcPr marL="73152" marR="73152" marT="36576" marB="36576"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bl>
          </a:graphicData>
        </a:graphic>
      </p:graphicFrame>
      <p:sp>
        <p:nvSpPr>
          <p:cNvPr id="5" name="Shape 2"/>
          <p:cNvSpPr/>
          <p:nvPr/>
        </p:nvSpPr>
        <p:spPr>
          <a:xfrm>
            <a:off x="457200" y="5806440"/>
            <a:ext cx="11247120" cy="566928"/>
          </a:xfrm>
          <a:prstGeom prst="rect">
            <a:avLst/>
          </a:prstGeom>
          <a:solidFill>
            <a:srgbClr val="262C37"/>
          </a:solidFill>
          <a:ln w="9525">
            <a:solidFill>
              <a:srgbClr val="3A4150"/>
            </a:solidFill>
            <a:prstDash val="solid"/>
          </a:ln>
        </p:spPr>
      </p:sp>
      <p:sp>
        <p:nvSpPr>
          <p:cNvPr id="6" name="Text 3"/>
          <p:cNvSpPr txBox="1"/>
          <p:nvPr/>
        </p:nvSpPr>
        <p:spPr>
          <a:xfrm>
            <a:off x="594360" y="5852160"/>
            <a:ext cx="10972800" cy="475488"/>
          </a:xfrm>
          <a:prstGeom prst="rect">
            <a:avLst/>
          </a:prstGeom>
          <a:noFill/>
          <a:ln/>
        </p:spPr>
        <p:txBody>
          <a:bodyPr wrap="square" lIns="0" tIns="0" rIns="0" bIns="0" rtlCol="0" anchor="ctr"/>
          <a:lstStyle/>
          <a:p>
            <a:pPr indent="0" marL="0">
              <a:buNone/>
            </a:pPr>
            <a:r>
              <a:rPr lang="en-US" sz="1200" b="1" dirty="0">
                <a:solidFill>
                  <a:srgbClr val="A78BFA"/>
                </a:solidFill>
                <a:latin typeface="Calibri" pitchFamily="34" charset="0"/>
                <a:ea typeface="Calibri" pitchFamily="34" charset="-122"/>
                <a:cs typeface="Calibri" pitchFamily="34" charset="-120"/>
              </a:rPr>
              <a:t>Scope of the claim:  </a:t>
            </a:r>
            <a:pPr indent="0" marL="0">
              <a:buNone/>
            </a:pPr>
            <a:r>
              <a:rPr lang="en-US" sz="1200" dirty="0">
                <a:solidFill>
                  <a:srgbClr val="E6E9EF"/>
                </a:solidFill>
                <a:latin typeface="Calibri" pitchFamily="34" charset="0"/>
                <a:ea typeface="Calibri" pitchFamily="34" charset="-122"/>
                <a:cs typeface="Calibri" pitchFamily="34" charset="-120"/>
              </a:rPr>
              <a:t>these are this project's technical contributions. A limited literature check (slide 8) found no directly comparable controller-plus-vegetation result, but it was not a systematic review, so no global novelty is claimed.</a:t>
            </a:r>
            <a:endParaRPr lang="en-US" sz="120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200" b="1" spc="200" kern="0" dirty="0">
                <a:solidFill>
                  <a:srgbClr val="35D0E8"/>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457200" y="502920"/>
            <a:ext cx="11247120" cy="548640"/>
          </a:xfrm>
          <a:prstGeom prst="rect">
            <a:avLst/>
          </a:prstGeom>
          <a:noFill/>
          <a:ln/>
        </p:spPr>
        <p:txBody>
          <a:bodyPr wrap="square" lIns="0" tIns="0" rIns="0" bIns="0" rtlCol="0" anchor="ctr">
            <a:normAutofit/>
          </a:bodyPr>
          <a:lstStyle/>
          <a:p>
            <a:pPr indent="0" marL="0">
              <a:buNone/>
            </a:pPr>
            <a:r>
              <a:rPr lang="en-US" sz="3000" b="1" dirty="0">
                <a:solidFill>
                  <a:srgbClr val="E6E9EF"/>
                </a:solidFill>
                <a:latin typeface="Cambria" pitchFamily="34" charset="0"/>
                <a:ea typeface="Cambria" pitchFamily="34" charset="-122"/>
                <a:cs typeface="Cambria" pitchFamily="34" charset="-120"/>
              </a:rPr>
              <a:t>Experimental setup and fairness of the comparison</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7223760" cy="914400"/>
        </p:xfrm>
        <a:graphic>
          <a:graphicData uri="http://schemas.openxmlformats.org/drawingml/2006/table">
            <a:tbl>
              <a:tblPr/>
              <a:tblGrid>
                <a:gridCol w="1097280"/>
                <a:gridCol w="3566160"/>
                <a:gridCol w="2560320"/>
              </a:tblGrid>
              <a:tr h="292608">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Condition</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None (no LOD)</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100" b="1" dirty="0">
                          <a:solidFill>
                            <a:srgbClr val="15181E"/>
                          </a:solidFill>
                          <a:latin typeface="Calibri" pitchFamily="34" charset="0"/>
                          <a:ea typeface="Calibri" pitchFamily="34" charset="-122"/>
                          <a:cs typeface="Calibri" pitchFamily="34" charset="-120"/>
                        </a:rPr>
                        <a:t>Adaptive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r>
              <a:tr h="566928">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Build</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Godot 4.7.2-stable DEBUG + EDITOR build (release export blocked: no export_presets.cfg and no export templates installed)</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same binary</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457200">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Hardware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NVIDIA Quadro P3200, driver 582.16; Intel i7-8850H, 64 GB; Windows, Balanced power plan</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same machine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384048">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Renderer</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Forward+ / D3D12, no MSAA / TAA, VSync off, FPS uncapped</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same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365760">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Resolution</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Normal 1920x1080  |  Stress 2560x1440</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same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384048">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Scene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Terrain3D 1.0.2, 41,698 instances + 403k grass clumps, seed 1337</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same</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457200">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Camera</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528 m path (sha256 54ab438e9ad0), 8 m/s, 10 s warm-up, 60 s measured</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same; controller reset to bias 0 at start</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502920">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LOD</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All LOD policies off: baked full-detail vegetation</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Distance thresholds x PI bias; target 16.67 ms (normal), 8 ms (stress)</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457200">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Runs</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5 per mode and resolution, order rotated each repetition</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5 per resolution</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457200">
                <a:tc>
                  <a:txBody>
                    <a:bodyPr/>
                    <a:lstStyle/>
                    <a:p>
                      <a:pPr indent="0" marL="0">
                        <a:buNone/>
                      </a:pPr>
                      <a:r>
                        <a:rPr lang="en-US" sz="1100" dirty="0">
                          <a:solidFill>
                            <a:srgbClr val="9AA3B2"/>
                          </a:solidFill>
                          <a:latin typeface="Calibri" pitchFamily="34" charset="0"/>
                          <a:ea typeface="Calibri" pitchFamily="34" charset="-122"/>
                          <a:cs typeface="Calibri" pitchFamily="34" charset="-120"/>
                        </a:rPr>
                        <a:t>Metrics</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Per-frame frame time, GPU ms, draws, primitives, switches, policy CPU ms</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100" dirty="0">
                          <a:solidFill>
                            <a:srgbClr val="E6E9EF"/>
                          </a:solidFill>
                          <a:latin typeface="Calibri" pitchFamily="34" charset="0"/>
                          <a:ea typeface="Calibri" pitchFamily="34" charset="-122"/>
                          <a:cs typeface="Calibri" pitchFamily="34" charset="-120"/>
                        </a:rPr>
                        <a:t>+ bias and controller terms</a:t>
                      </a:r>
                      <a:endParaRPr lang="en-US" sz="1100" dirty="0">
                        <a:latin typeface="Calibri" charset="0"/>
                        <a:ea typeface="Calibri" charset="0"/>
                        <a:cs typeface="Calibri" charset="0"/>
                      </a:endParaRPr>
                    </a:p>
                  </a:txBody>
                  <a:tcPr marL="73152" marR="73152"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bl>
          </a:graphicData>
        </a:graphic>
      </p:graphicFrame>
      <p:sp>
        <p:nvSpPr>
          <p:cNvPr id="5" name="Shape 2"/>
          <p:cNvSpPr/>
          <p:nvPr/>
        </p:nvSpPr>
        <p:spPr>
          <a:xfrm>
            <a:off x="7909560" y="1234440"/>
            <a:ext cx="3794760" cy="2606040"/>
          </a:xfrm>
          <a:prstGeom prst="rect">
            <a:avLst/>
          </a:prstGeom>
          <a:solidFill>
            <a:srgbClr val="1F242D"/>
          </a:solidFill>
          <a:ln w="9525">
            <a:solidFill>
              <a:srgbClr val="3A4150"/>
            </a:solidFill>
            <a:prstDash val="solid"/>
          </a:ln>
        </p:spPr>
      </p:sp>
      <p:sp>
        <p:nvSpPr>
          <p:cNvPr id="6" name="Text 3"/>
          <p:cNvSpPr txBox="1"/>
          <p:nvPr/>
        </p:nvSpPr>
        <p:spPr>
          <a:xfrm>
            <a:off x="8046720" y="1307592"/>
            <a:ext cx="3566160" cy="274320"/>
          </a:xfrm>
          <a:prstGeom prst="rect">
            <a:avLst/>
          </a:prstGeom>
          <a:noFill/>
          <a:ln/>
        </p:spPr>
        <p:txBody>
          <a:bodyPr wrap="square" lIns="0" tIns="0" rIns="0" bIns="0" rtlCol="0" anchor="t"/>
          <a:lstStyle/>
          <a:p>
            <a:pPr indent="0" marL="0">
              <a:buNone/>
            </a:pPr>
            <a:r>
              <a:rPr lang="en-US" sz="1600" b="1" dirty="0">
                <a:solidFill>
                  <a:srgbClr val="F5B14C"/>
                </a:solidFill>
                <a:latin typeface="Calibri" pitchFamily="34" charset="0"/>
                <a:ea typeface="Calibri" pitchFamily="34" charset="-122"/>
                <a:cs typeface="Calibri" pitchFamily="34" charset="-120"/>
              </a:rPr>
              <a:t>Fairness risks</a:t>
            </a:r>
            <a:endParaRPr lang="en-US" sz="1600" dirty="0"/>
          </a:p>
        </p:txBody>
      </p:sp>
      <p:sp>
        <p:nvSpPr>
          <p:cNvPr id="7" name="Text 4"/>
          <p:cNvSpPr txBox="1"/>
          <p:nvPr/>
        </p:nvSpPr>
        <p:spPr>
          <a:xfrm>
            <a:off x="8046720" y="1627632"/>
            <a:ext cx="3611880" cy="219456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E6E9EF"/>
                </a:solidFill>
                <a:latin typeface="Calibri" pitchFamily="34" charset="0"/>
                <a:ea typeface="Calibri" pitchFamily="34" charset="-122"/>
                <a:cs typeface="Calibri" pitchFamily="34" charset="-120"/>
              </a:rPr>
              <a:t>GPU state drifted 2 to 3x between earlier sessions; this series stayed stable (sd of avg FPS 0.1 to 0.3)</a:t>
            </a:r>
            <a:endParaRPr lang="en-US" sz="1150" dirty="0"/>
          </a:p>
          <a:p>
            <a:pPr marL="342900" indent="-342900">
              <a:spcAft>
                <a:spcPts val="300"/>
              </a:spcAft>
              <a:buSzPct val="100000"/>
              <a:buChar char="•"/>
            </a:pPr>
            <a:r>
              <a:rPr lang="en-US" sz="1150" dirty="0">
                <a:solidFill>
                  <a:srgbClr val="E6E9EF"/>
                </a:solidFill>
                <a:latin typeface="Calibri" pitchFamily="34" charset="0"/>
                <a:ea typeface="Calibri" pitchFamily="34" charset="-122"/>
                <a:cs typeface="Calibri" pitchFamily="34" charset="-120"/>
              </a:rPr>
              <a:t>Debug + editor build inflates CPU timings</a:t>
            </a:r>
            <a:endParaRPr lang="en-US" sz="1150" dirty="0"/>
          </a:p>
          <a:p>
            <a:pPr marL="342900" indent="-342900">
              <a:spcAft>
                <a:spcPts val="300"/>
              </a:spcAft>
              <a:buSzPct val="100000"/>
              <a:buChar char="•"/>
            </a:pPr>
            <a:r>
              <a:rPr lang="en-US" sz="1150" dirty="0">
                <a:solidFill>
                  <a:srgbClr val="E6E9EF"/>
                </a:solidFill>
                <a:latin typeface="Calibri" pitchFamily="34" charset="0"/>
                <a:ea typeface="Calibri" pitchFamily="34" charset="-122"/>
                <a:cs typeface="Calibri" pitchFamily="34" charset="-120"/>
              </a:rPr>
              <a:t>Targets differ by profile, by design</a:t>
            </a:r>
            <a:endParaRPr lang="en-US" sz="1150" dirty="0"/>
          </a:p>
        </p:txBody>
      </p:sp>
      <p:sp>
        <p:nvSpPr>
          <p:cNvPr id="8" name="Shape 5"/>
          <p:cNvSpPr/>
          <p:nvPr/>
        </p:nvSpPr>
        <p:spPr>
          <a:xfrm>
            <a:off x="7909560" y="3977640"/>
            <a:ext cx="3794760" cy="2377440"/>
          </a:xfrm>
          <a:prstGeom prst="rect">
            <a:avLst/>
          </a:prstGeom>
          <a:solidFill>
            <a:srgbClr val="1F242D"/>
          </a:solidFill>
          <a:ln w="9525">
            <a:solidFill>
              <a:srgbClr val="3A4150"/>
            </a:solidFill>
            <a:prstDash val="solid"/>
          </a:ln>
        </p:spPr>
      </p:sp>
      <p:sp>
        <p:nvSpPr>
          <p:cNvPr id="9" name="Text 6"/>
          <p:cNvSpPr txBox="1"/>
          <p:nvPr/>
        </p:nvSpPr>
        <p:spPr>
          <a:xfrm>
            <a:off x="8046720" y="4050792"/>
            <a:ext cx="3566160" cy="274320"/>
          </a:xfrm>
          <a:prstGeom prst="rect">
            <a:avLst/>
          </a:prstGeom>
          <a:noFill/>
          <a:ln/>
        </p:spPr>
        <p:txBody>
          <a:bodyPr wrap="square" lIns="0" tIns="0" rIns="0" bIns="0" rtlCol="0" anchor="t"/>
          <a:lstStyle/>
          <a:p>
            <a:pPr indent="0" marL="0">
              <a:buNone/>
            </a:pPr>
            <a:r>
              <a:rPr lang="en-US" sz="1600" b="1" dirty="0">
                <a:solidFill>
                  <a:srgbClr val="FF6B6B"/>
                </a:solidFill>
                <a:latin typeface="Calibri" pitchFamily="34" charset="0"/>
                <a:ea typeface="Calibri" pitchFamily="34" charset="-122"/>
                <a:cs typeface="Calibri" pitchFamily="34" charset="-120"/>
              </a:rPr>
              <a:t>Not available</a:t>
            </a:r>
            <a:endParaRPr lang="en-US" sz="1600" dirty="0"/>
          </a:p>
        </p:txBody>
      </p:sp>
      <p:sp>
        <p:nvSpPr>
          <p:cNvPr id="10" name="Text 7"/>
          <p:cNvSpPr txBox="1"/>
          <p:nvPr/>
        </p:nvSpPr>
        <p:spPr>
          <a:xfrm>
            <a:off x="8046720" y="4370832"/>
            <a:ext cx="3611880" cy="19202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E6E9EF"/>
                </a:solidFill>
                <a:latin typeface="Calibri" pitchFamily="34" charset="0"/>
                <a:ea typeface="Calibri" pitchFamily="34" charset="-122"/>
                <a:cs typeface="Calibri" pitchFamily="34" charset="-120"/>
              </a:rPr>
              <a:t>Release / exported build results</a:t>
            </a:r>
            <a:endParaRPr lang="en-US" sz="1150" dirty="0"/>
          </a:p>
          <a:p>
            <a:pPr marL="342900" indent="-342900">
              <a:spcAft>
                <a:spcPts val="300"/>
              </a:spcAft>
              <a:buSzPct val="100000"/>
              <a:buChar char="•"/>
            </a:pPr>
            <a:r>
              <a:rPr lang="en-US" sz="1150" dirty="0">
                <a:solidFill>
                  <a:srgbClr val="E6E9EF"/>
                </a:solidFill>
                <a:latin typeface="Calibri" pitchFamily="34" charset="0"/>
                <a:ea typeface="Calibri" pitchFamily="34" charset="-122"/>
                <a:cs typeface="Calibri" pitchFamily="34" charset="-120"/>
              </a:rPr>
              <a:t>Control of GPU power state</a:t>
            </a:r>
            <a:endParaRPr lang="en-US" sz="1150" dirty="0"/>
          </a:p>
          <a:p>
            <a:pPr marL="342900" indent="-342900">
              <a:spcAft>
                <a:spcPts val="300"/>
              </a:spcAft>
              <a:buSzPct val="100000"/>
              <a:buChar char="•"/>
            </a:pPr>
            <a:r>
              <a:rPr lang="en-US" sz="1150" dirty="0">
                <a:solidFill>
                  <a:srgbClr val="E6E9EF"/>
                </a:solidFill>
                <a:latin typeface="Calibri" pitchFamily="34" charset="0"/>
                <a:ea typeface="Calibri" pitchFamily="34" charset="-122"/>
                <a:cs typeface="Calibri" pitchFamily="34" charset="-120"/>
              </a:rPr>
              <a:t>Grass determinism self-test stage (skipped by default)</a:t>
            </a:r>
            <a:endParaRPr lang="en-US" sz="1150" dirty="0"/>
          </a:p>
          <a:p>
            <a:pPr marL="342900" indent="-342900">
              <a:spcAft>
                <a:spcPts val="300"/>
              </a:spcAft>
              <a:buSzPct val="100000"/>
              <a:buChar char="•"/>
            </a:pPr>
            <a:r>
              <a:rPr lang="en-US" sz="1150" dirty="0">
                <a:solidFill>
                  <a:srgbClr val="E6E9EF"/>
                </a:solidFill>
                <a:latin typeface="Calibri" pitchFamily="34" charset="0"/>
                <a:ea typeface="Calibri" pitchFamily="34" charset="-122"/>
                <a:cs typeface="Calibri" pitchFamily="34" charset="-120"/>
              </a:rPr>
              <a:t>Recording ran with FFmpeg capture on: demo FPS is not benchmark data</a:t>
            </a:r>
            <a:endParaRPr lang="en-US" sz="115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200" b="1" spc="200" kern="0" dirty="0">
                <a:solidFill>
                  <a:srgbClr val="35D0E8"/>
                </a:solidFill>
                <a:latin typeface="Calibri" pitchFamily="34" charset="0"/>
                <a:ea typeface="Calibri" pitchFamily="34" charset="-122"/>
                <a:cs typeface="Calibri" pitchFamily="34" charset="-120"/>
              </a:rPr>
              <a:t>BENCHMARK ANALYSIS</a:t>
            </a:r>
            <a:endParaRPr lang="en-US" sz="1200" dirty="0"/>
          </a:p>
        </p:txBody>
      </p:sp>
      <p:sp>
        <p:nvSpPr>
          <p:cNvPr id="3" name="Text 1"/>
          <p:cNvSpPr txBox="1"/>
          <p:nvPr/>
        </p:nvSpPr>
        <p:spPr>
          <a:xfrm>
            <a:off x="457200" y="502920"/>
            <a:ext cx="11247120" cy="548640"/>
          </a:xfrm>
          <a:prstGeom prst="rect">
            <a:avLst/>
          </a:prstGeom>
          <a:noFill/>
          <a:ln/>
        </p:spPr>
        <p:txBody>
          <a:bodyPr wrap="square" lIns="0" tIns="0" rIns="0" bIns="0" rtlCol="0" anchor="ctr">
            <a:normAutofit/>
          </a:bodyPr>
          <a:lstStyle/>
          <a:p>
            <a:pPr indent="0" marL="0">
              <a:buNone/>
            </a:pPr>
            <a:r>
              <a:rPr lang="en-US" sz="3000" b="1" dirty="0">
                <a:solidFill>
                  <a:srgbClr val="E6E9EF"/>
                </a:solidFill>
                <a:latin typeface="Cambria" pitchFamily="34" charset="0"/>
                <a:ea typeface="Cambria" pitchFamily="34" charset="-122"/>
                <a:cs typeface="Cambria" pitchFamily="34" charset="-120"/>
              </a:rPr>
              <a:t>Results: 4.5x the FPS at 1080p and 3.7x at 1440p versus no LOD</a:t>
            </a:r>
            <a:endParaRPr lang="en-US" sz="3000" dirty="0"/>
          </a:p>
        </p:txBody>
      </p:sp>
      <p:graphicFrame>
        <p:nvGraphicFramePr>
          <p:cNvPr id="4" name="Chart 0" descr=""/>
          <p:cNvGraphicFramePr/>
          <p:nvPr/>
        </p:nvGraphicFramePr>
        <p:xfrm>
          <a:off x="457200" y="1188720"/>
          <a:ext cx="365760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270248" y="1188720"/>
          <a:ext cx="3657600" cy="274320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8083296" y="1188720"/>
          <a:ext cx="3657600" cy="2743200"/>
        </p:xfrm>
        <a:graphic xmlns:a="http://schemas.openxmlformats.org/drawingml/2006/main">
          <a:graphicData uri="http://schemas.openxmlformats.org/drawingml/2006/chart">
            <c:chart xmlns:c="http://schemas.openxmlformats.org/drawingml/2006/chart" r:id="rId3"/>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4069080"/>
          <a:ext cx="7498080" cy="914400"/>
        </p:xfrm>
        <a:graphic>
          <a:graphicData uri="http://schemas.openxmlformats.org/drawingml/2006/table">
            <a:tbl>
              <a:tblPr/>
              <a:tblGrid>
                <a:gridCol w="1005840"/>
                <a:gridCol w="822960"/>
                <a:gridCol w="1234440"/>
                <a:gridCol w="868680"/>
                <a:gridCol w="822960"/>
                <a:gridCol w="731520"/>
                <a:gridCol w="914400"/>
                <a:gridCol w="1097280"/>
              </a:tblGrid>
              <a:tr h="384048">
                <a:tc>
                  <a:txBody>
                    <a:bodyPr/>
                    <a:lstStyle/>
                    <a:p>
                      <a:pPr algn="ctr" indent="0" marL="0">
                        <a:buNone/>
                      </a:pPr>
                      <a:r>
                        <a:rPr lang="en-US" sz="1050" b="1" dirty="0">
                          <a:solidFill>
                            <a:srgbClr val="15181E"/>
                          </a:solidFill>
                          <a:latin typeface="Calibri" pitchFamily="34" charset="0"/>
                          <a:ea typeface="Calibri" pitchFamily="34" charset="-122"/>
                          <a:cs typeface="Calibri" pitchFamily="34" charset="-120"/>
                        </a:rPr>
                        <a:t>Resolution</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algn="ctr" indent="0" marL="0">
                        <a:buNone/>
                      </a:pPr>
                      <a:r>
                        <a:rPr lang="en-US" sz="1050" b="1" dirty="0">
                          <a:solidFill>
                            <a:srgbClr val="15181E"/>
                          </a:solidFill>
                          <a:latin typeface="Calibri" pitchFamily="34" charset="0"/>
                          <a:ea typeface="Calibri" pitchFamily="34" charset="-122"/>
                          <a:cs typeface="Calibri" pitchFamily="34" charset="-120"/>
                        </a:rPr>
                        <a:t>Mode</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algn="ctr" indent="0" marL="0">
                        <a:buNone/>
                      </a:pPr>
                      <a:r>
                        <a:rPr lang="en-US" sz="1050" b="1" dirty="0">
                          <a:solidFill>
                            <a:srgbClr val="15181E"/>
                          </a:solidFill>
                          <a:latin typeface="Calibri" pitchFamily="34" charset="0"/>
                          <a:ea typeface="Calibri" pitchFamily="34" charset="-122"/>
                          <a:cs typeface="Calibri" pitchFamily="34" charset="-120"/>
                        </a:rPr>
                        <a:t>Avg FPS ± sd</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algn="ctr" indent="0" marL="0">
                        <a:buNone/>
                      </a:pPr>
                      <a:r>
                        <a:rPr lang="en-US" sz="1050" b="1" dirty="0">
                          <a:solidFill>
                            <a:srgbClr val="15181E"/>
                          </a:solidFill>
                          <a:latin typeface="Calibri" pitchFamily="34" charset="0"/>
                          <a:ea typeface="Calibri" pitchFamily="34" charset="-122"/>
                          <a:cs typeface="Calibri" pitchFamily="34" charset="-120"/>
                        </a:rPr>
                        <a:t>1% low FPS</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algn="ctr" indent="0" marL="0">
                        <a:buNone/>
                      </a:pPr>
                      <a:r>
                        <a:rPr lang="en-US" sz="1050" b="1" dirty="0">
                          <a:solidFill>
                            <a:srgbClr val="15181E"/>
                          </a:solidFill>
                          <a:latin typeface="Calibri" pitchFamily="34" charset="0"/>
                          <a:ea typeface="Calibri" pitchFamily="34" charset="-122"/>
                          <a:cs typeface="Calibri" pitchFamily="34" charset="-120"/>
                        </a:rPr>
                        <a:t>Frame ms</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algn="ctr" indent="0" marL="0">
                        <a:buNone/>
                      </a:pPr>
                      <a:r>
                        <a:rPr lang="en-US" sz="1050" b="1" dirty="0">
                          <a:solidFill>
                            <a:srgbClr val="15181E"/>
                          </a:solidFill>
                          <a:latin typeface="Calibri" pitchFamily="34" charset="0"/>
                          <a:ea typeface="Calibri" pitchFamily="34" charset="-122"/>
                          <a:cs typeface="Calibri" pitchFamily="34" charset="-120"/>
                        </a:rPr>
                        <a:t>GPU ms</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algn="ctr" indent="0" marL="0">
                        <a:buNone/>
                      </a:pPr>
                      <a:r>
                        <a:rPr lang="en-US" sz="1050" b="1" dirty="0">
                          <a:solidFill>
                            <a:srgbClr val="15181E"/>
                          </a:solidFill>
                          <a:latin typeface="Calibri" pitchFamily="34" charset="0"/>
                          <a:ea typeface="Calibri" pitchFamily="34" charset="-122"/>
                          <a:cs typeface="Calibri" pitchFamily="34" charset="-120"/>
                        </a:rPr>
                        <a:t>FPS change</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algn="ctr" indent="0" marL="0">
                        <a:buNone/>
                      </a:pPr>
                      <a:r>
                        <a:rPr lang="en-US" sz="1050" b="1" dirty="0">
                          <a:solidFill>
                            <a:srgbClr val="15181E"/>
                          </a:solidFill>
                          <a:latin typeface="Calibri" pitchFamily="34" charset="0"/>
                          <a:ea typeface="Calibri" pitchFamily="34" charset="-122"/>
                          <a:cs typeface="Calibri" pitchFamily="34" charset="-120"/>
                        </a:rPr>
                        <a:t>Frame-time change</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r>
              <a:tr h="274320">
                <a:tc>
                  <a:txBody>
                    <a:bodyPr/>
                    <a:lstStyle/>
                    <a:p>
                      <a:pPr algn="l" indent="0" marL="0">
                        <a:buNone/>
                      </a:pPr>
                      <a:r>
                        <a:rPr lang="en-US" sz="1050" dirty="0">
                          <a:solidFill>
                            <a:srgbClr val="9AA3B2"/>
                          </a:solidFill>
                          <a:latin typeface="Calibri" pitchFamily="34" charset="0"/>
                          <a:ea typeface="Calibri" pitchFamily="34" charset="-122"/>
                          <a:cs typeface="Calibri" pitchFamily="34" charset="-120"/>
                        </a:rPr>
                        <a:t>1920x1080</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21.4 ± 0.1</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13.9</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46.72</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46.3</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9AA3B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9AA3B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274320">
                <a:tc>
                  <a:txBody>
                    <a:bodyPr/>
                    <a:lstStyle/>
                    <a:p>
                      <a:pPr algn="l" indent="0" marL="0">
                        <a:buNone/>
                      </a:pPr>
                      <a:r>
                        <a:rPr lang="en-US" sz="1050" dirty="0">
                          <a:solidFill>
                            <a:srgbClr val="9AA3B2"/>
                          </a:solidFill>
                          <a:latin typeface="Calibri" pitchFamily="34" charset="0"/>
                          <a:ea typeface="Calibri" pitchFamily="34" charset="-122"/>
                          <a:cs typeface="Calibri" pitchFamily="34" charset="-120"/>
                        </a:rPr>
                        <a:t>1920x1080</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Adaptive</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96.8 ± 0.3</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77.6</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10.33</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9.9</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35D0E8"/>
                          </a:solidFill>
                          <a:latin typeface="Calibri" pitchFamily="34" charset="0"/>
                          <a:ea typeface="Calibri" pitchFamily="34" charset="-122"/>
                          <a:cs typeface="Calibri" pitchFamily="34" charset="-120"/>
                        </a:rPr>
                        <a:t>+352.3%</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35D0E8"/>
                          </a:solidFill>
                          <a:latin typeface="Calibri" pitchFamily="34" charset="0"/>
                          <a:ea typeface="Calibri" pitchFamily="34" charset="-122"/>
                          <a:cs typeface="Calibri" pitchFamily="34" charset="-120"/>
                        </a:rPr>
                        <a:t>-77.9%</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274320">
                <a:tc>
                  <a:txBody>
                    <a:bodyPr/>
                    <a:lstStyle/>
                    <a:p>
                      <a:pPr algn="l" indent="0" marL="0">
                        <a:buNone/>
                      </a:pPr>
                      <a:r>
                        <a:rPr lang="en-US" sz="1050" dirty="0">
                          <a:solidFill>
                            <a:srgbClr val="9AA3B2"/>
                          </a:solidFill>
                          <a:latin typeface="Calibri" pitchFamily="34" charset="0"/>
                          <a:ea typeface="Calibri" pitchFamily="34" charset="-122"/>
                          <a:cs typeface="Calibri" pitchFamily="34" charset="-120"/>
                        </a:rPr>
                        <a:t>2560x1440</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19.6 ± 0.0</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13.0</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51.15</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50.6</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9AA3B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9AA3B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274320">
                <a:tc>
                  <a:txBody>
                    <a:bodyPr/>
                    <a:lstStyle/>
                    <a:p>
                      <a:pPr algn="l" indent="0" marL="0">
                        <a:buNone/>
                      </a:pPr>
                      <a:r>
                        <a:rPr lang="en-US" sz="1050" dirty="0">
                          <a:solidFill>
                            <a:srgbClr val="9AA3B2"/>
                          </a:solidFill>
                          <a:latin typeface="Calibri" pitchFamily="34" charset="0"/>
                          <a:ea typeface="Calibri" pitchFamily="34" charset="-122"/>
                          <a:cs typeface="Calibri" pitchFamily="34" charset="-120"/>
                        </a:rPr>
                        <a:t>2560x1440</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Adaptive</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72.1 ± 0.1</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57.3</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13.87</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dirty="0">
                          <a:solidFill>
                            <a:srgbClr val="E6E9EF"/>
                          </a:solidFill>
                          <a:latin typeface="Calibri" pitchFamily="34" charset="0"/>
                          <a:ea typeface="Calibri" pitchFamily="34" charset="-122"/>
                          <a:cs typeface="Calibri" pitchFamily="34" charset="-120"/>
                        </a:rPr>
                        <a:t>13.3</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35D0E8"/>
                          </a:solidFill>
                          <a:latin typeface="Calibri" pitchFamily="34" charset="0"/>
                          <a:ea typeface="Calibri" pitchFamily="34" charset="-122"/>
                          <a:cs typeface="Calibri" pitchFamily="34" charset="-120"/>
                        </a:rPr>
                        <a:t>+268.9%</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algn="ctr" indent="0" marL="0">
                        <a:buNone/>
                      </a:pPr>
                      <a:r>
                        <a:rPr lang="en-US" sz="1050" b="1" dirty="0">
                          <a:solidFill>
                            <a:srgbClr val="35D0E8"/>
                          </a:solidFill>
                          <a:latin typeface="Calibri" pitchFamily="34" charset="0"/>
                          <a:ea typeface="Calibri" pitchFamily="34" charset="-122"/>
                          <a:cs typeface="Calibri" pitchFamily="34" charset="-120"/>
                        </a:rPr>
                        <a:t>-72.9%</a:t>
                      </a:r>
                      <a:endParaRPr lang="en-US" sz="1050" dirty="0">
                        <a:latin typeface="Calibri" charset="0"/>
                        <a:ea typeface="Calibri" charset="0"/>
                        <a:cs typeface="Calibri" charset="0"/>
                      </a:endParaRPr>
                    </a:p>
                  </a:txBody>
                  <a:tcPr marL="45720" marR="45720" marT="18288" marB="18288"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bl>
          </a:graphicData>
        </a:graphic>
      </p:graphicFrame>
      <p:sp>
        <p:nvSpPr>
          <p:cNvPr id="8" name="Text 2"/>
          <p:cNvSpPr txBox="1"/>
          <p:nvPr/>
        </p:nvSpPr>
        <p:spPr>
          <a:xfrm>
            <a:off x="457200" y="5623560"/>
            <a:ext cx="7498080" cy="777240"/>
          </a:xfrm>
          <a:prstGeom prst="rect">
            <a:avLst/>
          </a:prstGeom>
          <a:noFill/>
          <a:ln/>
        </p:spPr>
        <p:txBody>
          <a:bodyPr wrap="square" lIns="0" tIns="0" rIns="0" bIns="0" rtlCol="0" anchor="t"/>
          <a:lstStyle/>
          <a:p>
            <a:pPr indent="0" marL="0">
              <a:buNone/>
            </a:pPr>
            <a:r>
              <a:rPr lang="en-US" sz="1000" dirty="0">
                <a:solidFill>
                  <a:srgbClr val="9AA3B2"/>
                </a:solidFill>
                <a:latin typeface="Calibri" pitchFamily="34" charset="0"/>
                <a:ea typeface="Calibri" pitchFamily="34" charset="-122"/>
                <a:cs typeface="Calibri" pitchFamily="34" charset="-120"/>
              </a:rPr>
              <a:t>Change = (Adaptive - None) / None x 100; 1% low = 1000 / p99 frame time. Debug/editor build. How much is the controller? Measured separately against the fixed-threshold LOD (not shown here): +0.2% avg FPS at 1080p, +2.4% at 1440p, so nearly all of the gain above comes from distance LOD itself.</a:t>
            </a:r>
            <a:endParaRPr lang="en-US" sz="1000" dirty="0"/>
          </a:p>
        </p:txBody>
      </p:sp>
      <p:sp>
        <p:nvSpPr>
          <p:cNvPr id="9" name="Shape 3"/>
          <p:cNvSpPr/>
          <p:nvPr/>
        </p:nvSpPr>
        <p:spPr>
          <a:xfrm>
            <a:off x="8138160" y="4069080"/>
            <a:ext cx="3566160" cy="2331720"/>
          </a:xfrm>
          <a:prstGeom prst="rect">
            <a:avLst/>
          </a:prstGeom>
          <a:solidFill>
            <a:srgbClr val="1F242D"/>
          </a:solidFill>
          <a:ln w="9525">
            <a:solidFill>
              <a:srgbClr val="3A4150"/>
            </a:solidFill>
            <a:prstDash val="solid"/>
          </a:ln>
        </p:spPr>
      </p:sp>
      <p:sp>
        <p:nvSpPr>
          <p:cNvPr id="10" name="Text 4"/>
          <p:cNvSpPr txBox="1"/>
          <p:nvPr/>
        </p:nvSpPr>
        <p:spPr>
          <a:xfrm>
            <a:off x="8275320" y="4114800"/>
            <a:ext cx="3291840" cy="274320"/>
          </a:xfrm>
          <a:prstGeom prst="rect">
            <a:avLst/>
          </a:prstGeom>
          <a:noFill/>
          <a:ln/>
        </p:spPr>
        <p:txBody>
          <a:bodyPr wrap="square" lIns="0" tIns="0" rIns="0" bIns="0" rtlCol="0" anchor="t"/>
          <a:lstStyle/>
          <a:p>
            <a:pPr indent="0" marL="0">
              <a:buNone/>
            </a:pPr>
            <a:r>
              <a:rPr lang="en-US" sz="1500" b="1" dirty="0">
                <a:solidFill>
                  <a:srgbClr val="F5B14C"/>
                </a:solidFill>
                <a:latin typeface="Calibri" pitchFamily="34" charset="0"/>
                <a:ea typeface="Calibri" pitchFamily="34" charset="-122"/>
                <a:cs typeface="Calibri" pitchFamily="34" charset="-120"/>
              </a:rPr>
              <a:t>Reading the result</a:t>
            </a:r>
            <a:endParaRPr lang="en-US" sz="1500" dirty="0"/>
          </a:p>
        </p:txBody>
      </p:sp>
      <p:sp>
        <p:nvSpPr>
          <p:cNvPr id="11" name="Text 5"/>
          <p:cNvSpPr txBox="1"/>
          <p:nvPr/>
        </p:nvSpPr>
        <p:spPr>
          <a:xfrm>
            <a:off x="8275320" y="4407408"/>
            <a:ext cx="3337560" cy="196596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E6E9EF"/>
                </a:solidFill>
                <a:latin typeface="Calibri" pitchFamily="34" charset="0"/>
                <a:ea typeface="Calibri" pitchFamily="34" charset="-122"/>
                <a:cs typeface="Calibri" pitchFamily="34" charset="-120"/>
              </a:rPr>
              <a:t>GPU time 46.3 to 9.9 ms (1080p) and 50.6 to 13.3 ms (1440p); primitives 11.2 M to 1.08 M, draw calls 3120 to 591</a:t>
            </a:r>
            <a:endParaRPr lang="en-US" sz="1050" dirty="0"/>
          </a:p>
          <a:p>
            <a:pPr marL="342900" indent="-342900">
              <a:spcAft>
                <a:spcPts val="300"/>
              </a:spcAft>
              <a:buSzPct val="100000"/>
              <a:buChar char="•"/>
            </a:pPr>
            <a:r>
              <a:rPr lang="en-US" sz="1050" dirty="0">
                <a:solidFill>
                  <a:srgbClr val="E6E9EF"/>
                </a:solidFill>
                <a:latin typeface="Calibri" pitchFamily="34" charset="0"/>
                <a:ea typeface="Calibri" pitchFamily="34" charset="-122"/>
                <a:cs typeface="Calibri" pitchFamily="34" charset="-120"/>
              </a:rPr>
              <a:t>1080p: GPU is under the 16.67 ms target, bias stays 0. 1440p: bias saturates in 84% of frames and the 8 ms target is not reached</a:t>
            </a:r>
            <a:endParaRPr lang="en-US" sz="1050" dirty="0"/>
          </a:p>
          <a:p>
            <a:pPr marL="342900" indent="-342900">
              <a:spcAft>
                <a:spcPts val="300"/>
              </a:spcAft>
              <a:buSzPct val="100000"/>
              <a:buChar char="•"/>
            </a:pPr>
            <a:r>
              <a:rPr lang="en-US" sz="1050" dirty="0">
                <a:solidFill>
                  <a:srgbClr val="E6E9EF"/>
                </a:solidFill>
                <a:latin typeface="Calibri" pitchFamily="34" charset="0"/>
                <a:ea typeface="Calibri" pitchFamily="34" charset="-122"/>
                <a:cs typeface="Calibri" pitchFamily="34" charset="-120"/>
              </a:rPr>
              <a:t>0 frames under 10 FPS in the 20 None/Adaptive runs; lowest per-run FPS 12.7</a:t>
            </a:r>
            <a:endParaRPr lang="en-US" sz="105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200" b="1" spc="200" kern="0" dirty="0">
                <a:solidFill>
                  <a:srgbClr val="35D0E8"/>
                </a:solidFill>
                <a:latin typeface="Calibri" pitchFamily="34" charset="0"/>
                <a:ea typeface="Calibri" pitchFamily="34" charset="-122"/>
                <a:cs typeface="Calibri" pitchFamily="34" charset="-120"/>
              </a:rPr>
              <a:t>VISUAL QUALITY</a:t>
            </a:r>
            <a:endParaRPr lang="en-US" sz="1200" dirty="0"/>
          </a:p>
        </p:txBody>
      </p:sp>
      <p:sp>
        <p:nvSpPr>
          <p:cNvPr id="3" name="Text 1"/>
          <p:cNvSpPr txBox="1"/>
          <p:nvPr/>
        </p:nvSpPr>
        <p:spPr>
          <a:xfrm>
            <a:off x="457200" y="502920"/>
            <a:ext cx="11247120" cy="548640"/>
          </a:xfrm>
          <a:prstGeom prst="rect">
            <a:avLst/>
          </a:prstGeom>
          <a:noFill/>
          <a:ln/>
        </p:spPr>
        <p:txBody>
          <a:bodyPr wrap="square" lIns="0" tIns="0" rIns="0" bIns="0" rtlCol="0" anchor="ctr">
            <a:normAutofit/>
          </a:bodyPr>
          <a:lstStyle/>
          <a:p>
            <a:pPr indent="0" marL="0">
              <a:buNone/>
            </a:pPr>
            <a:r>
              <a:rPr lang="en-US" sz="3000" b="1" dirty="0">
                <a:solidFill>
                  <a:srgbClr val="E6E9EF"/>
                </a:solidFill>
                <a:latin typeface="Cambria" pitchFamily="34" charset="0"/>
                <a:ea typeface="Cambria" pitchFamily="34" charset="-122"/>
                <a:cs typeface="Cambria" pitchFamily="34" charset="-120"/>
              </a:rPr>
              <a:t>Visual comparison and live demonstration</a:t>
            </a:r>
            <a:endParaRPr lang="en-US" sz="3000" dirty="0"/>
          </a:p>
        </p:txBody>
      </p:sp>
      <p:pic>
        <p:nvPicPr>
          <p:cNvPr id="4" name="Image 0" descr="None (no LOD)">    </p:cNvPr>
          <p:cNvPicPr>
            <a:picLocks noChangeAspect="1"/>
          </p:cNvPicPr>
          <p:nvPr/>
        </p:nvPicPr>
        <p:blipFill>
          <a:blip r:embed="rId1"/>
          <a:stretch>
            <a:fillRect/>
          </a:stretch>
        </p:blipFill>
        <p:spPr>
          <a:xfrm>
            <a:off x="457200" y="1143000"/>
            <a:ext cx="3931920" cy="2212848"/>
          </a:xfrm>
          <a:prstGeom prst="rect">
            <a:avLst/>
          </a:prstGeom>
        </p:spPr>
      </p:pic>
      <p:sp>
        <p:nvSpPr>
          <p:cNvPr id="5" name="Text 2"/>
          <p:cNvSpPr txBox="1"/>
          <p:nvPr/>
        </p:nvSpPr>
        <p:spPr>
          <a:xfrm>
            <a:off x="457200" y="3383280"/>
            <a:ext cx="3931920" cy="201168"/>
          </a:xfrm>
          <a:prstGeom prst="rect">
            <a:avLst/>
          </a:prstGeom>
          <a:noFill/>
          <a:ln/>
        </p:spPr>
        <p:txBody>
          <a:bodyPr wrap="square" lIns="0" tIns="0" rIns="0" bIns="0" rtlCol="0" anchor="t"/>
          <a:lstStyle/>
          <a:p>
            <a:pPr indent="0" marL="0">
              <a:buNone/>
            </a:pPr>
            <a:r>
              <a:rPr lang="en-US" sz="1050" dirty="0">
                <a:solidFill>
                  <a:srgbClr val="9AA3B2"/>
                </a:solidFill>
                <a:latin typeface="Calibri" pitchFamily="34" charset="0"/>
                <a:ea typeface="Calibri" pitchFamily="34" charset="-122"/>
                <a:cs typeface="Calibri" pitchFamily="34" charset="-120"/>
              </a:rPr>
              <a:t>None (no LOD)</a:t>
            </a:r>
            <a:endParaRPr lang="en-US" sz="1050" dirty="0"/>
          </a:p>
        </p:txBody>
      </p:sp>
      <p:pic>
        <p:nvPicPr>
          <p:cNvPr id="6" name="Image 1" descr="Adaptive (live controller, bias 1.4)">    </p:cNvPr>
          <p:cNvPicPr>
            <a:picLocks noChangeAspect="1"/>
          </p:cNvPicPr>
          <p:nvPr/>
        </p:nvPicPr>
        <p:blipFill>
          <a:blip r:embed="rId2"/>
          <a:stretch>
            <a:fillRect/>
          </a:stretch>
        </p:blipFill>
        <p:spPr>
          <a:xfrm>
            <a:off x="4526280" y="1143000"/>
            <a:ext cx="3931920" cy="2212848"/>
          </a:xfrm>
          <a:prstGeom prst="rect">
            <a:avLst/>
          </a:prstGeom>
        </p:spPr>
      </p:pic>
      <p:sp>
        <p:nvSpPr>
          <p:cNvPr id="7" name="Text 3"/>
          <p:cNvSpPr txBox="1"/>
          <p:nvPr/>
        </p:nvSpPr>
        <p:spPr>
          <a:xfrm>
            <a:off x="4526280" y="3383280"/>
            <a:ext cx="3931920" cy="201168"/>
          </a:xfrm>
          <a:prstGeom prst="rect">
            <a:avLst/>
          </a:prstGeom>
          <a:noFill/>
          <a:ln/>
        </p:spPr>
        <p:txBody>
          <a:bodyPr wrap="square" lIns="0" tIns="0" rIns="0" bIns="0" rtlCol="0" anchor="t"/>
          <a:lstStyle/>
          <a:p>
            <a:pPr indent="0" marL="0">
              <a:buNone/>
            </a:pPr>
            <a:r>
              <a:rPr lang="en-US" sz="1050" dirty="0">
                <a:solidFill>
                  <a:srgbClr val="9AA3B2"/>
                </a:solidFill>
                <a:latin typeface="Calibri" pitchFamily="34" charset="0"/>
                <a:ea typeface="Calibri" pitchFamily="34" charset="-122"/>
                <a:cs typeface="Calibri" pitchFamily="34" charset="-120"/>
              </a:rPr>
              <a:t>Adaptive (live controller, bias 1.4)</a:t>
            </a:r>
            <a:endParaRPr lang="en-US" sz="1050" dirty="0"/>
          </a:p>
        </p:txBody>
      </p:sp>
      <p:pic>
        <p:nvPicPr>
          <p:cNvPr id="5"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457200" y="3611880"/>
            <a:ext cx="3931920" cy="2212848"/>
          </a:xfrm>
          <a:prstGeom prst="rect">
            <a:avLst/>
          </a:prstGeom>
        </p:spPr>
      </p:pic>
      <p:sp>
        <p:nvSpPr>
          <p:cNvPr id="9" name="Text 4"/>
          <p:cNvSpPr txBox="1"/>
          <p:nvPr/>
        </p:nvSpPr>
        <p:spPr>
          <a:xfrm>
            <a:off x="457200" y="5852160"/>
            <a:ext cx="3931920" cy="228600"/>
          </a:xfrm>
          <a:prstGeom prst="rect">
            <a:avLst/>
          </a:prstGeom>
          <a:noFill/>
          <a:ln/>
        </p:spPr>
        <p:txBody>
          <a:bodyPr wrap="square" lIns="0" tIns="0" rIns="0" bIns="0" rtlCol="0" anchor="t"/>
          <a:lstStyle/>
          <a:p>
            <a:pPr indent="0" marL="0">
              <a:buNone/>
            </a:pPr>
            <a:r>
              <a:rPr lang="en-US" sz="1050" dirty="0">
                <a:solidFill>
                  <a:srgbClr val="9AA3B2"/>
                </a:solidFill>
                <a:latin typeface="Calibri" pitchFamily="34" charset="0"/>
                <a:ea typeface="Calibri" pitchFamily="34" charset="-122"/>
                <a:cs typeface="Calibri" pitchFamily="34" charset="-120"/>
              </a:rPr>
              <a:t>Screen recording (70 s): None and Adaptive, F4 toggles</a:t>
            </a:r>
            <a:endParaRPr lang="en-US" sz="1050" dirty="0"/>
          </a:p>
        </p:txBody>
      </p:sp>
      <p:pic>
        <p:nvPicPr>
          <p:cNvPr id="10" name="Image 2" descr="In-game debug panel in Adaptive mode, None and Adaptive buttons only">    </p:cNvPr>
          <p:cNvPicPr>
            <a:picLocks noChangeAspect="1"/>
          </p:cNvPicPr>
          <p:nvPr/>
        </p:nvPicPr>
        <p:blipFill>
          <a:blip r:embed="rId6"/>
          <a:stretch>
            <a:fillRect/>
          </a:stretch>
        </p:blipFill>
        <p:spPr>
          <a:xfrm>
            <a:off x="4526280" y="3611880"/>
            <a:ext cx="3638072" cy="2212848"/>
          </a:xfrm>
          <a:prstGeom prst="rect">
            <a:avLst/>
          </a:prstGeom>
        </p:spPr>
      </p:pic>
      <p:sp>
        <p:nvSpPr>
          <p:cNvPr id="11" name="Text 5"/>
          <p:cNvSpPr txBox="1"/>
          <p:nvPr/>
        </p:nvSpPr>
        <p:spPr>
          <a:xfrm>
            <a:off x="4526280" y="5852160"/>
            <a:ext cx="3931920" cy="228600"/>
          </a:xfrm>
          <a:prstGeom prst="rect">
            <a:avLst/>
          </a:prstGeom>
          <a:noFill/>
          <a:ln/>
        </p:spPr>
        <p:txBody>
          <a:bodyPr wrap="square" lIns="0" tIns="0" rIns="0" bIns="0" rtlCol="0" anchor="t"/>
          <a:lstStyle/>
          <a:p>
            <a:pPr indent="0" marL="0">
              <a:buNone/>
            </a:pPr>
            <a:r>
              <a:rPr lang="en-US" sz="1050" dirty="0">
                <a:solidFill>
                  <a:srgbClr val="9AA3B2"/>
                </a:solidFill>
                <a:latin typeface="Calibri" pitchFamily="34" charset="0"/>
                <a:ea typeface="Calibri" pitchFamily="34" charset="-122"/>
                <a:cs typeface="Calibri" pitchFamily="34" charset="-120"/>
              </a:rPr>
              <a:t>Real panel (F3): only None and Adaptive buttons</a:t>
            </a:r>
            <a:endParaRPr lang="en-US" sz="1050" dirty="0"/>
          </a:p>
        </p:txBody>
      </p:sp>
      <p:pic>
        <p:nvPicPr>
          <p:cNvPr id="12" name="Image 3" descr="None versus adaptive vegetation close-up">    </p:cNvPr>
          <p:cNvPicPr>
            <a:picLocks noChangeAspect="1"/>
          </p:cNvPicPr>
          <p:nvPr/>
        </p:nvPicPr>
        <p:blipFill>
          <a:blip r:embed="rId7"/>
          <a:stretch>
            <a:fillRect/>
          </a:stretch>
        </p:blipFill>
        <p:spPr>
          <a:xfrm>
            <a:off x="8641080" y="1143000"/>
            <a:ext cx="3063240" cy="3478054"/>
          </a:xfrm>
          <a:prstGeom prst="rect">
            <a:avLst/>
          </a:prstGeom>
        </p:spPr>
      </p:pic>
      <p:sp>
        <p:nvSpPr>
          <p:cNvPr id="13" name="Text 6"/>
          <p:cNvSpPr txBox="1"/>
          <p:nvPr/>
        </p:nvSpPr>
        <p:spPr>
          <a:xfrm>
            <a:off x="8641080" y="4648486"/>
            <a:ext cx="3063240" cy="228600"/>
          </a:xfrm>
          <a:prstGeom prst="rect">
            <a:avLst/>
          </a:prstGeom>
          <a:noFill/>
          <a:ln/>
        </p:spPr>
        <p:txBody>
          <a:bodyPr wrap="square" lIns="0" tIns="0" rIns="0" bIns="0" rtlCol="0" anchor="t"/>
          <a:lstStyle/>
          <a:p>
            <a:pPr indent="0" marL="0">
              <a:buNone/>
            </a:pPr>
            <a:r>
              <a:rPr lang="en-US" sz="1050" dirty="0">
                <a:solidFill>
                  <a:srgbClr val="9AA3B2"/>
                </a:solidFill>
                <a:latin typeface="Calibri" pitchFamily="34" charset="0"/>
                <a:ea typeface="Calibri" pitchFamily="34" charset="-122"/>
                <a:cs typeface="Calibri" pitchFamily="34" charset="-120"/>
              </a:rPr>
              <a:t>2x crop, same region: None (top), Adaptive (bottom)</a:t>
            </a:r>
            <a:endParaRPr lang="en-US" sz="1050" dirty="0"/>
          </a:p>
        </p:txBody>
      </p:sp>
      <p:sp>
        <p:nvSpPr>
          <p:cNvPr id="14" name="Text 7"/>
          <p:cNvSpPr txBox="1"/>
          <p:nvPr/>
        </p:nvSpPr>
        <p:spPr>
          <a:xfrm>
            <a:off x="457200" y="6126480"/>
            <a:ext cx="11247120" cy="347472"/>
          </a:xfrm>
          <a:prstGeom prst="rect">
            <a:avLst/>
          </a:prstGeom>
          <a:noFill/>
          <a:ln/>
        </p:spPr>
        <p:txBody>
          <a:bodyPr wrap="square" lIns="0" tIns="0" rIns="0" bIns="0" rtlCol="0" anchor="t"/>
          <a:lstStyle/>
          <a:p>
            <a:pPr indent="0" marL="0">
              <a:buNone/>
            </a:pPr>
            <a:r>
              <a:rPr lang="en-US" sz="950" dirty="0">
                <a:solidFill>
                  <a:srgbClr val="9AA3B2"/>
                </a:solidFill>
                <a:latin typeface="Calibri" pitchFamily="34" charset="0"/>
                <a:ea typeface="Calibri" pitchFamily="34" charset="-122"/>
                <a:cs typeface="Calibri" pitchFamily="34" charset="-120"/>
              </a:rPr>
              <a:t>Stills: earlier session (GPU about 9.5 ms, bias 1.4). Video and panel: new recording after the Baseline button was removed; the GPU was slower (about 21 ms) so the bias hit its maximum of 2.0. Capture was running, so recording FPS is not benchmark data. Grass wind differs between frames; tree swaps still pop (no cross-fade).</a:t>
            </a:r>
            <a:endParaRPr lang="en-US" sz="95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200" b="1" spc="200" kern="0" dirty="0">
                <a:solidFill>
                  <a:srgbClr val="35D0E8"/>
                </a:solidFill>
                <a:latin typeface="Calibri" pitchFamily="34" charset="0"/>
                <a:ea typeface="Calibri" pitchFamily="34" charset="-122"/>
                <a:cs typeface="Calibri" pitchFamily="34" charset="-120"/>
              </a:rPr>
              <a:t>RELATED WORK</a:t>
            </a:r>
            <a:endParaRPr lang="en-US" sz="1200" dirty="0"/>
          </a:p>
        </p:txBody>
      </p:sp>
      <p:sp>
        <p:nvSpPr>
          <p:cNvPr id="3" name="Text 1"/>
          <p:cNvSpPr txBox="1"/>
          <p:nvPr/>
        </p:nvSpPr>
        <p:spPr>
          <a:xfrm>
            <a:off x="457200" y="502920"/>
            <a:ext cx="11247120" cy="548640"/>
          </a:xfrm>
          <a:prstGeom prst="rect">
            <a:avLst/>
          </a:prstGeom>
          <a:noFill/>
          <a:ln/>
        </p:spPr>
        <p:txBody>
          <a:bodyPr wrap="square" lIns="0" tIns="0" rIns="0" bIns="0" rtlCol="0" anchor="ctr">
            <a:normAutofit/>
          </a:bodyPr>
          <a:lstStyle/>
          <a:p>
            <a:pPr indent="0" marL="0">
              <a:buNone/>
            </a:pPr>
            <a:r>
              <a:rPr lang="en-US" sz="3000" b="1" dirty="0">
                <a:solidFill>
                  <a:srgbClr val="E6E9EF"/>
                </a:solidFill>
                <a:latin typeface="Cambria" pitchFamily="34" charset="0"/>
                <a:ea typeface="Cambria" pitchFamily="34" charset="-122"/>
                <a:cs typeface="Cambria" pitchFamily="34" charset="-120"/>
              </a:rPr>
              <a:t>How our results compare with recent research (2020 and later)</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47120" cy="914400"/>
        </p:xfrm>
        <a:graphic>
          <a:graphicData uri="http://schemas.openxmlformats.org/drawingml/2006/table">
            <a:tbl>
              <a:tblPr/>
              <a:tblGrid>
                <a:gridCol w="2286000"/>
                <a:gridCol w="2011680"/>
                <a:gridCol w="2011680"/>
                <a:gridCol w="2560320"/>
                <a:gridCol w="2377440"/>
              </a:tblGrid>
              <a:tr h="310896">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Work (year, venue)</a:t>
                      </a:r>
                      <a:endParaRPr lang="en-US" sz="105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Technique</a:t>
                      </a:r>
                      <a:endParaRPr lang="en-US" sz="105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Hardware and scene</a:t>
                      </a:r>
                      <a:endParaRPr lang="en-US" sz="105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Reported result</a:t>
                      </a:r>
                      <a:endParaRPr lang="en-US" sz="105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c>
                  <a:txBody>
                    <a:bodyPr/>
                    <a:lstStyle/>
                    <a:p>
                      <a:pPr indent="0" marL="0">
                        <a:buNone/>
                      </a:pPr>
                      <a:r>
                        <a:rPr lang="en-US" sz="1050" b="1" dirty="0">
                          <a:solidFill>
                            <a:srgbClr val="15181E"/>
                          </a:solidFill>
                          <a:latin typeface="Calibri" pitchFamily="34" charset="0"/>
                          <a:ea typeface="Calibri" pitchFamily="34" charset="-122"/>
                          <a:cs typeface="Calibri" pitchFamily="34" charset="-120"/>
                        </a:rPr>
                        <a:t>Relation to this project</a:t>
                      </a:r>
                      <a:endParaRPr lang="en-US" sz="105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35D0E8"/>
                    </a:solidFill>
                  </a:tcPr>
                </a:tc>
              </a:tr>
              <a:tr h="960120">
                <a:tc>
                  <a:txBody>
                    <a:bodyPr/>
                    <a:lstStyle/>
                    <a:p>
                      <a:pPr indent="0" marL="0">
                        <a:buNone/>
                      </a:pPr>
                      <a:r>
                        <a:rPr lang="en-US" sz="1000" b="1" dirty="0">
                          <a:solidFill>
                            <a:srgbClr val="E6E9EF"/>
                          </a:solidFill>
                          <a:latin typeface="Calibri" pitchFamily="34" charset="0"/>
                          <a:ea typeface="Calibri" pitchFamily="34" charset="-122"/>
                          <a:cs typeface="Calibri" pitchFamily="34" charset="-120"/>
                        </a:rPr>
                        <a:t>Adaptive LOD / progressive-mesh control for stable real-time VR rendering (2026, The Visual Computer, DOI 10.1007/s00371-026-04784-5)</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Frame-budget-driven adaptive LOD via progressive meshes</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VR interior-design scenes, 11.11 ms budget (90 Hz)</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High load: p95 GPU frame time 18.11 to 10.86 ms (-40%); frames over budget 84.51% to 7.01%, vs full-resolution rendering</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Closest in idea (budget-driven LOD vs full detail). Ours: p99 frame time 72.0 to 12.9 ms (-82.1%) at 1080p, 77.0 to 17.4 ms (-77.4%) at 1440p</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960120">
                <a:tc>
                  <a:txBody>
                    <a:bodyPr/>
                    <a:lstStyle/>
                    <a:p>
                      <a:pPr indent="0" marL="0">
                        <a:buNone/>
                      </a:pPr>
                      <a:r>
                        <a:rPr lang="en-US" sz="1000" b="1" dirty="0">
                          <a:solidFill>
                            <a:srgbClr val="E6E9EF"/>
                          </a:solidFill>
                          <a:latin typeface="Calibri" pitchFamily="34" charset="0"/>
                          <a:ea typeface="Calibri" pitchFamily="34" charset="-122"/>
                          <a:cs typeface="Calibri" pitchFamily="34" charset="-120"/>
                        </a:rPr>
                        <a:t>Real-Time GPU Tree Generation (2025, High-Performance Graphics, DOI 10.2312/hpg.20251168; AMD)</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Procedural trees via DX12 work graphs and mesh nodes, continuous per-frame LOD</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Radeon RX 7900 XTX, 1,200 trees of 20 types plus grass and effects</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Median frame 7.74 ms for the whole scene (trees 3.13 ms to G-buffer); 51 KiB of data instead of 34.8 GiB of meshes</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Different goal (memory and generation); shows trees at LOD fit in single-digit ms on far newer hardware. Ours: 10.3 ms (1080p) on a Quadro P3200 laptop GPU</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777240">
                <a:tc>
                  <a:txBody>
                    <a:bodyPr/>
                    <a:lstStyle/>
                    <a:p>
                      <a:pPr indent="0" marL="0">
                        <a:buNone/>
                      </a:pPr>
                      <a:r>
                        <a:rPr lang="en-US" sz="1000" b="1" dirty="0">
                          <a:solidFill>
                            <a:srgbClr val="E6E9EF"/>
                          </a:solidFill>
                          <a:latin typeface="Calibri" pitchFamily="34" charset="0"/>
                          <a:ea typeface="Calibri" pitchFamily="34" charset="-122"/>
                          <a:cs typeface="Calibri" pitchFamily="34" charset="-120"/>
                        </a:rPr>
                        <a:t>Real-time Path Tracing of Massive Dynamic Foliage (ACM, DOI 10.1145/3820021)</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Clustered LOD generation plus opacity micromaps for ray tracing</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RTX 4090, animated foliage, 1440p upscaled to 2160p</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About 60 FPS (no baseline comparison extracted)</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Different pipeline (path tracing). Confirms LOD clustering for foliage remains an active research area; ours is raster, distance-based</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777240">
                <a:tc>
                  <a:txBody>
                    <a:bodyPr/>
                    <a:lstStyle/>
                    <a:p>
                      <a:pPr indent="0" marL="0">
                        <a:buNone/>
                      </a:pPr>
                      <a:r>
                        <a:rPr lang="en-US" sz="1000" b="1" dirty="0">
                          <a:solidFill>
                            <a:srgbClr val="E6E9EF"/>
                          </a:solidFill>
                          <a:latin typeface="Calibri" pitchFamily="34" charset="0"/>
                          <a:ea typeface="Calibri" pitchFamily="34" charset="-122"/>
                          <a:cs typeface="Calibri" pitchFamily="34" charset="-120"/>
                        </a:rPr>
                        <a:t>Automatic LOD for Improved Rendering by CPU Usage (2024, RSU Int. Research Conf.)</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Adaptive LOD updates, spatial hashing, CPU/GPU analysis for consistent FPS</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Two test areas (Area 1, Area 2); hardware not stated</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CPU time 15.1 to 14.2 ms (-5.96%) and 10.8 to 10.3 ms (-4.63%); triangles -15.79% and -25%; FPS 66.1 to 90 (+36.2%) and 121 to 146 (+20.7%)</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Closest in aim. Like-for-like with our Baseline to Adaptive step (+0.2% / +2.4% FPS, primitives -0.2% / -7.9%): theirs is larger, CPU-driven; ours GPU-driven, GPU-bound scene</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1F242D"/>
                    </a:solidFill>
                  </a:tcPr>
                </a:tc>
              </a:tr>
              <a:tr h="777240">
                <a:tc>
                  <a:txBody>
                    <a:bodyPr/>
                    <a:lstStyle/>
                    <a:p>
                      <a:pPr indent="0" marL="0">
                        <a:buNone/>
                      </a:pPr>
                      <a:r>
                        <a:rPr lang="en-US" sz="1000" b="1" dirty="0">
                          <a:solidFill>
                            <a:srgbClr val="35D0E8"/>
                          </a:solidFill>
                          <a:latin typeface="Calibri" pitchFamily="34" charset="0"/>
                          <a:ea typeface="Calibri" pitchFamily="34" charset="-122"/>
                          <a:cs typeface="Calibri" pitchFamily="34" charset="-120"/>
                        </a:rPr>
                        <a:t>This project (2026)</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262C37"/>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PI-controlled bias on distance thresholds, 4 vegetation categories</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262C37"/>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Quadro P3200, Godot 4.7.2 debug build, 41,698 instances + 403k grass clumps</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262C37"/>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21.4 to 96.8 FPS (1080p), 19.6 to 72.1 FPS (1440p); GPU 46.3 to 9.9 ms and 50.6 to 13.3 ms; n=5 per cell</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262C37"/>
                    </a:solidFill>
                  </a:tcPr>
                </a:tc>
                <a:tc>
                  <a:txBody>
                    <a:bodyPr/>
                    <a:lstStyle/>
                    <a:p>
                      <a:pPr indent="0" marL="0">
                        <a:buNone/>
                      </a:pPr>
                      <a:r>
                        <a:rPr lang="en-US" sz="1000" dirty="0">
                          <a:solidFill>
                            <a:srgbClr val="E6E9EF"/>
                          </a:solidFill>
                          <a:latin typeface="Calibri" pitchFamily="34" charset="0"/>
                          <a:ea typeface="Calibri" pitchFamily="34" charset="-122"/>
                          <a:cs typeface="Calibri" pitchFamily="34" charset="-120"/>
                        </a:rPr>
                        <a:t>Gain vs None is large but mostly from distance LOD; controller adds +0.2% / +2.4%</a:t>
                      </a:r>
                      <a:endParaRPr lang="en-US" sz="1000" dirty="0">
                        <a:latin typeface="Calibri" charset="0"/>
                        <a:ea typeface="Calibri" charset="0"/>
                        <a:cs typeface="Calibri" charset="0"/>
                      </a:endParaRPr>
                    </a:p>
                  </a:txBody>
                  <a:tcPr marL="64008" marR="64008" marT="27432" marB="27432" anchor="ctr">
                    <a:lnL w="9525" cap="flat" cmpd="sng" algn="ctr">
                      <a:solidFill>
                        <a:srgbClr val="3A4150"/>
                      </a:solidFill>
                      <a:prstDash val="solid"/>
                      <a:round/>
                      <a:headEnd type="none" w="med" len="med"/>
                      <a:tailEnd type="none" w="med" len="med"/>
                    </a:lnL>
                    <a:lnR w="9525" cap="flat" cmpd="sng" algn="ctr">
                      <a:solidFill>
                        <a:srgbClr val="3A4150"/>
                      </a:solidFill>
                      <a:prstDash val="solid"/>
                      <a:round/>
                      <a:headEnd type="none" w="med" len="med"/>
                      <a:tailEnd type="none" w="med" len="med"/>
                    </a:lnR>
                    <a:lnT w="9525" cap="flat" cmpd="sng" algn="ctr">
                      <a:solidFill>
                        <a:srgbClr val="3A4150"/>
                      </a:solidFill>
                      <a:prstDash val="solid"/>
                      <a:round/>
                      <a:headEnd type="none" w="med" len="med"/>
                      <a:tailEnd type="none" w="med" len="med"/>
                    </a:lnT>
                    <a:lnB w="9525" cap="flat" cmpd="sng" algn="ctr">
                      <a:solidFill>
                        <a:srgbClr val="3A4150"/>
                      </a:solidFill>
                      <a:prstDash val="solid"/>
                      <a:round/>
                      <a:headEnd type="none" w="med" len="med"/>
                      <a:tailEnd type="none" w="med" len="med"/>
                    </a:lnB>
                    <a:solidFill>
                      <a:srgbClr val="262C37"/>
                    </a:solidFill>
                  </a:tcPr>
                </a:tc>
              </a:tr>
            </a:tbl>
          </a:graphicData>
        </a:graphic>
      </p:graphicFrame>
      <p:sp>
        <p:nvSpPr>
          <p:cNvPr id="5" name="Shape 2"/>
          <p:cNvSpPr/>
          <p:nvPr/>
        </p:nvSpPr>
        <p:spPr>
          <a:xfrm>
            <a:off x="457200" y="5852160"/>
            <a:ext cx="11247120" cy="566928"/>
          </a:xfrm>
          <a:prstGeom prst="rect">
            <a:avLst/>
          </a:prstGeom>
          <a:solidFill>
            <a:srgbClr val="262C37"/>
          </a:solidFill>
          <a:ln w="9525">
            <a:solidFill>
              <a:srgbClr val="3A4150"/>
            </a:solidFill>
            <a:prstDash val="solid"/>
          </a:ln>
        </p:spPr>
      </p:sp>
      <p:sp>
        <p:nvSpPr>
          <p:cNvPr id="6" name="Text 3"/>
          <p:cNvSpPr txBox="1"/>
          <p:nvPr/>
        </p:nvSpPr>
        <p:spPr>
          <a:xfrm>
            <a:off x="594360" y="5879592"/>
            <a:ext cx="10972800" cy="512064"/>
          </a:xfrm>
          <a:prstGeom prst="rect">
            <a:avLst/>
          </a:prstGeom>
          <a:noFill/>
          <a:ln/>
        </p:spPr>
        <p:txBody>
          <a:bodyPr wrap="square" lIns="0" tIns="0" rIns="0" bIns="0" rtlCol="0" anchor="ctr"/>
          <a:lstStyle/>
          <a:p>
            <a:pPr indent="0" marL="0">
              <a:buNone/>
            </a:pPr>
            <a:r>
              <a:rPr lang="en-US" sz="1050" b="1" dirty="0">
                <a:solidFill>
                  <a:srgbClr val="F5B14C"/>
                </a:solidFill>
                <a:latin typeface="Calibri" pitchFamily="34" charset="0"/>
                <a:ea typeface="Calibri" pitchFamily="34" charset="-122"/>
                <a:cs typeface="Calibri" pitchFamily="34" charset="-120"/>
              </a:rPr>
              <a:t>Caveat  </a:t>
            </a:r>
            <a:pPr indent="0" marL="0">
              <a:buNone/>
            </a:pPr>
            <a:r>
              <a:rPr lang="en-US" sz="1050" dirty="0">
                <a:solidFill>
                  <a:srgbClr val="E6E9EF"/>
                </a:solidFill>
                <a:latin typeface="Calibri" pitchFamily="34" charset="0"/>
                <a:ea typeface="Calibri" pitchFamily="34" charset="-122"/>
                <a:cs typeface="Calibri" pitchFamily="34" charset="-120"/>
              </a:rPr>
              <a:t>Different hardware, scenes and baselines, so the numbers are context, not a like-for-like ranking. This was a limited web search, not a systematic review; papers that report comparable FPS or ms for LOD controllers on vegetation were scarce. Figures are as reported in the search results; verify against the papers before citing.</a:t>
            </a:r>
            <a:endParaRPr lang="en-US" sz="105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56032"/>
            <a:ext cx="7315200" cy="256032"/>
          </a:xfrm>
          <a:prstGeom prst="rect">
            <a:avLst/>
          </a:prstGeom>
          <a:noFill/>
          <a:ln/>
        </p:spPr>
        <p:txBody>
          <a:bodyPr wrap="square" lIns="0" tIns="0" rIns="0" bIns="0" rtlCol="0" anchor="ctr"/>
          <a:lstStyle/>
          <a:p>
            <a:pPr indent="0" marL="0">
              <a:buNone/>
            </a:pPr>
            <a:r>
              <a:rPr lang="en-US" sz="1200" b="1" spc="200" kern="0" dirty="0">
                <a:solidFill>
                  <a:srgbClr val="35D0E8"/>
                </a:solidFill>
                <a:latin typeface="Calibri" pitchFamily="34" charset="0"/>
                <a:ea typeface="Calibri" pitchFamily="34" charset="-122"/>
                <a:cs typeface="Calibri" pitchFamily="34" charset="-120"/>
              </a:rPr>
              <a:t>SUMMARY</a:t>
            </a:r>
            <a:endParaRPr lang="en-US" sz="1200" dirty="0"/>
          </a:p>
        </p:txBody>
      </p:sp>
      <p:sp>
        <p:nvSpPr>
          <p:cNvPr id="3" name="Text 1"/>
          <p:cNvSpPr txBox="1"/>
          <p:nvPr/>
        </p:nvSpPr>
        <p:spPr>
          <a:xfrm>
            <a:off x="457200" y="502920"/>
            <a:ext cx="11247120" cy="548640"/>
          </a:xfrm>
          <a:prstGeom prst="rect">
            <a:avLst/>
          </a:prstGeom>
          <a:noFill/>
          <a:ln/>
        </p:spPr>
        <p:txBody>
          <a:bodyPr wrap="square" lIns="0" tIns="0" rIns="0" bIns="0" rtlCol="0" anchor="ctr">
            <a:normAutofit/>
          </a:bodyPr>
          <a:lstStyle/>
          <a:p>
            <a:pPr indent="0" marL="0">
              <a:buNone/>
            </a:pPr>
            <a:r>
              <a:rPr lang="en-US" sz="3000" b="1" dirty="0">
                <a:solidFill>
                  <a:srgbClr val="E6E9EF"/>
                </a:solidFill>
                <a:latin typeface="Cambria" pitchFamily="34" charset="0"/>
                <a:ea typeface="Cambria" pitchFamily="34" charset="-122"/>
                <a:cs typeface="Cambria" pitchFamily="34" charset="-120"/>
              </a:rPr>
              <a:t>Conclusion, limitations and next steps</a:t>
            </a:r>
            <a:endParaRPr lang="en-US" sz="3000" dirty="0"/>
          </a:p>
        </p:txBody>
      </p:sp>
      <p:sp>
        <p:nvSpPr>
          <p:cNvPr id="4" name="Shape 2"/>
          <p:cNvSpPr/>
          <p:nvPr/>
        </p:nvSpPr>
        <p:spPr>
          <a:xfrm>
            <a:off x="457200" y="1234440"/>
            <a:ext cx="3657600" cy="3063240"/>
          </a:xfrm>
          <a:prstGeom prst="rect">
            <a:avLst/>
          </a:prstGeom>
          <a:solidFill>
            <a:srgbClr val="1F242D"/>
          </a:solidFill>
          <a:ln w="9525">
            <a:solidFill>
              <a:srgbClr val="3A4150"/>
            </a:solidFill>
            <a:prstDash val="solid"/>
          </a:ln>
        </p:spPr>
      </p:sp>
      <p:sp>
        <p:nvSpPr>
          <p:cNvPr id="5" name="Text 3"/>
          <p:cNvSpPr txBox="1"/>
          <p:nvPr/>
        </p:nvSpPr>
        <p:spPr>
          <a:xfrm>
            <a:off x="640080" y="1325880"/>
            <a:ext cx="3291840" cy="320040"/>
          </a:xfrm>
          <a:prstGeom prst="rect">
            <a:avLst/>
          </a:prstGeom>
          <a:noFill/>
          <a:ln/>
        </p:spPr>
        <p:txBody>
          <a:bodyPr wrap="square" lIns="0" tIns="0" rIns="0" bIns="0" rtlCol="0" anchor="t"/>
          <a:lstStyle/>
          <a:p>
            <a:pPr indent="0" marL="0">
              <a:buNone/>
            </a:pPr>
            <a:r>
              <a:rPr lang="en-US" sz="1800" b="1" dirty="0">
                <a:solidFill>
                  <a:srgbClr val="35D0E8"/>
                </a:solidFill>
                <a:latin typeface="Calibri" pitchFamily="34" charset="0"/>
                <a:ea typeface="Calibri" pitchFamily="34" charset="-122"/>
                <a:cs typeface="Calibri" pitchFamily="34" charset="-120"/>
              </a:rPr>
              <a:t>Implemented</a:t>
            </a:r>
            <a:endParaRPr lang="en-US" sz="1800" dirty="0"/>
          </a:p>
        </p:txBody>
      </p:sp>
      <p:sp>
        <p:nvSpPr>
          <p:cNvPr id="6" name="Text 4"/>
          <p:cNvSpPr txBox="1"/>
          <p:nvPr/>
        </p:nvSpPr>
        <p:spPr>
          <a:xfrm>
            <a:off x="640080" y="1737360"/>
            <a:ext cx="3337560" cy="2514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Distance LOD for 4 vegetation categories, scaled by one PI-controlled bias</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PI controller with rate limits, deadband, anti-windup</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Metre-based floors keep near-field detail</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Benchmark harness, debug panel (None / Adaptive), 4 self-test suites with a log-validating runner</a:t>
            </a:r>
            <a:endParaRPr lang="en-US" sz="1300" dirty="0"/>
          </a:p>
        </p:txBody>
      </p:sp>
      <p:sp>
        <p:nvSpPr>
          <p:cNvPr id="7" name="Shape 5"/>
          <p:cNvSpPr/>
          <p:nvPr/>
        </p:nvSpPr>
        <p:spPr>
          <a:xfrm>
            <a:off x="4251960" y="1234440"/>
            <a:ext cx="3657600" cy="3063240"/>
          </a:xfrm>
          <a:prstGeom prst="rect">
            <a:avLst/>
          </a:prstGeom>
          <a:solidFill>
            <a:srgbClr val="1F242D"/>
          </a:solidFill>
          <a:ln w="9525">
            <a:solidFill>
              <a:srgbClr val="3A4150"/>
            </a:solidFill>
            <a:prstDash val="solid"/>
          </a:ln>
        </p:spPr>
      </p:sp>
      <p:sp>
        <p:nvSpPr>
          <p:cNvPr id="8" name="Text 6"/>
          <p:cNvSpPr txBox="1"/>
          <p:nvPr/>
        </p:nvSpPr>
        <p:spPr>
          <a:xfrm>
            <a:off x="4434840" y="1325880"/>
            <a:ext cx="3291840" cy="320040"/>
          </a:xfrm>
          <a:prstGeom prst="rect">
            <a:avLst/>
          </a:prstGeom>
          <a:noFill/>
          <a:ln/>
        </p:spPr>
        <p:txBody>
          <a:bodyPr wrap="square" lIns="0" tIns="0" rIns="0" bIns="0" rtlCol="0" anchor="t"/>
          <a:lstStyle/>
          <a:p>
            <a:pPr indent="0" marL="0">
              <a:buNone/>
            </a:pPr>
            <a:r>
              <a:rPr lang="en-US" sz="1800" b="1" dirty="0">
                <a:solidFill>
                  <a:srgbClr val="A78BFA"/>
                </a:solidFill>
                <a:latin typeface="Calibri" pitchFamily="34" charset="0"/>
                <a:ea typeface="Calibri" pitchFamily="34" charset="-122"/>
                <a:cs typeface="Calibri" pitchFamily="34" charset="-120"/>
              </a:rPr>
              <a:t>What the data shows</a:t>
            </a:r>
            <a:endParaRPr lang="en-US" sz="1800" dirty="0"/>
          </a:p>
        </p:txBody>
      </p:sp>
      <p:sp>
        <p:nvSpPr>
          <p:cNvPr id="9" name="Text 7"/>
          <p:cNvSpPr txBox="1"/>
          <p:nvPr/>
        </p:nvSpPr>
        <p:spPr>
          <a:xfrm>
            <a:off x="4434840" y="1737360"/>
            <a:ext cx="3337560" cy="2514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1080p: 21.4 to 96.8 FPS (4.5x), frame time 77.9% lower</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1440p: 19.6 to 72.1 FPS (3.7x), frame time 72.9% lower</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Primitives about 90% lower; GPU time 78.7% / 73.7% lower</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The controller itself adds only +0.2% / +2.4% over fixed distances</a:t>
            </a:r>
            <a:endParaRPr lang="en-US" sz="1300" dirty="0"/>
          </a:p>
        </p:txBody>
      </p:sp>
      <p:sp>
        <p:nvSpPr>
          <p:cNvPr id="10" name="Shape 8"/>
          <p:cNvSpPr/>
          <p:nvPr/>
        </p:nvSpPr>
        <p:spPr>
          <a:xfrm>
            <a:off x="8046720" y="1234440"/>
            <a:ext cx="3657600" cy="3063240"/>
          </a:xfrm>
          <a:prstGeom prst="rect">
            <a:avLst/>
          </a:prstGeom>
          <a:solidFill>
            <a:srgbClr val="1F242D"/>
          </a:solidFill>
          <a:ln w="9525">
            <a:solidFill>
              <a:srgbClr val="3A4150"/>
            </a:solidFill>
            <a:prstDash val="solid"/>
          </a:ln>
        </p:spPr>
      </p:sp>
      <p:sp>
        <p:nvSpPr>
          <p:cNvPr id="11" name="Text 9"/>
          <p:cNvSpPr txBox="1"/>
          <p:nvPr/>
        </p:nvSpPr>
        <p:spPr>
          <a:xfrm>
            <a:off x="8229600" y="1325880"/>
            <a:ext cx="3291840" cy="320040"/>
          </a:xfrm>
          <a:prstGeom prst="rect">
            <a:avLst/>
          </a:prstGeom>
          <a:noFill/>
          <a:ln/>
        </p:spPr>
        <p:txBody>
          <a:bodyPr wrap="square" lIns="0" tIns="0" rIns="0" bIns="0" rtlCol="0" anchor="t"/>
          <a:lstStyle/>
          <a:p>
            <a:pPr indent="0" marL="0">
              <a:buNone/>
            </a:pPr>
            <a:r>
              <a:rPr lang="en-US" sz="1800" b="1" dirty="0">
                <a:solidFill>
                  <a:srgbClr val="F5B14C"/>
                </a:solidFill>
                <a:latin typeface="Calibri" pitchFamily="34" charset="0"/>
                <a:ea typeface="Calibri" pitchFamily="34" charset="-122"/>
                <a:cs typeface="Calibri" pitchFamily="34" charset="-120"/>
              </a:rPr>
              <a:t>Limitations</a:t>
            </a:r>
            <a:endParaRPr lang="en-US" sz="1800" dirty="0"/>
          </a:p>
        </p:txBody>
      </p:sp>
      <p:sp>
        <p:nvSpPr>
          <p:cNvPr id="12" name="Text 10"/>
          <p:cNvSpPr txBox="1"/>
          <p:nvPr/>
        </p:nvSpPr>
        <p:spPr>
          <a:xfrm>
            <a:off x="8229600" y="1737360"/>
            <a:ext cx="3337560" cy="2514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Debug/editor build only; no release build possible</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GPU drifted 2 to 3x between sessions (the new demo recording ran in the slow state)</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No perceptual quality metric; tree pops remain</a:t>
            </a:r>
            <a:endParaRPr lang="en-US" sz="1300" dirty="0"/>
          </a:p>
          <a:p>
            <a:pPr marL="342900" indent="-342900">
              <a:spcAft>
                <a:spcPts val="600"/>
              </a:spcAft>
              <a:buSzPct val="100000"/>
              <a:buChar char="•"/>
            </a:pPr>
            <a:r>
              <a:rPr lang="en-US" sz="1300" dirty="0">
                <a:solidFill>
                  <a:srgbClr val="E6E9EF"/>
                </a:solidFill>
                <a:latin typeface="Calibri" pitchFamily="34" charset="0"/>
                <a:ea typeface="Calibri" pitchFamily="34" charset="-122"/>
                <a:cs typeface="Calibri" pitchFamily="34" charset="-120"/>
              </a:rPr>
              <a:t>No per-instance importance; grass determinism stage not run</a:t>
            </a:r>
            <a:endParaRPr lang="en-US" sz="1300" dirty="0"/>
          </a:p>
        </p:txBody>
      </p:sp>
      <p:sp>
        <p:nvSpPr>
          <p:cNvPr id="13" name="Text 11"/>
          <p:cNvSpPr txBox="1"/>
          <p:nvPr/>
        </p:nvSpPr>
        <p:spPr>
          <a:xfrm>
            <a:off x="457200" y="4480560"/>
            <a:ext cx="2743200" cy="274320"/>
          </a:xfrm>
          <a:prstGeom prst="rect">
            <a:avLst/>
          </a:prstGeom>
          <a:noFill/>
          <a:ln/>
        </p:spPr>
        <p:txBody>
          <a:bodyPr wrap="square" lIns="0" tIns="0" rIns="0" bIns="0" rtlCol="0" anchor="t"/>
          <a:lstStyle/>
          <a:p>
            <a:pPr indent="0" marL="0">
              <a:buNone/>
            </a:pPr>
            <a:r>
              <a:rPr lang="en-US" sz="1600" b="1" dirty="0">
                <a:solidFill>
                  <a:srgbClr val="35D0E8"/>
                </a:solidFill>
                <a:latin typeface="Calibri" pitchFamily="34" charset="0"/>
                <a:ea typeface="Calibri" pitchFamily="34" charset="-122"/>
                <a:cs typeface="Calibri" pitchFamily="34" charset="-120"/>
              </a:rPr>
              <a:t>Future work</a:t>
            </a:r>
            <a:endParaRPr lang="en-US" sz="1600" dirty="0"/>
          </a:p>
        </p:txBody>
      </p:sp>
      <p:sp>
        <p:nvSpPr>
          <p:cNvPr id="14" name="Text 12"/>
          <p:cNvSpPr txBox="1"/>
          <p:nvPr/>
        </p:nvSpPr>
        <p:spPr>
          <a:xfrm>
            <a:off x="457200" y="4800600"/>
            <a:ext cx="11247120" cy="685800"/>
          </a:xfrm>
          <a:prstGeom prst="rect">
            <a:avLst/>
          </a:prstGeom>
          <a:noFill/>
          <a:ln/>
        </p:spPr>
        <p:txBody>
          <a:bodyPr wrap="square" lIns="0" tIns="0" rIns="0" bIns="0" rtlCol="0" anchor="t"/>
          <a:lstStyle/>
          <a:p>
            <a:pPr indent="0" marL="0">
              <a:buNone/>
            </a:pPr>
            <a:r>
              <a:rPr lang="en-US" sz="1300" dirty="0">
                <a:solidFill>
                  <a:srgbClr val="E6E9EF"/>
                </a:solidFill>
                <a:latin typeface="Calibri" pitchFamily="34" charset="0"/>
                <a:ea typeface="Calibri" pitchFamily="34" charset="-122"/>
                <a:cs typeface="Calibri" pitchFamily="34" charset="-120"/>
              </a:rPr>
              <a:t>Tune floors and caps, add cross-fade to remove pops, benchmark a release build with a GPU profiler, add a CPU-bound signal, extend runs across GPU power states, add SSIM or FLIP, and a systematic literature comparison.</a:t>
            </a:r>
            <a:endParaRPr lang="en-US" sz="1300" dirty="0"/>
          </a:p>
        </p:txBody>
      </p:sp>
      <p:sp>
        <p:nvSpPr>
          <p:cNvPr id="15" name="Shape 13"/>
          <p:cNvSpPr/>
          <p:nvPr/>
        </p:nvSpPr>
        <p:spPr>
          <a:xfrm>
            <a:off x="457200" y="5577840"/>
            <a:ext cx="11247120" cy="777240"/>
          </a:xfrm>
          <a:prstGeom prst="rect">
            <a:avLst/>
          </a:prstGeom>
          <a:solidFill>
            <a:srgbClr val="262C37"/>
          </a:solidFill>
          <a:ln w="15875">
            <a:solidFill>
              <a:srgbClr val="35D0E8"/>
            </a:solidFill>
            <a:prstDash val="solid"/>
          </a:ln>
        </p:spPr>
      </p:sp>
      <p:sp>
        <p:nvSpPr>
          <p:cNvPr id="16" name="Text 14"/>
          <p:cNvSpPr txBox="1"/>
          <p:nvPr/>
        </p:nvSpPr>
        <p:spPr>
          <a:xfrm>
            <a:off x="640080" y="5623560"/>
            <a:ext cx="10881360" cy="685800"/>
          </a:xfrm>
          <a:prstGeom prst="rect">
            <a:avLst/>
          </a:prstGeom>
          <a:noFill/>
          <a:ln/>
        </p:spPr>
        <p:txBody>
          <a:bodyPr wrap="square" lIns="0" tIns="0" rIns="0" bIns="0" rtlCol="0" anchor="ctr"/>
          <a:lstStyle/>
          <a:p>
            <a:pPr indent="0" marL="0">
              <a:buNone/>
            </a:pPr>
            <a:r>
              <a:rPr lang="en-US" sz="1400" b="1" dirty="0">
                <a:solidFill>
                  <a:srgbClr val="35D0E8"/>
                </a:solidFill>
                <a:latin typeface="Calibri" pitchFamily="34" charset="0"/>
                <a:ea typeface="Calibri" pitchFamily="34" charset="-122"/>
                <a:cs typeface="Calibri" pitchFamily="34" charset="-120"/>
              </a:rPr>
              <a:t>Takeaway  </a:t>
            </a:r>
            <a:pPr indent="0" marL="0">
              <a:buNone/>
            </a:pPr>
            <a:r>
              <a:rPr lang="en-US" sz="1400" dirty="0">
                <a:solidFill>
                  <a:srgbClr val="E6E9EF"/>
                </a:solidFill>
                <a:latin typeface="Calibri" pitchFamily="34" charset="0"/>
                <a:ea typeface="Calibri" pitchFamily="34" charset="-122"/>
                <a:cs typeface="Calibri" pitchFamily="34" charset="-120"/>
              </a:rPr>
              <a:t>Compared with drawing everything, adaptive LOD runs 4.5x (1080p) and 3.7x (1440p) faster in this scene. Most of that is distance LOD; the feedback controller adds a bounded safety margin when the GPU is over its target.</a:t>
            </a:r>
            <a:endParaRPr lang="en-US" sz="1400" dirty="0"/>
          </a:p>
        </p:txBody>
      </p:sp>
      <p:sp>
        <p:nvSpPr>
          <p:cNvPr id="25" name="Slide Number Placeholder 0"/>
          <p:cNvSpPr>
            <a:spLocks noGrp="1"/>
          </p:cNvSpPr>
          <p:nvPr>
            <p:ph type="sldNum" sz="quarter" idx="4294967295"/>
          </p:nvPr>
        </p:nvSpPr>
        <p:spPr>
          <a:xfrm>
            <a:off x="11247120" y="649224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B849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Level of Detail for Real-Time Rendering in Godot</dc:title>
  <dc:subject>PptxGenJS Presentation</dc:subject>
  <dc:creator>Shreeniwas Salian</dc:creator>
  <cp:lastModifiedBy>Shreeniwas Salian</cp:lastModifiedBy>
  <cp:revision>1</cp:revision>
  <dcterms:created xsi:type="dcterms:W3CDTF">2026-10-26T03:40:21Z</dcterms:created>
  <dcterms:modified xsi:type="dcterms:W3CDTF">2026-10-26T03:40:21Z</dcterms:modified>
</cp:coreProperties>
</file>