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6E9EF"/>
                </a:solidFill>
                <a:latin typeface="Calibri"/>
              </a:defRPr>
            </a:pPr>
            <a:r>
              <a:rPr sz="1200" b="0" i="0" u="none" strike="noStrike">
                <a:solidFill>
                  <a:srgbClr val="E6E9EF"/>
                </a:solidFill>
                <a:latin typeface="Calibri"/>
              </a:rPr>
              <a:t>Stress profile 2560x1440, 60 s runs (mean of 2)</a:t>
            </a:r>
          </a:p>
        </c:rich>
      </c:tx>
      <c:layout/>
      <c:overlay val="0"/>
    </c:title>
    <c:autoTitleDeleted val="0"/>
    <c:plotArea>
      <c:layout/>
      <c:barChart>
        <c:barDir val="col"/>
        <c:grouping val="clustered"/>
        <c:varyColors val="0"/>
        <c:ser>
          <c:idx val="0"/>
          <c:order val="0"/>
          <c:tx>
            <c:strRef>
              <c:f>Sheet1!$B$1</c:f>
              <c:strCache>
                <c:ptCount val="1"/>
                <c:pt idx="0">
                  <c:v>Baseline (n=2)</c:v>
                </c:pt>
              </c:strCache>
            </c:strRef>
          </c:tx>
          <c:spPr>
            <a:solidFill>
              <a:srgbClr val="7B8494"/>
            </a:solidFill>
            <a:effectLst/>
          </c:spPr>
          <c:invertIfNegative val="0"/>
          <c:dLbls>
            <c:numFmt formatCode="0.0" sourceLinked="0"/>
            <c:txPr>
              <a:bodyPr/>
              <a:lstStyle/>
              <a:p>
                <a:pPr>
                  <a:defRPr b="0" i="0" strike="noStrike" sz="1000" u="none">
                    <a:solidFill>
                      <a:srgbClr val="E6E9E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Average FPS</c:v>
                  </c:pt>
                  <c:pt idx="1">
                    <c:v>Median FPS</c:v>
                  </c:pt>
                  <c:pt idx="2">
                    <c:v>1% low FPS</c:v>
                  </c:pt>
                  <c:pt idx="3">
                    <c:v>Min FPS</c:v>
                  </c:pt>
                </c:lvl>
              </c:multiLvlStrCache>
            </c:multiLvlStrRef>
          </c:cat>
          <c:val>
            <c:numRef>
              <c:f>Sheet1!$B$2:$B$5</c:f>
              <c:numCache>
                <c:formatCode>General</c:formatCode>
                <c:ptCount val="4"/>
                <c:pt idx="0">
                  <c:v>31.5</c:v>
                </c:pt>
                <c:pt idx="1">
                  <c:v>31.6</c:v>
                </c:pt>
                <c:pt idx="2">
                  <c:v>22.5</c:v>
                </c:pt>
                <c:pt idx="3">
                  <c:v>20.6</c:v>
                </c:pt>
              </c:numCache>
            </c:numRef>
          </c:val>
        </c:ser>
        <c:ser>
          <c:idx val="1"/>
          <c:order val="1"/>
          <c:tx>
            <c:strRef>
              <c:f>Sheet1!$C$1</c:f>
              <c:strCache>
                <c:ptCount val="1"/>
                <c:pt idx="0">
                  <c:v>Adaptive (n=2)</c:v>
                </c:pt>
              </c:strCache>
            </c:strRef>
          </c:tx>
          <c:spPr>
            <a:solidFill>
              <a:srgbClr val="35D0E8"/>
            </a:solidFill>
            <a:effectLst/>
          </c:spPr>
          <c:invertIfNegative val="0"/>
          <c:dLbls>
            <c:numFmt formatCode="0.0" sourceLinked="0"/>
            <c:txPr>
              <a:bodyPr/>
              <a:lstStyle/>
              <a:p>
                <a:pPr>
                  <a:defRPr b="0" i="0" strike="noStrike" sz="1000" u="none">
                    <a:solidFill>
                      <a:srgbClr val="E6E9E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Average FPS</c:v>
                  </c:pt>
                  <c:pt idx="1">
                    <c:v>Median FPS</c:v>
                  </c:pt>
                  <c:pt idx="2">
                    <c:v>1% low FPS</c:v>
                  </c:pt>
                  <c:pt idx="3">
                    <c:v>Min FPS</c:v>
                  </c:pt>
                </c:lvl>
              </c:multiLvlStrCache>
            </c:multiLvlStrRef>
          </c:cat>
          <c:val>
            <c:numRef>
              <c:f>Sheet1!$C$2:$C$5</c:f>
              <c:numCache>
                <c:formatCode>General</c:formatCode>
                <c:ptCount val="4"/>
                <c:pt idx="0">
                  <c:v>33.4</c:v>
                </c:pt>
                <c:pt idx="1">
                  <c:v>33.3</c:v>
                </c:pt>
                <c:pt idx="2">
                  <c:v>23.5</c:v>
                </c:pt>
                <c:pt idx="3">
                  <c:v>21</c:v>
                </c:pt>
              </c:numCache>
            </c:numRef>
          </c:val>
        </c:ser>
        <c:dLbls>
          <c:numFmt formatCode="0.0" sourceLinked="0"/>
          <c:txPr>
            <a:bodyPr/>
            <a:lstStyle/>
            <a:p>
              <a:pPr>
                <a:defRPr b="0" i="0" strike="noStrike" sz="1000" u="none">
                  <a:solidFill>
                    <a:srgbClr val="E6E9E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2C3340"/>
              </a:solidFill>
              <a:prstDash val="solid"/>
              <a:round/>
            </a:ln>
          </c:spPr>
        </c:majorGridlines>
        <c:title>
          <c:tx>
            <c:rich>
              <a:bodyPr/>
              <a:lstStyle/>
              <a:p>
                <a:pPr>
                  <a:defRPr sz="1000" b="0" i="0" u="none" strike="noStrike">
                    <a:solidFill>
                      <a:srgbClr val="9AA3B2"/>
                    </a:solidFill>
                    <a:latin typeface="Arial"/>
                  </a:defRPr>
                </a:pPr>
                <a:r>
                  <a:rPr sz="1000" b="0" i="0" u="none" strike="noStrike">
                    <a:solidFill>
                      <a:srgbClr val="9AA3B2"/>
                    </a:solidFill>
                    <a:latin typeface="Arial"/>
                  </a:rPr>
                  <a:t>FPS (higher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6E9E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6E9EF"/>
                </a:solidFill>
                <a:latin typeface="Calibri"/>
              </a:defRPr>
            </a:pPr>
            <a:r>
              <a:rPr sz="1200" b="0" i="0" u="none" strike="noStrike">
                <a:solidFill>
                  <a:srgbClr val="E6E9EF"/>
                </a:solidFill>
                <a:latin typeface="Calibri"/>
              </a:rPr>
              <a:t>Stress run #1: FPS over time</a:t>
            </a:r>
          </a:p>
        </c:rich>
      </c:tx>
      <c:layout/>
      <c:overlay val="0"/>
    </c:title>
    <c:autoTitleDeleted val="0"/>
    <c:plotArea>
      <c:layout/>
      <c:lineChart>
        <c:varyColors val="0"/>
        <c:ser>
          <c:idx val="0"/>
          <c:order val="0"/>
          <c:tx>
            <c:strRef>
              <c:f>Sheet1!$B$1</c:f>
              <c:strCache>
                <c:ptCount val="1"/>
                <c:pt idx="0">
                  <c:v>Baseline #1</c:v>
                </c:pt>
              </c:strCache>
            </c:strRef>
          </c:tx>
          <c:spPr>
            <a:solidFill>
              <a:srgbClr val="7B8494"/>
            </a:solidFill>
            <a:ln w="25400" cap="flat">
              <a:solidFill>
                <a:srgbClr val="7B84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B8494"/>
              </a:solidFill>
              <a:ln w="9525" cap="flat">
                <a:solidFill>
                  <a:srgbClr val="7B8494"/>
                </a:solidFill>
                <a:prstDash val="solid"/>
                <a:round/>
              </a:ln>
              <a:effectLst/>
            </c:spPr>
          </c:marker>
          <c:cat>
            <c:multiLvlStrRef>
              <c:f>Sheet1!$A$2:$A$61</c:f>
              <c:multiLvlStrCache>
                <c:ptCount val="6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lvl>
              </c:multiLvlStrCache>
            </c:multiLvlStrRef>
          </c:cat>
          <c:val>
            <c:numRef>
              <c:f>Sheet1!$B$2:$B$61</c:f>
              <c:numCache>
                <c:formatCode>General</c:formatCode>
                <c:ptCount val="60"/>
                <c:pt idx="0">
                  <c:v>31</c:v>
                </c:pt>
                <c:pt idx="1">
                  <c:v>31</c:v>
                </c:pt>
                <c:pt idx="2">
                  <c:v>34</c:v>
                </c:pt>
                <c:pt idx="3">
                  <c:v>33</c:v>
                </c:pt>
                <c:pt idx="4">
                  <c:v>34</c:v>
                </c:pt>
                <c:pt idx="5">
                  <c:v>33</c:v>
                </c:pt>
                <c:pt idx="6">
                  <c:v>34</c:v>
                </c:pt>
                <c:pt idx="7">
                  <c:v>30</c:v>
                </c:pt>
                <c:pt idx="8">
                  <c:v>32</c:v>
                </c:pt>
                <c:pt idx="9">
                  <c:v>31</c:v>
                </c:pt>
                <c:pt idx="10">
                  <c:v>31</c:v>
                </c:pt>
                <c:pt idx="11">
                  <c:v>28</c:v>
                </c:pt>
                <c:pt idx="12">
                  <c:v>31</c:v>
                </c:pt>
                <c:pt idx="13">
                  <c:v>30</c:v>
                </c:pt>
                <c:pt idx="14">
                  <c:v>30</c:v>
                </c:pt>
                <c:pt idx="15">
                  <c:v>28</c:v>
                </c:pt>
                <c:pt idx="16">
                  <c:v>28</c:v>
                </c:pt>
                <c:pt idx="17">
                  <c:v>26</c:v>
                </c:pt>
                <c:pt idx="18">
                  <c:v>27</c:v>
                </c:pt>
                <c:pt idx="19">
                  <c:v>29</c:v>
                </c:pt>
                <c:pt idx="20">
                  <c:v>30</c:v>
                </c:pt>
                <c:pt idx="21">
                  <c:v>29</c:v>
                </c:pt>
                <c:pt idx="22">
                  <c:v>31</c:v>
                </c:pt>
                <c:pt idx="23">
                  <c:v>31</c:v>
                </c:pt>
                <c:pt idx="24">
                  <c:v>30</c:v>
                </c:pt>
                <c:pt idx="25">
                  <c:v>32</c:v>
                </c:pt>
                <c:pt idx="26">
                  <c:v>34</c:v>
                </c:pt>
                <c:pt idx="27">
                  <c:v>30</c:v>
                </c:pt>
                <c:pt idx="28">
                  <c:v>34</c:v>
                </c:pt>
                <c:pt idx="29">
                  <c:v>31</c:v>
                </c:pt>
                <c:pt idx="30">
                  <c:v>33</c:v>
                </c:pt>
                <c:pt idx="31">
                  <c:v>28</c:v>
                </c:pt>
                <c:pt idx="32">
                  <c:v>30</c:v>
                </c:pt>
                <c:pt idx="33">
                  <c:v>36</c:v>
                </c:pt>
                <c:pt idx="34">
                  <c:v>31</c:v>
                </c:pt>
                <c:pt idx="35">
                  <c:v>33</c:v>
                </c:pt>
                <c:pt idx="36">
                  <c:v>43</c:v>
                </c:pt>
                <c:pt idx="37">
                  <c:v>34</c:v>
                </c:pt>
                <c:pt idx="38">
                  <c:v>30</c:v>
                </c:pt>
                <c:pt idx="39">
                  <c:v>32</c:v>
                </c:pt>
                <c:pt idx="40">
                  <c:v>29</c:v>
                </c:pt>
                <c:pt idx="41">
                  <c:v>31</c:v>
                </c:pt>
                <c:pt idx="42">
                  <c:v>31</c:v>
                </c:pt>
                <c:pt idx="43">
                  <c:v>36</c:v>
                </c:pt>
                <c:pt idx="44">
                  <c:v>32</c:v>
                </c:pt>
                <c:pt idx="45">
                  <c:v>30</c:v>
                </c:pt>
                <c:pt idx="46">
                  <c:v>30</c:v>
                </c:pt>
                <c:pt idx="47">
                  <c:v>31</c:v>
                </c:pt>
                <c:pt idx="48">
                  <c:v>30</c:v>
                </c:pt>
                <c:pt idx="49">
                  <c:v>32</c:v>
                </c:pt>
                <c:pt idx="50">
                  <c:v>36</c:v>
                </c:pt>
                <c:pt idx="51">
                  <c:v>32</c:v>
                </c:pt>
                <c:pt idx="52">
                  <c:v>35</c:v>
                </c:pt>
                <c:pt idx="53">
                  <c:v>34</c:v>
                </c:pt>
                <c:pt idx="54">
                  <c:v>32</c:v>
                </c:pt>
                <c:pt idx="55">
                  <c:v>34</c:v>
                </c:pt>
                <c:pt idx="56">
                  <c:v>32</c:v>
                </c:pt>
                <c:pt idx="57">
                  <c:v>30</c:v>
                </c:pt>
                <c:pt idx="58">
                  <c:v>30</c:v>
                </c:pt>
                <c:pt idx="59">
                  <c:v>30</c:v>
                </c:pt>
              </c:numCache>
            </c:numRef>
          </c:val>
          <c:smooth val="0"/>
        </c:ser>
        <c:ser>
          <c:idx val="1"/>
          <c:order val="1"/>
          <c:tx>
            <c:strRef>
              <c:f>Sheet1!$C$1</c:f>
              <c:strCache>
                <c:ptCount val="1"/>
                <c:pt idx="0">
                  <c:v>Adaptive #1</c:v>
                </c:pt>
              </c:strCache>
            </c:strRef>
          </c:tx>
          <c:spPr>
            <a:solidFill>
              <a:srgbClr val="35D0E8"/>
            </a:solidFill>
            <a:ln w="25400" cap="flat">
              <a:solidFill>
                <a:srgbClr val="35D0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5D0E8"/>
              </a:solidFill>
              <a:ln w="9525" cap="flat">
                <a:solidFill>
                  <a:srgbClr val="35D0E8"/>
                </a:solidFill>
                <a:prstDash val="solid"/>
                <a:round/>
              </a:ln>
              <a:effectLst/>
            </c:spPr>
          </c:marker>
          <c:cat>
            <c:multiLvlStrRef>
              <c:f>Sheet1!$A$2:$A$61</c:f>
              <c:multiLvlStrCache>
                <c:ptCount val="6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lvl>
              </c:multiLvlStrCache>
            </c:multiLvlStrRef>
          </c:cat>
          <c:val>
            <c:numRef>
              <c:f>Sheet1!$C$2:$C$61</c:f>
              <c:numCache>
                <c:formatCode>General</c:formatCode>
                <c:ptCount val="60"/>
                <c:pt idx="0">
                  <c:v>33</c:v>
                </c:pt>
                <c:pt idx="1">
                  <c:v>32</c:v>
                </c:pt>
                <c:pt idx="2">
                  <c:v>31</c:v>
                </c:pt>
                <c:pt idx="3">
                  <c:v>31</c:v>
                </c:pt>
                <c:pt idx="4">
                  <c:v>33</c:v>
                </c:pt>
                <c:pt idx="5">
                  <c:v>31</c:v>
                </c:pt>
                <c:pt idx="6">
                  <c:v>35</c:v>
                </c:pt>
                <c:pt idx="7">
                  <c:v>35</c:v>
                </c:pt>
                <c:pt idx="8">
                  <c:v>36</c:v>
                </c:pt>
                <c:pt idx="9">
                  <c:v>36</c:v>
                </c:pt>
                <c:pt idx="10">
                  <c:v>34</c:v>
                </c:pt>
                <c:pt idx="11">
                  <c:v>31</c:v>
                </c:pt>
                <c:pt idx="12">
                  <c:v>29</c:v>
                </c:pt>
                <c:pt idx="13">
                  <c:v>29</c:v>
                </c:pt>
                <c:pt idx="14">
                  <c:v>28</c:v>
                </c:pt>
                <c:pt idx="15">
                  <c:v>27</c:v>
                </c:pt>
                <c:pt idx="16">
                  <c:v>28</c:v>
                </c:pt>
                <c:pt idx="17">
                  <c:v>28</c:v>
                </c:pt>
                <c:pt idx="18">
                  <c:v>32</c:v>
                </c:pt>
                <c:pt idx="19">
                  <c:v>33</c:v>
                </c:pt>
                <c:pt idx="20">
                  <c:v>34</c:v>
                </c:pt>
                <c:pt idx="21">
                  <c:v>32</c:v>
                </c:pt>
                <c:pt idx="22">
                  <c:v>30</c:v>
                </c:pt>
                <c:pt idx="23">
                  <c:v>31</c:v>
                </c:pt>
                <c:pt idx="24">
                  <c:v>30</c:v>
                </c:pt>
                <c:pt idx="25">
                  <c:v>32</c:v>
                </c:pt>
                <c:pt idx="26">
                  <c:v>36</c:v>
                </c:pt>
                <c:pt idx="27">
                  <c:v>34</c:v>
                </c:pt>
                <c:pt idx="28">
                  <c:v>41</c:v>
                </c:pt>
                <c:pt idx="29">
                  <c:v>37</c:v>
                </c:pt>
                <c:pt idx="30">
                  <c:v>39</c:v>
                </c:pt>
                <c:pt idx="31">
                  <c:v>33</c:v>
                </c:pt>
                <c:pt idx="32">
                  <c:v>30</c:v>
                </c:pt>
                <c:pt idx="33">
                  <c:v>36</c:v>
                </c:pt>
                <c:pt idx="34">
                  <c:v>31</c:v>
                </c:pt>
                <c:pt idx="35">
                  <c:v>32</c:v>
                </c:pt>
                <c:pt idx="36">
                  <c:v>41</c:v>
                </c:pt>
                <c:pt idx="37">
                  <c:v>37</c:v>
                </c:pt>
                <c:pt idx="38">
                  <c:v>36</c:v>
                </c:pt>
                <c:pt idx="39">
                  <c:v>38</c:v>
                </c:pt>
                <c:pt idx="40">
                  <c:v>32</c:v>
                </c:pt>
                <c:pt idx="41">
                  <c:v>35</c:v>
                </c:pt>
                <c:pt idx="42">
                  <c:v>32</c:v>
                </c:pt>
                <c:pt idx="43">
                  <c:v>34</c:v>
                </c:pt>
                <c:pt idx="44">
                  <c:v>32</c:v>
                </c:pt>
                <c:pt idx="45">
                  <c:v>30</c:v>
                </c:pt>
                <c:pt idx="46">
                  <c:v>30</c:v>
                </c:pt>
                <c:pt idx="47">
                  <c:v>35</c:v>
                </c:pt>
                <c:pt idx="48">
                  <c:v>35</c:v>
                </c:pt>
                <c:pt idx="49">
                  <c:v>37</c:v>
                </c:pt>
                <c:pt idx="50">
                  <c:v>41</c:v>
                </c:pt>
                <c:pt idx="51">
                  <c:v>38</c:v>
                </c:pt>
                <c:pt idx="52">
                  <c:v>36</c:v>
                </c:pt>
                <c:pt idx="53">
                  <c:v>35</c:v>
                </c:pt>
                <c:pt idx="54">
                  <c:v>32</c:v>
                </c:pt>
                <c:pt idx="55">
                  <c:v>34</c:v>
                </c:pt>
                <c:pt idx="56">
                  <c:v>31</c:v>
                </c:pt>
                <c:pt idx="57">
                  <c:v>33</c:v>
                </c:pt>
                <c:pt idx="58">
                  <c:v>34</c:v>
                </c:pt>
                <c:pt idx="59">
                  <c:v>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AA3B2"/>
                    </a:solidFill>
                    <a:latin typeface="Arial"/>
                  </a:defRPr>
                </a:pPr>
                <a:r>
                  <a:rPr sz="1000" b="0" i="0" u="none" strike="noStrike">
                    <a:solidFill>
                      <a:srgbClr val="9AA3B2"/>
                    </a:solidFill>
                    <a:latin typeface="Arial"/>
                  </a:rPr>
                  <a:t>time in measured run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2"/>
        <c:crosses val="autoZero"/>
        <c:auto val="1"/>
        <c:lblAlgn val="ctr"/>
        <c:noMultiLvlLbl val="1"/>
        <c:tickLblSkip val="10"/>
      </c:catAx>
      <c:valAx>
        <c:axId val="2094734552"/>
        <c:scaling>
          <c:orientation val="minMax"/>
          <c:max val="45"/>
          <c:min val="0"/>
        </c:scaling>
        <c:delete val="0"/>
        <c:axPos val="l"/>
        <c:majorGridlines>
          <c:spPr>
            <a:ln w="6350" cap="flat">
              <a:solidFill>
                <a:srgbClr val="2C3340"/>
              </a:solidFill>
              <a:prstDash val="solid"/>
              <a:round/>
            </a:ln>
          </c:spPr>
        </c:majorGridlines>
        <c:title>
          <c:tx>
            <c:rich>
              <a:bodyPr/>
              <a:lstStyle/>
              <a:p>
                <a:pPr>
                  <a:defRPr sz="1000" b="0" i="0" u="none" strike="noStrike">
                    <a:solidFill>
                      <a:srgbClr val="9AA3B2"/>
                    </a:solidFill>
                    <a:latin typeface="Arial"/>
                  </a:defRPr>
                </a:pPr>
                <a:r>
                  <a:rPr sz="1000" b="0" i="0" u="none" strike="noStrike">
                    <a:solidFill>
                      <a:srgbClr val="9AA3B2"/>
                    </a:solidFill>
                    <a:latin typeface="Arial"/>
                  </a:rPr>
                  <a:t>FPS per 1 s bin (higher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6E9E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asks a narrow question: if the renderer is over budget, can a controller coarsen vegetation detail automatically, in a stable and bounded way, and does that buy frame time? The scene is a Terrain3D forest with about 42 thousand vegetation instances plus a very dense grass field. I compared a fixed-threshold baseline against an adaptive version on the same scene and camera path. The honest summary, which I will build up to, is: the mechanism works and is bounded, the visual change is small, and the measured performance gain is small and only demonstrated in one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Rendering cost grows with triangles, draw calls and overdraw. LOD trades detail for cost by swapping to simpler representations with distance. The weakness of a fixed-distance scheme is that it does not know the frame budget: it draws the same detail whether the GPU is at 8 ms or 30 ms. The left side is general concept; the schematic is illustrative, not my meshes. The right side is what I actually built: a baseline with fixed thresholds for trees, grass, bushes and debris, and an adaptive mode that scales those same thresholds with one feedback-controlled bias. I also want to be clear about what is not there: no per-instance importance, no cross-fading, and bushes have no mesh LOD, only density thinning.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two halves. Along the top is the adaptive part, which only runs in adaptive mode: the GPU render time of the main viewport is smoothed, compared against a target, and a PI controller with rate limits produces one global bias between 0 and 2, which is mapped to a per-category bias. Along the bottom is what runs in both modes: for each tree, grass cell or chunk the policy compares camera distance in metres against thresholds, with hysteresis, and updates MultiMesh tiers under a change budget. With the bias at zero the thresholds are exactly the baseline, so the baseline is the adaptive system with the controller switched off. The snippet is the real threshold code: the effective threshold is baseline divided by one plus bias, but clamped by a floor in metres, so trees closer than 100 m can never be coarser than baseline LOD1. One precise point for the viva: the constraint is expressed as distance floors and per-category caps, not literally as a two-level limit; trees only have three mesh levels, so the coarsest possible step is LOD0 to LOD2, and the floors restrict where that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contributions, each with a status I can defend. One: thresholds that move with a controller instead of being fixed. Two: everything expressed in metres, so the behaviour is interpretable. Three: constrained coarsening. Here I need to be exact: what is implemented is distance floors for trees at 60 and 100 metres plus per-category caps, and a self-test shows zero trees within 100 m deviating from baseline at the maximum bias. That is not literally a two-level limit, so I mark it as partly matching. Four: the benchmark harness, with the same path hash and seed, interleaved runs, and full CSV and JSON output; the caveat is that machine state drifted. Five: the trade-off, where I have exact primitive counts and one stress-profile frame-time gain, but no perceptual quality metric yet. And I make no claim of global novelty because I did not do a literature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the project benchmark harness: Godot 4.7.2 in a debug editor build on an i7-8850H with a Quadro P3200, Forward+ on D3D12, VSync off and uncapped. The camera follows a fixed 528 metre path at 8 metres per second with a 10 second warm-up and 60 seconds measured. Baseline and adaptive runs were interleaved. Equivalent conditions: same scene, seed, path hash and resolution. Differences that threaten fairness: the machine GPU state changed between runs, which you can see in normal baseline number 1; the build is a debug editor build; and the results use an earlier controller mapping than the current code. Hardware items such as driver version and RAM were not recorded in the files, so I flag them as missing rather than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results slide. In the stress profile at 1440p, two baseline runs and two adaptive runs agree closely with each other: adaptive averages 33.4 FPS against 31.5, a 5.8 percent increase, and mean frame time drops from 31.7 to 29.95 ms, minus 5.5 percent; for frame time lower is better, so a negative change is an improvement. Main-pass primitives fall about 17 percent and draw calls about 10 percent in that profile. At 1080p the picture is different: baseline runs 2 and 3 and the adaptive runs are statistically indistinguishable, about minus 1.5 percent average FPS, so I claim nothing there. Baseline run 1 ran at 104 FPS because the GPU was in a different state; I show it rather than drop it. On the sub-10 FPS question: I checked every recorded run. No adaptive 60 second run has a frame under 10 FPS; the worst adaptive frame is 20.7 FPS. The only sub-10 frame in this series is in baseline number 1. So the severe drops you saw while playing are not in the saved logs. One hypothesis is the first-enable build, which takes roughly 0.7 to 1 second when you switch modes live, but that is untested. Also, the controller never reached its targets: 16.67 ms at 1080p and 8 ms in stress. The performance objective is therefore not achieved; only a small stress-profile gain was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captures from the project, same camera position, scene and seed. The top row is the full view; the bottom row is a crop of the left treeline and mid-field grass. The visible differences are modest: nearby trees are identical because of the floors, mid-field grass is thinner, and distant bushes are sparser. Main-pass primitives are 9 percent lower at this view. Image difference is a mean absolute pixel difference, which is a crude metric, not a perceptual one. This is a fixed-view probe with the bias pinned at 2.0, so it shows the extreme of the adaptive range rather than a live controller run. Tree mesh swaps still pop because there is no cross-fade. The video box is a placeholder: no recording is in the project files, so insert your own clip here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What works: the adaptive mechanism is implemented, bounded by floors and caps, and measured with a reproducible harness. What the data supports: a 5 to 6 percent frame-time gain in the stress profile, no measurable change at 1080p, and a small, localised visual change. What it does not support: that adaptive LOD reaches the frame-time targets, or that it fixes FPS instability. The severe drops I observed while playing are not in the saved logs, so I will not explain them as fact; the first-enable build is my leading hypothesis. Next steps are tuning, cross-fading, release-build profiling and more repeats on an idle machine. The takeaway: adaptive LOD gives a controllable, quality-preserving trade-off, but the benefit on this workload is small because terrain, shadows and the rest of the frame dominate the GPU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5181E"/>
        </a:solidFill>
      </p:bgPr>
    </p:bg>
    <p:spTree>
      <p:nvGrpSpPr>
        <p:cNvPr id="1" name=""/>
        <p:cNvGrpSpPr/>
        <p:nvPr/>
      </p:nvGrpSpPr>
      <p:grpSpPr>
        <a:xfrm>
          <a:off x="0" y="0"/>
          <a:ext cx="0" cy="0"/>
          <a:chOff x="0" y="0"/>
          <a:chExt cx="0" cy="0"/>
        </a:xfrm>
      </p:grpSpPr>
      <p:sp>
        <p:nvSpPr>
          <p:cNvPr id="2" name="Text 0"/>
          <p:cNvSpPr txBox="1"/>
          <p:nvPr/>
        </p:nvSpPr>
        <p:spPr>
          <a:xfrm>
            <a:off x="457200" y="6492240"/>
            <a:ext cx="5486400" cy="228600"/>
          </a:xfrm>
          <a:prstGeom prst="rect">
            <a:avLst/>
          </a:prstGeom>
          <a:noFill/>
          <a:ln/>
        </p:spPr>
        <p:txBody>
          <a:bodyPr wrap="square" lIns="0" tIns="0" rIns="0" bIns="0" rtlCol="0" anchor="ctr"/>
          <a:lstStyle/>
          <a:p>
            <a:pPr indent="0" marL="0">
              <a:buNone/>
            </a:pPr>
            <a:r>
              <a:rPr lang="en-US" sz="1000" dirty="0">
                <a:solidFill>
                  <a:srgbClr val="7B8494"/>
                </a:solidFill>
                <a:latin typeface="Calibri" pitchFamily="34" charset="0"/>
                <a:ea typeface="Calibri" pitchFamily="34" charset="-122"/>
                <a:cs typeface="Calibri" pitchFamily="34" charset="-120"/>
              </a:rPr>
              <a:t>Adaptive LOD in Godot  |  Shreeniwas Salian</a:t>
            </a:r>
            <a:endParaRPr lang="en-US" sz="10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5181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200" b="1" spc="200" kern="0" dirty="0">
                <a:solidFill>
                  <a:srgbClr val="35D0E8"/>
                </a:solidFill>
                <a:latin typeface="Calibri" pitchFamily="34" charset="0"/>
                <a:ea typeface="Calibri" pitchFamily="34" charset="-122"/>
                <a:cs typeface="Calibri" pitchFamily="34" charset="-120"/>
              </a:rPr>
              <a:t>COMPUTER GRAPHICS  |  GAME ENGINE ENGINEERING</a:t>
            </a:r>
            <a:endParaRPr lang="en-US" sz="1200" dirty="0"/>
          </a:p>
        </p:txBody>
      </p:sp>
      <p:sp>
        <p:nvSpPr>
          <p:cNvPr id="3" name="Text 1"/>
          <p:cNvSpPr txBox="1"/>
          <p:nvPr/>
        </p:nvSpPr>
        <p:spPr>
          <a:xfrm>
            <a:off x="548640" y="1097280"/>
            <a:ext cx="5394960" cy="1920240"/>
          </a:xfrm>
          <a:prstGeom prst="rect">
            <a:avLst/>
          </a:prstGeom>
          <a:noFill/>
          <a:ln/>
        </p:spPr>
        <p:txBody>
          <a:bodyPr wrap="square" lIns="0" tIns="0" rIns="0" bIns="0" rtlCol="0" anchor="t"/>
          <a:lstStyle/>
          <a:p>
            <a:pPr indent="0" marL="0">
              <a:buNone/>
            </a:pPr>
            <a:r>
              <a:rPr lang="en-US" sz="3800" b="1" dirty="0">
                <a:solidFill>
                  <a:srgbClr val="E6E9EF"/>
                </a:solidFill>
                <a:latin typeface="Cambria" pitchFamily="34" charset="0"/>
                <a:ea typeface="Cambria" pitchFamily="34" charset="-122"/>
                <a:cs typeface="Cambria" pitchFamily="34" charset="-120"/>
              </a:rPr>
              <a:t>Adaptive Level of Detail for Real-Time Rendering in Godot</a:t>
            </a:r>
            <a:endParaRPr lang="en-US" sz="3800" dirty="0"/>
          </a:p>
        </p:txBody>
      </p:sp>
      <p:sp>
        <p:nvSpPr>
          <p:cNvPr id="4" name="Text 2"/>
          <p:cNvSpPr txBox="1"/>
          <p:nvPr/>
        </p:nvSpPr>
        <p:spPr>
          <a:xfrm>
            <a:off x="548640" y="3154680"/>
            <a:ext cx="5303520" cy="822960"/>
          </a:xfrm>
          <a:prstGeom prst="rect">
            <a:avLst/>
          </a:prstGeom>
          <a:noFill/>
          <a:ln/>
        </p:spPr>
        <p:txBody>
          <a:bodyPr wrap="square" lIns="0" tIns="0" rIns="0" bIns="0" rtlCol="0" anchor="t"/>
          <a:lstStyle/>
          <a:p>
            <a:pPr indent="0" marL="0">
              <a:buNone/>
            </a:pPr>
            <a:r>
              <a:rPr lang="en-US" sz="1600" dirty="0">
                <a:solidFill>
                  <a:srgbClr val="9AA3B2"/>
                </a:solidFill>
                <a:latin typeface="Calibri" pitchFamily="34" charset="0"/>
                <a:ea typeface="Calibri" pitchFamily="34" charset="-122"/>
                <a:cs typeface="Calibri" pitchFamily="34" charset="-120"/>
              </a:rPr>
              <a:t>A feedback-controlled, distance-based LOD for vegetation, compared against a fixed-threshold baseline</a:t>
            </a:r>
            <a:endParaRPr lang="en-US" sz="1600" dirty="0"/>
          </a:p>
        </p:txBody>
      </p:sp>
      <p:sp>
        <p:nvSpPr>
          <p:cNvPr id="5" name="Text 3"/>
          <p:cNvSpPr txBox="1"/>
          <p:nvPr/>
        </p:nvSpPr>
        <p:spPr>
          <a:xfrm>
            <a:off x="548640" y="4114800"/>
            <a:ext cx="5303520" cy="365760"/>
          </a:xfrm>
          <a:prstGeom prst="rect">
            <a:avLst/>
          </a:prstGeom>
          <a:noFill/>
          <a:ln/>
        </p:spPr>
        <p:txBody>
          <a:bodyPr wrap="square" lIns="0" tIns="0" rIns="0" bIns="0" rtlCol="0" anchor="t"/>
          <a:lstStyle/>
          <a:p>
            <a:pPr indent="0" marL="0">
              <a:buNone/>
            </a:pPr>
            <a:r>
              <a:rPr lang="en-US" sz="2000" b="1" dirty="0">
                <a:solidFill>
                  <a:srgbClr val="E6E9EF"/>
                </a:solidFill>
                <a:latin typeface="Calibri" pitchFamily="34" charset="0"/>
                <a:ea typeface="Calibri" pitchFamily="34" charset="-122"/>
                <a:cs typeface="Calibri" pitchFamily="34" charset="-120"/>
              </a:rPr>
              <a:t>Shreeniwas Salian</a:t>
            </a:r>
            <a:endParaRPr lang="en-US" sz="2000" dirty="0"/>
          </a:p>
        </p:txBody>
      </p:sp>
      <p:sp>
        <p:nvSpPr>
          <p:cNvPr id="6" name="Shape 4"/>
          <p:cNvSpPr/>
          <p:nvPr/>
        </p:nvSpPr>
        <p:spPr>
          <a:xfrm>
            <a:off x="548640" y="4846320"/>
            <a:ext cx="5303520" cy="1051560"/>
          </a:xfrm>
          <a:prstGeom prst="rect">
            <a:avLst/>
          </a:prstGeom>
          <a:solidFill>
            <a:srgbClr val="1F242D"/>
          </a:solidFill>
          <a:ln w="9525">
            <a:solidFill>
              <a:srgbClr val="3A4150"/>
            </a:solidFill>
            <a:prstDash val="solid"/>
          </a:ln>
        </p:spPr>
      </p:sp>
      <p:sp>
        <p:nvSpPr>
          <p:cNvPr id="7" name="Text 5"/>
          <p:cNvSpPr txBox="1"/>
          <p:nvPr/>
        </p:nvSpPr>
        <p:spPr>
          <a:xfrm>
            <a:off x="731520" y="4956048"/>
            <a:ext cx="4937760" cy="1051560"/>
          </a:xfrm>
          <a:prstGeom prst="rect">
            <a:avLst/>
          </a:prstGeom>
          <a:noFill/>
          <a:ln/>
        </p:spPr>
        <p:txBody>
          <a:bodyPr wrap="square" lIns="0" tIns="0" rIns="0" bIns="0" rtlCol="0" anchor="t"/>
          <a:lstStyle/>
          <a:p>
            <a:pPr indent="0" marL="0">
              <a:buNone/>
            </a:pPr>
            <a:r>
              <a:rPr lang="en-US" sz="1400" b="1" dirty="0">
                <a:solidFill>
                  <a:srgbClr val="35D0E8"/>
                </a:solidFill>
                <a:latin typeface="Calibri" pitchFamily="34" charset="0"/>
                <a:ea typeface="Calibri" pitchFamily="34" charset="-122"/>
                <a:cs typeface="Calibri" pitchFamily="34" charset="-120"/>
              </a:rPr>
              <a:t>Problem  </a:t>
            </a:r>
            <a:pPr indent="0" marL="0">
              <a:buNone/>
            </a:pPr>
            <a:r>
              <a:rPr lang="en-US" sz="1400" dirty="0">
                <a:solidFill>
                  <a:srgbClr val="E6E9EF"/>
                </a:solidFill>
                <a:latin typeface="Calibri" pitchFamily="34" charset="0"/>
                <a:ea typeface="Calibri" pitchFamily="34" charset="-122"/>
                <a:cs typeface="Calibri" pitchFamily="34" charset="-120"/>
              </a:rPr>
              <a:t>Dense vegetation scenes cost frame time; fixed LOD distances cannot react when the GPU is overloaded, so detail is either wasted or cut blindly.</a:t>
            </a:r>
            <a:endParaRPr lang="en-US" sz="1400" dirty="0"/>
          </a:p>
        </p:txBody>
      </p:sp>
      <p:pic>
        <p:nvPicPr>
          <p:cNvPr id="8" name="Image 0" descr="Screenshot of the Godot benchmark scene">    </p:cNvPr>
          <p:cNvPicPr>
            <a:picLocks noChangeAspect="1"/>
          </p:cNvPicPr>
          <p:nvPr/>
        </p:nvPicPr>
        <p:blipFill>
          <a:blip r:embed="rId1"/>
          <a:stretch>
            <a:fillRect/>
          </a:stretch>
        </p:blipFill>
        <p:spPr>
          <a:xfrm>
            <a:off x="6309360" y="1234440"/>
            <a:ext cx="5394960" cy="3026664"/>
          </a:xfrm>
          <a:prstGeom prst="rect">
            <a:avLst/>
          </a:prstGeom>
        </p:spPr>
      </p:pic>
      <p:sp>
        <p:nvSpPr>
          <p:cNvPr id="9" name="Text 6"/>
          <p:cNvSpPr txBox="1"/>
          <p:nvPr/>
        </p:nvSpPr>
        <p:spPr>
          <a:xfrm>
            <a:off x="6309360" y="4343400"/>
            <a:ext cx="5394960" cy="457200"/>
          </a:xfrm>
          <a:prstGeom prst="rect">
            <a:avLst/>
          </a:prstGeom>
          <a:noFill/>
          <a:ln/>
        </p:spPr>
        <p:txBody>
          <a:bodyPr wrap="square" lIns="0" tIns="0" rIns="0" bIns="0" rtlCol="0" anchor="t"/>
          <a:lstStyle/>
          <a:p>
            <a:pPr indent="0" marL="0">
              <a:buNone/>
            </a:pPr>
            <a:r>
              <a:rPr lang="en-US" sz="1100" dirty="0">
                <a:solidFill>
                  <a:srgbClr val="9AA3B2"/>
                </a:solidFill>
                <a:latin typeface="Calibri" pitchFamily="34" charset="0"/>
                <a:ea typeface="Calibri" pitchFamily="34" charset="-122"/>
                <a:cs typeface="Calibri" pitchFamily="34" charset="-120"/>
              </a:rPr>
              <a:t>Real capture from the project (Godot 4.7.2, Terrain3D 1.0.2, 1920x1080, baseline LOD, fixed probe view at path start).</a:t>
            </a:r>
            <a:endParaRPr lang="en-US" sz="1100" dirty="0"/>
          </a:p>
        </p:txBody>
      </p:sp>
      <p:sp>
        <p:nvSpPr>
          <p:cNvPr id="10" name="Text 7"/>
          <p:cNvSpPr txBox="1"/>
          <p:nvPr/>
        </p:nvSpPr>
        <p:spPr>
          <a:xfrm>
            <a:off x="6309360" y="5029200"/>
            <a:ext cx="1737360" cy="457200"/>
          </a:xfrm>
          <a:prstGeom prst="rect">
            <a:avLst/>
          </a:prstGeom>
          <a:noFill/>
          <a:ln/>
        </p:spPr>
        <p:txBody>
          <a:bodyPr wrap="square" lIns="0" tIns="0" rIns="0" bIns="0" rtlCol="0" anchor="t"/>
          <a:lstStyle/>
          <a:p>
            <a:pPr indent="0" marL="0">
              <a:buNone/>
            </a:pPr>
            <a:r>
              <a:rPr lang="en-US" sz="2400" b="1" dirty="0">
                <a:solidFill>
                  <a:srgbClr val="35D0E8"/>
                </a:solidFill>
                <a:latin typeface="Calibri" pitchFamily="34" charset="0"/>
                <a:ea typeface="Calibri" pitchFamily="34" charset="-122"/>
                <a:cs typeface="Calibri" pitchFamily="34" charset="-120"/>
              </a:rPr>
              <a:t>41,698</a:t>
            </a:r>
            <a:endParaRPr lang="en-US" sz="2400" dirty="0"/>
          </a:p>
        </p:txBody>
      </p:sp>
      <p:sp>
        <p:nvSpPr>
          <p:cNvPr id="11" name="Text 8"/>
          <p:cNvSpPr txBox="1"/>
          <p:nvPr/>
        </p:nvSpPr>
        <p:spPr>
          <a:xfrm>
            <a:off x="6309360" y="5532120"/>
            <a:ext cx="1737360" cy="457200"/>
          </a:xfrm>
          <a:prstGeom prst="rect">
            <a:avLst/>
          </a:prstGeom>
          <a:noFill/>
          <a:ln/>
        </p:spPr>
        <p:txBody>
          <a:bodyPr wrap="square" lIns="0" tIns="0" rIns="0" bIns="0" rtlCol="0" anchor="t"/>
          <a:lstStyle/>
          <a:p>
            <a:pPr indent="0" marL="0">
              <a:buNone/>
            </a:pPr>
            <a:r>
              <a:rPr lang="en-US" sz="1200" dirty="0">
                <a:solidFill>
                  <a:srgbClr val="9AA3B2"/>
                </a:solidFill>
                <a:latin typeface="Calibri" pitchFamily="34" charset="0"/>
                <a:ea typeface="Calibri" pitchFamily="34" charset="-122"/>
                <a:cs typeface="Calibri" pitchFamily="34" charset="-120"/>
              </a:rPr>
              <a:t>vegetation instances</a:t>
            </a:r>
            <a:endParaRPr lang="en-US" sz="1200" dirty="0"/>
          </a:p>
        </p:txBody>
      </p:sp>
      <p:sp>
        <p:nvSpPr>
          <p:cNvPr id="12" name="Text 9"/>
          <p:cNvSpPr txBox="1"/>
          <p:nvPr/>
        </p:nvSpPr>
        <p:spPr>
          <a:xfrm>
            <a:off x="8138160" y="5029200"/>
            <a:ext cx="1737360" cy="457200"/>
          </a:xfrm>
          <a:prstGeom prst="rect">
            <a:avLst/>
          </a:prstGeom>
          <a:noFill/>
          <a:ln/>
        </p:spPr>
        <p:txBody>
          <a:bodyPr wrap="square" lIns="0" tIns="0" rIns="0" bIns="0" rtlCol="0" anchor="t"/>
          <a:lstStyle/>
          <a:p>
            <a:pPr indent="0" marL="0">
              <a:buNone/>
            </a:pPr>
            <a:r>
              <a:rPr lang="en-US" sz="2400" b="1" dirty="0">
                <a:solidFill>
                  <a:srgbClr val="35D0E8"/>
                </a:solidFill>
                <a:latin typeface="Calibri" pitchFamily="34" charset="0"/>
                <a:ea typeface="Calibri" pitchFamily="34" charset="-122"/>
                <a:cs typeface="Calibri" pitchFamily="34" charset="-120"/>
              </a:rPr>
              <a:t>528 m</a:t>
            </a:r>
            <a:endParaRPr lang="en-US" sz="2400" dirty="0"/>
          </a:p>
        </p:txBody>
      </p:sp>
      <p:sp>
        <p:nvSpPr>
          <p:cNvPr id="13" name="Text 10"/>
          <p:cNvSpPr txBox="1"/>
          <p:nvPr/>
        </p:nvSpPr>
        <p:spPr>
          <a:xfrm>
            <a:off x="8138160" y="5532120"/>
            <a:ext cx="1737360" cy="457200"/>
          </a:xfrm>
          <a:prstGeom prst="rect">
            <a:avLst/>
          </a:prstGeom>
          <a:noFill/>
          <a:ln/>
        </p:spPr>
        <p:txBody>
          <a:bodyPr wrap="square" lIns="0" tIns="0" rIns="0" bIns="0" rtlCol="0" anchor="t"/>
          <a:lstStyle/>
          <a:p>
            <a:pPr indent="0" marL="0">
              <a:buNone/>
            </a:pPr>
            <a:r>
              <a:rPr lang="en-US" sz="1200" dirty="0">
                <a:solidFill>
                  <a:srgbClr val="9AA3B2"/>
                </a:solidFill>
                <a:latin typeface="Calibri" pitchFamily="34" charset="0"/>
                <a:ea typeface="Calibri" pitchFamily="34" charset="-122"/>
                <a:cs typeface="Calibri" pitchFamily="34" charset="-120"/>
              </a:rPr>
              <a:t>fixed camera path</a:t>
            </a:r>
            <a:endParaRPr lang="en-US" sz="1200" dirty="0"/>
          </a:p>
        </p:txBody>
      </p:sp>
      <p:sp>
        <p:nvSpPr>
          <p:cNvPr id="14" name="Text 11"/>
          <p:cNvSpPr txBox="1"/>
          <p:nvPr/>
        </p:nvSpPr>
        <p:spPr>
          <a:xfrm>
            <a:off x="9966960" y="5029200"/>
            <a:ext cx="1737360" cy="457200"/>
          </a:xfrm>
          <a:prstGeom prst="rect">
            <a:avLst/>
          </a:prstGeom>
          <a:noFill/>
          <a:ln/>
        </p:spPr>
        <p:txBody>
          <a:bodyPr wrap="square" lIns="0" tIns="0" rIns="0" bIns="0" rtlCol="0" anchor="t"/>
          <a:lstStyle/>
          <a:p>
            <a:pPr indent="0" marL="0">
              <a:buNone/>
            </a:pPr>
            <a:r>
              <a:rPr lang="en-US" sz="2400" b="1" dirty="0">
                <a:solidFill>
                  <a:srgbClr val="A78BFA"/>
                </a:solidFill>
                <a:latin typeface="Calibri" pitchFamily="34" charset="0"/>
                <a:ea typeface="Calibri" pitchFamily="34" charset="-122"/>
                <a:cs typeface="Calibri" pitchFamily="34" charset="-120"/>
              </a:rPr>
              <a:t>3 modes</a:t>
            </a:r>
            <a:endParaRPr lang="en-US" sz="2400" dirty="0"/>
          </a:p>
        </p:txBody>
      </p:sp>
      <p:sp>
        <p:nvSpPr>
          <p:cNvPr id="15" name="Text 12"/>
          <p:cNvSpPr txBox="1"/>
          <p:nvPr/>
        </p:nvSpPr>
        <p:spPr>
          <a:xfrm>
            <a:off x="9966960" y="5532120"/>
            <a:ext cx="1737360" cy="457200"/>
          </a:xfrm>
          <a:prstGeom prst="rect">
            <a:avLst/>
          </a:prstGeom>
          <a:noFill/>
          <a:ln/>
        </p:spPr>
        <p:txBody>
          <a:bodyPr wrap="square" lIns="0" tIns="0" rIns="0" bIns="0" rtlCol="0" anchor="t"/>
          <a:lstStyle/>
          <a:p>
            <a:pPr indent="0" marL="0">
              <a:buNone/>
            </a:pPr>
            <a:r>
              <a:rPr lang="en-US" sz="1200" dirty="0">
                <a:solidFill>
                  <a:srgbClr val="9AA3B2"/>
                </a:solidFill>
                <a:latin typeface="Calibri" pitchFamily="34" charset="0"/>
                <a:ea typeface="Calibri" pitchFamily="34" charset="-122"/>
                <a:cs typeface="Calibri" pitchFamily="34" charset="-120"/>
              </a:rPr>
              <a:t>none / baseline / adaptive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PROBLEM AND MOTIVATION</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Why LOD, and where fixed thresholds fall short</a:t>
            </a:r>
            <a:endParaRPr lang="en-US" sz="3000" dirty="0"/>
          </a:p>
        </p:txBody>
      </p:sp>
      <p:sp>
        <p:nvSpPr>
          <p:cNvPr id="4" name="Shape 2"/>
          <p:cNvSpPr/>
          <p:nvPr/>
        </p:nvSpPr>
        <p:spPr>
          <a:xfrm>
            <a:off x="457200" y="1234440"/>
            <a:ext cx="5760720" cy="3246120"/>
          </a:xfrm>
          <a:prstGeom prst="rect">
            <a:avLst/>
          </a:prstGeom>
          <a:solidFill>
            <a:srgbClr val="1F242D"/>
          </a:solidFill>
          <a:ln w="9525">
            <a:solidFill>
              <a:srgbClr val="3A4150"/>
            </a:solidFill>
            <a:prstDash val="solid"/>
          </a:ln>
        </p:spPr>
      </p:sp>
      <p:pic>
        <p:nvPicPr>
          <p:cNvPr id="5" name="Image 0" descr="S:/godot/adaptivelod/presentation/charts/diagram_lod_levels_schematic.png">    </p:cNvPr>
          <p:cNvPicPr>
            <a:picLocks noChangeAspect="1"/>
          </p:cNvPicPr>
          <p:nvPr/>
        </p:nvPicPr>
        <p:blipFill>
          <a:blip r:embed="rId1"/>
          <a:stretch>
            <a:fillRect/>
          </a:stretch>
        </p:blipFill>
        <p:spPr>
          <a:xfrm>
            <a:off x="640080" y="1325880"/>
            <a:ext cx="5394960" cy="1801368"/>
          </a:xfrm>
          <a:prstGeom prst="rect">
            <a:avLst/>
          </a:prstGeom>
        </p:spPr>
      </p:pic>
      <p:sp>
        <p:nvSpPr>
          <p:cNvPr id="6" name="Text 3"/>
          <p:cNvSpPr txBox="1"/>
          <p:nvPr/>
        </p:nvSpPr>
        <p:spPr>
          <a:xfrm>
            <a:off x="640080" y="3127248"/>
            <a:ext cx="5394960" cy="228600"/>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Schematic only: polygon count falls as distance grows (not the project meshes).</a:t>
            </a:r>
            <a:endParaRPr lang="en-US" sz="1000" dirty="0"/>
          </a:p>
        </p:txBody>
      </p:sp>
      <p:sp>
        <p:nvSpPr>
          <p:cNvPr id="7" name="Shape 4"/>
          <p:cNvSpPr/>
          <p:nvPr/>
        </p:nvSpPr>
        <p:spPr>
          <a:xfrm>
            <a:off x="640080" y="3474720"/>
            <a:ext cx="1709928" cy="594360"/>
          </a:xfrm>
          <a:prstGeom prst="rect">
            <a:avLst/>
          </a:prstGeom>
          <a:solidFill>
            <a:srgbClr val="262C37"/>
          </a:solidFill>
          <a:ln w="12700">
            <a:solidFill>
              <a:srgbClr val="35D0E8"/>
            </a:solidFill>
            <a:prstDash val="solid"/>
          </a:ln>
        </p:spPr>
      </p:sp>
      <p:sp>
        <p:nvSpPr>
          <p:cNvPr id="8" name="Text 5"/>
          <p:cNvSpPr txBox="1"/>
          <p:nvPr/>
        </p:nvSpPr>
        <p:spPr>
          <a:xfrm>
            <a:off x="640080" y="3511296"/>
            <a:ext cx="1709928" cy="548640"/>
          </a:xfrm>
          <a:prstGeom prst="rect">
            <a:avLst/>
          </a:prstGeom>
          <a:noFill/>
          <a:ln/>
        </p:spPr>
        <p:txBody>
          <a:bodyPr wrap="square" lIns="0" tIns="0" rIns="0" bIns="0" rtlCol="0" anchor="t"/>
          <a:lstStyle/>
          <a:p>
            <a:pPr algn="ctr" indent="0" marL="0">
              <a:buNone/>
            </a:pPr>
            <a:r>
              <a:rPr lang="en-US" sz="1200" b="1" dirty="0">
                <a:solidFill>
                  <a:srgbClr val="35D0E8"/>
                </a:solidFill>
                <a:latin typeface="Calibri" pitchFamily="34" charset="0"/>
                <a:ea typeface="Calibri" pitchFamily="34" charset="-122"/>
                <a:cs typeface="Calibri" pitchFamily="34" charset="-120"/>
              </a:rPr>
              <a:t>LOD0</a:t>
            </a:r>
            <a:endParaRPr lang="en-US" sz="1200" dirty="0"/>
          </a:p>
          <a:p>
            <a:pPr algn="ctr" indent="0" marL="0">
              <a:buNone/>
            </a:pPr>
            <a:r>
              <a:rPr lang="en-US" sz="1200" dirty="0">
                <a:solidFill>
                  <a:srgbClr val="E6E9EF"/>
                </a:solidFill>
                <a:latin typeface="Calibri" pitchFamily="34" charset="0"/>
                <a:ea typeface="Calibri" pitchFamily="34" charset="-122"/>
                <a:cs typeface="Calibri" pitchFamily="34" charset="-120"/>
              </a:rPr>
              <a:t>0 to 60 m</a:t>
            </a:r>
            <a:endParaRPr lang="en-US" sz="1200" dirty="0"/>
          </a:p>
        </p:txBody>
      </p:sp>
      <p:sp>
        <p:nvSpPr>
          <p:cNvPr id="9" name="Shape 6"/>
          <p:cNvSpPr/>
          <p:nvPr/>
        </p:nvSpPr>
        <p:spPr>
          <a:xfrm>
            <a:off x="2441448" y="3474720"/>
            <a:ext cx="1709928" cy="594360"/>
          </a:xfrm>
          <a:prstGeom prst="rect">
            <a:avLst/>
          </a:prstGeom>
          <a:solidFill>
            <a:srgbClr val="262C37"/>
          </a:solidFill>
          <a:ln w="12700">
            <a:solidFill>
              <a:srgbClr val="A78BFA"/>
            </a:solidFill>
            <a:prstDash val="solid"/>
          </a:ln>
        </p:spPr>
      </p:sp>
      <p:sp>
        <p:nvSpPr>
          <p:cNvPr id="10" name="Text 7"/>
          <p:cNvSpPr txBox="1"/>
          <p:nvPr/>
        </p:nvSpPr>
        <p:spPr>
          <a:xfrm>
            <a:off x="2441448" y="3511296"/>
            <a:ext cx="1709928" cy="548640"/>
          </a:xfrm>
          <a:prstGeom prst="rect">
            <a:avLst/>
          </a:prstGeom>
          <a:noFill/>
          <a:ln/>
        </p:spPr>
        <p:txBody>
          <a:bodyPr wrap="square" lIns="0" tIns="0" rIns="0" bIns="0" rtlCol="0" anchor="t"/>
          <a:lstStyle/>
          <a:p>
            <a:pPr algn="ctr" indent="0" marL="0">
              <a:buNone/>
            </a:pPr>
            <a:r>
              <a:rPr lang="en-US" sz="1200" b="1" dirty="0">
                <a:solidFill>
                  <a:srgbClr val="A78BFA"/>
                </a:solidFill>
                <a:latin typeface="Calibri" pitchFamily="34" charset="0"/>
                <a:ea typeface="Calibri" pitchFamily="34" charset="-122"/>
                <a:cs typeface="Calibri" pitchFamily="34" charset="-120"/>
              </a:rPr>
              <a:t>LOD1</a:t>
            </a:r>
            <a:endParaRPr lang="en-US" sz="1200" dirty="0"/>
          </a:p>
          <a:p>
            <a:pPr algn="ctr" indent="0" marL="0">
              <a:buNone/>
            </a:pPr>
            <a:r>
              <a:rPr lang="en-US" sz="1200" dirty="0">
                <a:solidFill>
                  <a:srgbClr val="E6E9EF"/>
                </a:solidFill>
                <a:latin typeface="Calibri" pitchFamily="34" charset="0"/>
                <a:ea typeface="Calibri" pitchFamily="34" charset="-122"/>
                <a:cs typeface="Calibri" pitchFamily="34" charset="-120"/>
              </a:rPr>
              <a:t>60 to 150 m</a:t>
            </a:r>
            <a:endParaRPr lang="en-US" sz="1200" dirty="0"/>
          </a:p>
        </p:txBody>
      </p:sp>
      <p:sp>
        <p:nvSpPr>
          <p:cNvPr id="11" name="Shape 8"/>
          <p:cNvSpPr/>
          <p:nvPr/>
        </p:nvSpPr>
        <p:spPr>
          <a:xfrm>
            <a:off x="4242816" y="3474720"/>
            <a:ext cx="1709928" cy="594360"/>
          </a:xfrm>
          <a:prstGeom prst="rect">
            <a:avLst/>
          </a:prstGeom>
          <a:solidFill>
            <a:srgbClr val="262C37"/>
          </a:solidFill>
          <a:ln w="12700">
            <a:solidFill>
              <a:srgbClr val="7B8494"/>
            </a:solidFill>
            <a:prstDash val="solid"/>
          </a:ln>
        </p:spPr>
      </p:sp>
      <p:sp>
        <p:nvSpPr>
          <p:cNvPr id="12" name="Text 9"/>
          <p:cNvSpPr txBox="1"/>
          <p:nvPr/>
        </p:nvSpPr>
        <p:spPr>
          <a:xfrm>
            <a:off x="4242816" y="3511296"/>
            <a:ext cx="1709928" cy="548640"/>
          </a:xfrm>
          <a:prstGeom prst="rect">
            <a:avLst/>
          </a:prstGeom>
          <a:noFill/>
          <a:ln/>
        </p:spPr>
        <p:txBody>
          <a:bodyPr wrap="square" lIns="0" tIns="0" rIns="0" bIns="0" rtlCol="0" anchor="t"/>
          <a:lstStyle/>
          <a:p>
            <a:pPr algn="ctr" indent="0" marL="0">
              <a:buNone/>
            </a:pPr>
            <a:r>
              <a:rPr lang="en-US" sz="1200" b="1" dirty="0">
                <a:solidFill>
                  <a:srgbClr val="7B8494"/>
                </a:solidFill>
                <a:latin typeface="Calibri" pitchFamily="34" charset="0"/>
                <a:ea typeface="Calibri" pitchFamily="34" charset="-122"/>
                <a:cs typeface="Calibri" pitchFamily="34" charset="-120"/>
              </a:rPr>
              <a:t>LOD2</a:t>
            </a:r>
            <a:endParaRPr lang="en-US" sz="1200" dirty="0"/>
          </a:p>
          <a:p>
            <a:pPr algn="ctr" indent="0" marL="0">
              <a:buNone/>
            </a:pPr>
            <a:r>
              <a:rPr lang="en-US" sz="1200" dirty="0">
                <a:solidFill>
                  <a:srgbClr val="E6E9EF"/>
                </a:solidFill>
                <a:latin typeface="Calibri" pitchFamily="34" charset="0"/>
                <a:ea typeface="Calibri" pitchFamily="34" charset="-122"/>
                <a:cs typeface="Calibri" pitchFamily="34" charset="-120"/>
              </a:rPr>
              <a:t>beyond 150 m</a:t>
            </a:r>
            <a:endParaRPr lang="en-US" sz="1200" dirty="0"/>
          </a:p>
        </p:txBody>
      </p:sp>
      <p:sp>
        <p:nvSpPr>
          <p:cNvPr id="13" name="Text 10"/>
          <p:cNvSpPr txBox="1"/>
          <p:nvPr/>
        </p:nvSpPr>
        <p:spPr>
          <a:xfrm>
            <a:off x="640080" y="4114800"/>
            <a:ext cx="5394960" cy="228600"/>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Baseline tree thresholds from the code (60 m / 150 m, 10 m hysteresis).</a:t>
            </a:r>
            <a:endParaRPr lang="en-US" sz="1000" dirty="0"/>
          </a:p>
        </p:txBody>
      </p:sp>
      <p:sp>
        <p:nvSpPr>
          <p:cNvPr id="14" name="Text 11"/>
          <p:cNvSpPr txBox="1"/>
          <p:nvPr/>
        </p:nvSpPr>
        <p:spPr>
          <a:xfrm>
            <a:off x="457200" y="4663440"/>
            <a:ext cx="5760720" cy="274320"/>
          </a:xfrm>
          <a:prstGeom prst="rect">
            <a:avLst/>
          </a:prstGeom>
          <a:noFill/>
          <a:ln/>
        </p:spPr>
        <p:txBody>
          <a:bodyPr wrap="square" lIns="0" tIns="0" rIns="0" bIns="0" rtlCol="0" anchor="t"/>
          <a:lstStyle/>
          <a:p>
            <a:pPr indent="0" marL="0">
              <a:buNone/>
            </a:pPr>
            <a:r>
              <a:rPr lang="en-US" sz="1800" b="1" dirty="0">
                <a:solidFill>
                  <a:srgbClr val="35D0E8"/>
                </a:solidFill>
                <a:latin typeface="Calibri" pitchFamily="34" charset="0"/>
                <a:ea typeface="Calibri" pitchFamily="34" charset="-122"/>
                <a:cs typeface="Calibri" pitchFamily="34" charset="-120"/>
              </a:rPr>
              <a:t>General LOD concepts</a:t>
            </a:r>
            <a:endParaRPr lang="en-US" sz="1800" dirty="0"/>
          </a:p>
        </p:txBody>
      </p:sp>
      <p:sp>
        <p:nvSpPr>
          <p:cNvPr id="15" name="Text 12"/>
          <p:cNvSpPr txBox="1"/>
          <p:nvPr/>
        </p:nvSpPr>
        <p:spPr>
          <a:xfrm>
            <a:off x="457200" y="4983480"/>
            <a:ext cx="576072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E6E9EF"/>
                </a:solidFill>
                <a:latin typeface="Calibri" pitchFamily="34" charset="0"/>
                <a:ea typeface="Calibri" pitchFamily="34" charset="-122"/>
                <a:cs typeface="Calibri" pitchFamily="34" charset="-120"/>
              </a:rPr>
              <a:t>Cost scales with triangles, draw calls and overdraw</a:t>
            </a:r>
            <a:endParaRPr lang="en-US" sz="1400" dirty="0"/>
          </a:p>
          <a:p>
            <a:pPr marL="342900" indent="-342900">
              <a:spcAft>
                <a:spcPts val="500"/>
              </a:spcAft>
              <a:buSzPct val="100000"/>
              <a:buChar char="•"/>
            </a:pPr>
            <a:r>
              <a:rPr lang="en-US" sz="1400" dirty="0">
                <a:solidFill>
                  <a:srgbClr val="E6E9EF"/>
                </a:solidFill>
                <a:latin typeface="Calibri" pitchFamily="34" charset="0"/>
                <a:ea typeface="Calibri" pitchFamily="34" charset="-122"/>
                <a:cs typeface="Calibri" pitchFamily="34" charset="-120"/>
              </a:rPr>
              <a:t>Distant objects need fewer triangles for the same look</a:t>
            </a:r>
            <a:endParaRPr lang="en-US" sz="1400" dirty="0"/>
          </a:p>
          <a:p>
            <a:pPr marL="342900" indent="-342900">
              <a:spcAft>
                <a:spcPts val="500"/>
              </a:spcAft>
              <a:buSzPct val="100000"/>
              <a:buChar char="•"/>
            </a:pPr>
            <a:r>
              <a:rPr lang="en-US" sz="1400" dirty="0">
                <a:solidFill>
                  <a:srgbClr val="E6E9EF"/>
                </a:solidFill>
                <a:latin typeface="Calibri" pitchFamily="34" charset="0"/>
                <a:ea typeface="Calibri" pitchFamily="34" charset="-122"/>
                <a:cs typeface="Calibri" pitchFamily="34" charset="-120"/>
              </a:rPr>
              <a:t>Fixed distances ignore the actual frame budget</a:t>
            </a:r>
            <a:endParaRPr lang="en-US" sz="1400" dirty="0"/>
          </a:p>
        </p:txBody>
      </p:sp>
      <p:sp>
        <p:nvSpPr>
          <p:cNvPr id="16" name="Shape 13"/>
          <p:cNvSpPr/>
          <p:nvPr/>
        </p:nvSpPr>
        <p:spPr>
          <a:xfrm>
            <a:off x="6492240" y="1234440"/>
            <a:ext cx="5212080" cy="5074920"/>
          </a:xfrm>
          <a:prstGeom prst="rect">
            <a:avLst/>
          </a:prstGeom>
          <a:solidFill>
            <a:srgbClr val="1F242D"/>
          </a:solidFill>
          <a:ln w="9525">
            <a:solidFill>
              <a:srgbClr val="3A4150"/>
            </a:solidFill>
            <a:prstDash val="solid"/>
          </a:ln>
        </p:spPr>
      </p:sp>
      <p:sp>
        <p:nvSpPr>
          <p:cNvPr id="17" name="Text 14"/>
          <p:cNvSpPr txBox="1"/>
          <p:nvPr/>
        </p:nvSpPr>
        <p:spPr>
          <a:xfrm>
            <a:off x="6720840" y="1371600"/>
            <a:ext cx="4754880" cy="320040"/>
          </a:xfrm>
          <a:prstGeom prst="rect">
            <a:avLst/>
          </a:prstGeom>
          <a:noFill/>
          <a:ln/>
        </p:spPr>
        <p:txBody>
          <a:bodyPr wrap="square" lIns="0" tIns="0" rIns="0" bIns="0" rtlCol="0" anchor="t"/>
          <a:lstStyle/>
          <a:p>
            <a:pPr indent="0" marL="0">
              <a:buNone/>
            </a:pPr>
            <a:r>
              <a:rPr lang="en-US" sz="1800" b="1" dirty="0">
                <a:solidFill>
                  <a:srgbClr val="A78BFA"/>
                </a:solidFill>
                <a:latin typeface="Calibri" pitchFamily="34" charset="0"/>
                <a:ea typeface="Calibri" pitchFamily="34" charset="-122"/>
                <a:cs typeface="Calibri" pitchFamily="34" charset="-120"/>
              </a:rPr>
              <a:t>Implemented in this project</a:t>
            </a:r>
            <a:endParaRPr lang="en-US" sz="1800" dirty="0"/>
          </a:p>
        </p:txBody>
      </p:sp>
      <p:sp>
        <p:nvSpPr>
          <p:cNvPr id="18" name="Text 15"/>
          <p:cNvSpPr txBox="1"/>
          <p:nvPr/>
        </p:nvSpPr>
        <p:spPr>
          <a:xfrm>
            <a:off x="6720840" y="1783080"/>
            <a:ext cx="4800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Fixed-threshold baseline for 4 categories: trees (3 mesh levels), grass (3 tiers + cull), bushes and debris (density thinning)</a:t>
            </a:r>
            <a:endParaRPr lang="en-US" sz="1400" dirty="0"/>
          </a:p>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Adaptive mode: one PI-controlled bias scales the same thresholds from a measured GPU render time</a:t>
            </a:r>
            <a:endParaRPr lang="en-US" sz="1400" dirty="0"/>
          </a:p>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Hysteresis, rate limits and a per-update change budget to limit popping</a:t>
            </a:r>
            <a:endParaRPr lang="en-US" sz="1400" dirty="0"/>
          </a:p>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Same scene, seed and camera path for every mode</a:t>
            </a:r>
            <a:endParaRPr lang="en-US" sz="1400" dirty="0"/>
          </a:p>
        </p:txBody>
      </p:sp>
      <p:sp>
        <p:nvSpPr>
          <p:cNvPr id="19" name="Text 16"/>
          <p:cNvSpPr txBox="1"/>
          <p:nvPr/>
        </p:nvSpPr>
        <p:spPr>
          <a:xfrm>
            <a:off x="6720840" y="4572000"/>
            <a:ext cx="4754880" cy="320040"/>
          </a:xfrm>
          <a:prstGeom prst="rect">
            <a:avLst/>
          </a:prstGeom>
          <a:noFill/>
          <a:ln/>
        </p:spPr>
        <p:txBody>
          <a:bodyPr wrap="square" lIns="0" tIns="0" rIns="0" bIns="0" rtlCol="0" anchor="t"/>
          <a:lstStyle/>
          <a:p>
            <a:pPr indent="0" marL="0">
              <a:buNone/>
            </a:pPr>
            <a:r>
              <a:rPr lang="en-US" sz="1800" b="1" dirty="0">
                <a:solidFill>
                  <a:srgbClr val="F5B14C"/>
                </a:solidFill>
                <a:latin typeface="Calibri" pitchFamily="34" charset="0"/>
                <a:ea typeface="Calibri" pitchFamily="34" charset="-122"/>
                <a:cs typeface="Calibri" pitchFamily="34" charset="-120"/>
              </a:rPr>
              <a:t>Not implemented</a:t>
            </a:r>
            <a:endParaRPr lang="en-US" sz="1800" dirty="0"/>
          </a:p>
        </p:txBody>
      </p:sp>
      <p:sp>
        <p:nvSpPr>
          <p:cNvPr id="20" name="Text 17"/>
          <p:cNvSpPr txBox="1"/>
          <p:nvPr/>
        </p:nvSpPr>
        <p:spPr>
          <a:xfrm>
            <a:off x="6720840" y="4937760"/>
            <a:ext cx="4800600"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E6E9EF"/>
                </a:solidFill>
                <a:latin typeface="Calibri" pitchFamily="34" charset="0"/>
                <a:ea typeface="Calibri" pitchFamily="34" charset="-122"/>
                <a:cs typeface="Calibri" pitchFamily="34" charset="-120"/>
              </a:rPr>
              <a:t>Per-instance or screen-size importance</a:t>
            </a:r>
            <a:endParaRPr lang="en-US" sz="1400" dirty="0"/>
          </a:p>
          <a:p>
            <a:pPr marL="342900" indent="-342900">
              <a:spcAft>
                <a:spcPts val="300"/>
              </a:spcAft>
              <a:buSzPct val="100000"/>
              <a:buChar char="•"/>
            </a:pPr>
            <a:r>
              <a:rPr lang="en-US" sz="1400" dirty="0">
                <a:solidFill>
                  <a:srgbClr val="E6E9EF"/>
                </a:solidFill>
                <a:latin typeface="Calibri" pitchFamily="34" charset="0"/>
                <a:ea typeface="Calibri" pitchFamily="34" charset="-122"/>
                <a:cs typeface="Calibri" pitchFamily="34" charset="-120"/>
              </a:rPr>
              <a:t>Cross-fade or dither between mesh levels (trees still pop)</a:t>
            </a:r>
            <a:endParaRPr lang="en-US" sz="1400" dirty="0"/>
          </a:p>
          <a:p>
            <a:pPr marL="342900" indent="-342900">
              <a:spcAft>
                <a:spcPts val="300"/>
              </a:spcAft>
              <a:buSzPct val="100000"/>
              <a:buChar char="•"/>
            </a:pPr>
            <a:r>
              <a:rPr lang="en-US" sz="1400" dirty="0">
                <a:solidFill>
                  <a:srgbClr val="E6E9EF"/>
                </a:solidFill>
                <a:latin typeface="Calibri" pitchFamily="34" charset="0"/>
                <a:ea typeface="Calibri" pitchFamily="34" charset="-122"/>
                <a:cs typeface="Calibri" pitchFamily="34" charset="-120"/>
              </a:rPr>
              <a:t>Mesh LOD for bushes (density only)</a:t>
            </a:r>
            <a:endParaRPr lang="en-US" sz="14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Architecture: one controller bias scales fixed metre thresholds</a:t>
            </a:r>
            <a:endParaRPr lang="en-US" sz="3000" dirty="0"/>
          </a:p>
        </p:txBody>
      </p:sp>
      <p:sp>
        <p:nvSpPr>
          <p:cNvPr id="4" name="Text 2"/>
          <p:cNvSpPr txBox="1"/>
          <p:nvPr/>
        </p:nvSpPr>
        <p:spPr>
          <a:xfrm>
            <a:off x="502920" y="1188720"/>
            <a:ext cx="7315200" cy="228600"/>
          </a:xfrm>
          <a:prstGeom prst="rect">
            <a:avLst/>
          </a:prstGeom>
          <a:noFill/>
          <a:ln/>
        </p:spPr>
        <p:txBody>
          <a:bodyPr wrap="square" lIns="0" tIns="0" rIns="0" bIns="0" rtlCol="0" anchor="t"/>
          <a:lstStyle/>
          <a:p>
            <a:pPr indent="0" marL="0">
              <a:buNone/>
            </a:pPr>
            <a:r>
              <a:rPr lang="en-US" sz="1100" b="1" dirty="0">
                <a:solidFill>
                  <a:srgbClr val="A78BFA"/>
                </a:solidFill>
                <a:latin typeface="Calibri" pitchFamily="34" charset="0"/>
                <a:ea typeface="Calibri" pitchFamily="34" charset="-122"/>
                <a:cs typeface="Calibri" pitchFamily="34" charset="-120"/>
              </a:rPr>
              <a:t>ADAPTIVE MODE ONLY  (adaptive_lod.gd, pi_controller.gd)</a:t>
            </a:r>
            <a:endParaRPr lang="en-US" sz="1100" dirty="0"/>
          </a:p>
        </p:txBody>
      </p:sp>
      <p:sp>
        <p:nvSpPr>
          <p:cNvPr id="5" name="Shape 3"/>
          <p:cNvSpPr/>
          <p:nvPr/>
        </p:nvSpPr>
        <p:spPr>
          <a:xfrm>
            <a:off x="502920" y="1463040"/>
            <a:ext cx="2011680" cy="822960"/>
          </a:xfrm>
          <a:prstGeom prst="rect">
            <a:avLst/>
          </a:prstGeom>
          <a:solidFill>
            <a:srgbClr val="262C37"/>
          </a:solidFill>
          <a:ln w="15875">
            <a:solidFill>
              <a:srgbClr val="A78BFA"/>
            </a:solidFill>
            <a:prstDash val="solid"/>
          </a:ln>
        </p:spPr>
      </p:sp>
      <p:sp>
        <p:nvSpPr>
          <p:cNvPr id="6" name="Text 4"/>
          <p:cNvSpPr txBox="1"/>
          <p:nvPr/>
        </p:nvSpPr>
        <p:spPr>
          <a:xfrm>
            <a:off x="576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GPU render time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viewport measured time, VSync off</a:t>
            </a:r>
            <a:endParaRPr lang="en-US" sz="1200" dirty="0"/>
          </a:p>
        </p:txBody>
      </p:sp>
      <p:sp>
        <p:nvSpPr>
          <p:cNvPr id="7" name="Shape 5"/>
          <p:cNvSpPr/>
          <p:nvPr/>
        </p:nvSpPr>
        <p:spPr>
          <a:xfrm>
            <a:off x="2514600" y="1874520"/>
            <a:ext cx="274320" cy="0"/>
          </a:xfrm>
          <a:prstGeom prst="line">
            <a:avLst/>
          </a:prstGeom>
          <a:noFill/>
          <a:ln w="19050">
            <a:solidFill>
              <a:srgbClr val="A78BFA"/>
            </a:solidFill>
            <a:prstDash val="solid"/>
            <a:tailEnd type="triangle"/>
          </a:ln>
        </p:spPr>
      </p:sp>
      <p:sp>
        <p:nvSpPr>
          <p:cNvPr id="8" name="Shape 6"/>
          <p:cNvSpPr/>
          <p:nvPr/>
        </p:nvSpPr>
        <p:spPr>
          <a:xfrm>
            <a:off x="2788920" y="1463040"/>
            <a:ext cx="2011680" cy="822960"/>
          </a:xfrm>
          <a:prstGeom prst="rect">
            <a:avLst/>
          </a:prstGeom>
          <a:solidFill>
            <a:srgbClr val="262C37"/>
          </a:solidFill>
          <a:ln w="15875">
            <a:solidFill>
              <a:srgbClr val="A78BFA"/>
            </a:solidFill>
            <a:prstDash val="solid"/>
          </a:ln>
        </p:spPr>
      </p:sp>
      <p:sp>
        <p:nvSpPr>
          <p:cNvPr id="9" name="Text 7"/>
          <p:cNvSpPr txBox="1"/>
          <p:nvPr/>
        </p:nvSpPr>
        <p:spPr>
          <a:xfrm>
            <a:off x="2862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Smoothing</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EMA 0.5 s, spike clip 3x</a:t>
            </a:r>
            <a:endParaRPr lang="en-US" sz="1200" dirty="0"/>
          </a:p>
        </p:txBody>
      </p:sp>
      <p:sp>
        <p:nvSpPr>
          <p:cNvPr id="10" name="Shape 8"/>
          <p:cNvSpPr/>
          <p:nvPr/>
        </p:nvSpPr>
        <p:spPr>
          <a:xfrm>
            <a:off x="4800600" y="1874520"/>
            <a:ext cx="274320" cy="0"/>
          </a:xfrm>
          <a:prstGeom prst="line">
            <a:avLst/>
          </a:prstGeom>
          <a:noFill/>
          <a:ln w="19050">
            <a:solidFill>
              <a:srgbClr val="A78BFA"/>
            </a:solidFill>
            <a:prstDash val="solid"/>
            <a:tailEnd type="triangle"/>
          </a:ln>
        </p:spPr>
      </p:sp>
      <p:sp>
        <p:nvSpPr>
          <p:cNvPr id="11" name="Shape 9"/>
          <p:cNvSpPr/>
          <p:nvPr/>
        </p:nvSpPr>
        <p:spPr>
          <a:xfrm>
            <a:off x="5074920" y="1463040"/>
            <a:ext cx="2011680" cy="822960"/>
          </a:xfrm>
          <a:prstGeom prst="rect">
            <a:avLst/>
          </a:prstGeom>
          <a:solidFill>
            <a:srgbClr val="262C37"/>
          </a:solidFill>
          <a:ln w="15875">
            <a:solidFill>
              <a:srgbClr val="A78BFA"/>
            </a:solidFill>
            <a:prstDash val="solid"/>
          </a:ln>
        </p:spPr>
      </p:sp>
      <p:sp>
        <p:nvSpPr>
          <p:cNvPr id="12" name="Text 10"/>
          <p:cNvSpPr txBox="1"/>
          <p:nvPr/>
        </p:nvSpPr>
        <p:spPr>
          <a:xfrm>
            <a:off x="5148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PI controller</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target 16.67 ms, deadband 3%</a:t>
            </a:r>
            <a:endParaRPr lang="en-US" sz="1200" dirty="0"/>
          </a:p>
        </p:txBody>
      </p:sp>
      <p:sp>
        <p:nvSpPr>
          <p:cNvPr id="13" name="Shape 11"/>
          <p:cNvSpPr/>
          <p:nvPr/>
        </p:nvSpPr>
        <p:spPr>
          <a:xfrm>
            <a:off x="7086600" y="1874520"/>
            <a:ext cx="274320" cy="0"/>
          </a:xfrm>
          <a:prstGeom prst="line">
            <a:avLst/>
          </a:prstGeom>
          <a:noFill/>
          <a:ln w="19050">
            <a:solidFill>
              <a:srgbClr val="A78BFA"/>
            </a:solidFill>
            <a:prstDash val="solid"/>
            <a:tailEnd type="triangle"/>
          </a:ln>
        </p:spPr>
      </p:sp>
      <p:sp>
        <p:nvSpPr>
          <p:cNvPr id="14" name="Shape 12"/>
          <p:cNvSpPr/>
          <p:nvPr/>
        </p:nvSpPr>
        <p:spPr>
          <a:xfrm>
            <a:off x="7360920" y="1463040"/>
            <a:ext cx="2011680" cy="822960"/>
          </a:xfrm>
          <a:prstGeom prst="rect">
            <a:avLst/>
          </a:prstGeom>
          <a:solidFill>
            <a:srgbClr val="262C37"/>
          </a:solidFill>
          <a:ln w="15875">
            <a:solidFill>
              <a:srgbClr val="A78BFA"/>
            </a:solidFill>
            <a:prstDash val="solid"/>
          </a:ln>
        </p:spPr>
      </p:sp>
      <p:sp>
        <p:nvSpPr>
          <p:cNvPr id="15" name="Text 13"/>
          <p:cNvSpPr txBox="1"/>
          <p:nvPr/>
        </p:nvSpPr>
        <p:spPr>
          <a:xfrm>
            <a:off x="7434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Rate limits</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+0.10 up / -0.03 down per 0.25 s</a:t>
            </a:r>
            <a:endParaRPr lang="en-US" sz="1200" dirty="0"/>
          </a:p>
        </p:txBody>
      </p:sp>
      <p:sp>
        <p:nvSpPr>
          <p:cNvPr id="16" name="Shape 14"/>
          <p:cNvSpPr/>
          <p:nvPr/>
        </p:nvSpPr>
        <p:spPr>
          <a:xfrm>
            <a:off x="9372600" y="1874520"/>
            <a:ext cx="274320" cy="0"/>
          </a:xfrm>
          <a:prstGeom prst="line">
            <a:avLst/>
          </a:prstGeom>
          <a:noFill/>
          <a:ln w="19050">
            <a:solidFill>
              <a:srgbClr val="A78BFA"/>
            </a:solidFill>
            <a:prstDash val="solid"/>
            <a:tailEnd type="triangle"/>
          </a:ln>
        </p:spPr>
      </p:sp>
      <p:sp>
        <p:nvSpPr>
          <p:cNvPr id="17" name="Shape 15"/>
          <p:cNvSpPr/>
          <p:nvPr/>
        </p:nvSpPr>
        <p:spPr>
          <a:xfrm>
            <a:off x="9646920" y="1463040"/>
            <a:ext cx="2011680" cy="822960"/>
          </a:xfrm>
          <a:prstGeom prst="rect">
            <a:avLst/>
          </a:prstGeom>
          <a:solidFill>
            <a:srgbClr val="262C37"/>
          </a:solidFill>
          <a:ln w="15875">
            <a:solidFill>
              <a:srgbClr val="A78BFA"/>
            </a:solidFill>
            <a:prstDash val="solid"/>
          </a:ln>
        </p:spPr>
      </p:sp>
      <p:sp>
        <p:nvSpPr>
          <p:cNvPr id="18" name="Text 16"/>
          <p:cNvSpPr txBox="1"/>
          <p:nvPr/>
        </p:nvSpPr>
        <p:spPr>
          <a:xfrm>
            <a:off x="9720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Global bias 0..2</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then per-category onset, gain, cap</a:t>
            </a:r>
            <a:endParaRPr lang="en-US" sz="1200" dirty="0"/>
          </a:p>
        </p:txBody>
      </p:sp>
      <p:sp>
        <p:nvSpPr>
          <p:cNvPr id="19" name="Text 17"/>
          <p:cNvSpPr txBox="1"/>
          <p:nvPr/>
        </p:nvSpPr>
        <p:spPr>
          <a:xfrm>
            <a:off x="502920" y="2651760"/>
            <a:ext cx="9144000" cy="228600"/>
          </a:xfrm>
          <a:prstGeom prst="rect">
            <a:avLst/>
          </a:prstGeom>
          <a:noFill/>
          <a:ln/>
        </p:spPr>
        <p:txBody>
          <a:bodyPr wrap="square" lIns="0" tIns="0" rIns="0" bIns="0" rtlCol="0" anchor="t"/>
          <a:lstStyle/>
          <a:p>
            <a:pPr indent="0" marL="0">
              <a:buNone/>
            </a:pPr>
            <a:r>
              <a:rPr lang="en-US" sz="1100" b="1" dirty="0">
                <a:solidFill>
                  <a:srgbClr val="35D0E8"/>
                </a:solidFill>
                <a:latin typeface="Calibri" pitchFamily="34" charset="0"/>
                <a:ea typeface="Calibri" pitchFamily="34" charset="-122"/>
                <a:cs typeface="Calibri" pitchFamily="34" charset="-120"/>
              </a:rPr>
              <a:t>BOTH MODES  (lod_manager.gd, lod_policy.gd)</a:t>
            </a:r>
            <a:endParaRPr lang="en-US" sz="1100" dirty="0"/>
          </a:p>
        </p:txBody>
      </p:sp>
      <p:sp>
        <p:nvSpPr>
          <p:cNvPr id="20" name="Shape 18"/>
          <p:cNvSpPr/>
          <p:nvPr/>
        </p:nvSpPr>
        <p:spPr>
          <a:xfrm>
            <a:off x="502920" y="2926080"/>
            <a:ext cx="1691640" cy="914400"/>
          </a:xfrm>
          <a:prstGeom prst="rect">
            <a:avLst/>
          </a:prstGeom>
          <a:solidFill>
            <a:srgbClr val="262C37"/>
          </a:solidFill>
          <a:ln w="15875">
            <a:solidFill>
              <a:srgbClr val="35D0E8"/>
            </a:solidFill>
            <a:prstDash val="solid"/>
          </a:ln>
        </p:spPr>
      </p:sp>
      <p:sp>
        <p:nvSpPr>
          <p:cNvPr id="21" name="Text 19"/>
          <p:cNvSpPr txBox="1"/>
          <p:nvPr/>
        </p:nvSpPr>
        <p:spPr>
          <a:xfrm>
            <a:off x="576072"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Scene + camera path</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528 m, 8 m/s, seed 1337</a:t>
            </a:r>
            <a:endParaRPr lang="en-US" sz="1200" dirty="0"/>
          </a:p>
        </p:txBody>
      </p:sp>
      <p:sp>
        <p:nvSpPr>
          <p:cNvPr id="22" name="Shape 20"/>
          <p:cNvSpPr/>
          <p:nvPr/>
        </p:nvSpPr>
        <p:spPr>
          <a:xfrm>
            <a:off x="2194560" y="3383280"/>
            <a:ext cx="206654" cy="0"/>
          </a:xfrm>
          <a:prstGeom prst="line">
            <a:avLst/>
          </a:prstGeom>
          <a:noFill/>
          <a:ln w="19050">
            <a:solidFill>
              <a:srgbClr val="35D0E8"/>
            </a:solidFill>
            <a:prstDash val="solid"/>
            <a:tailEnd type="triangle"/>
          </a:ln>
        </p:spPr>
      </p:sp>
      <p:sp>
        <p:nvSpPr>
          <p:cNvPr id="23" name="Shape 21"/>
          <p:cNvSpPr/>
          <p:nvPr/>
        </p:nvSpPr>
        <p:spPr>
          <a:xfrm>
            <a:off x="2401214" y="2926080"/>
            <a:ext cx="1691640" cy="914400"/>
          </a:xfrm>
          <a:prstGeom prst="rect">
            <a:avLst/>
          </a:prstGeom>
          <a:solidFill>
            <a:srgbClr val="262C37"/>
          </a:solidFill>
          <a:ln w="15875">
            <a:solidFill>
              <a:srgbClr val="35D0E8"/>
            </a:solidFill>
            <a:prstDash val="solid"/>
          </a:ln>
        </p:spPr>
      </p:sp>
      <p:sp>
        <p:nvSpPr>
          <p:cNvPr id="24" name="Text 22"/>
          <p:cNvSpPr txBox="1"/>
          <p:nvPr/>
        </p:nvSpPr>
        <p:spPr>
          <a:xfrm>
            <a:off x="2474366"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Camera distance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metres, per chunk / cell / tree</a:t>
            </a:r>
            <a:endParaRPr lang="en-US" sz="1200" dirty="0"/>
          </a:p>
        </p:txBody>
      </p:sp>
      <p:sp>
        <p:nvSpPr>
          <p:cNvPr id="25" name="Shape 23"/>
          <p:cNvSpPr/>
          <p:nvPr/>
        </p:nvSpPr>
        <p:spPr>
          <a:xfrm>
            <a:off x="4092854" y="3383280"/>
            <a:ext cx="206654" cy="0"/>
          </a:xfrm>
          <a:prstGeom prst="line">
            <a:avLst/>
          </a:prstGeom>
          <a:noFill/>
          <a:ln w="19050">
            <a:solidFill>
              <a:srgbClr val="35D0E8"/>
            </a:solidFill>
            <a:prstDash val="solid"/>
            <a:tailEnd type="triangle"/>
          </a:ln>
        </p:spPr>
      </p:sp>
      <p:sp>
        <p:nvSpPr>
          <p:cNvPr id="26" name="Shape 24"/>
          <p:cNvSpPr/>
          <p:nvPr/>
        </p:nvSpPr>
        <p:spPr>
          <a:xfrm>
            <a:off x="4299509" y="2926080"/>
            <a:ext cx="1691640" cy="914400"/>
          </a:xfrm>
          <a:prstGeom prst="rect">
            <a:avLst/>
          </a:prstGeom>
          <a:solidFill>
            <a:srgbClr val="262C37"/>
          </a:solidFill>
          <a:ln w="15875">
            <a:solidFill>
              <a:srgbClr val="35D0E8"/>
            </a:solidFill>
            <a:prstDash val="solid"/>
          </a:ln>
        </p:spPr>
      </p:sp>
      <p:sp>
        <p:nvSpPr>
          <p:cNvPr id="27" name="Text 25"/>
          <p:cNvSpPr txBox="1"/>
          <p:nvPr/>
        </p:nvSpPr>
        <p:spPr>
          <a:xfrm>
            <a:off x="4372661"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LOD policy</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baseline: fixed thresholds</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adaptive: distance x (1+bias)</a:t>
            </a:r>
            <a:endParaRPr lang="en-US" sz="1200" dirty="0"/>
          </a:p>
        </p:txBody>
      </p:sp>
      <p:sp>
        <p:nvSpPr>
          <p:cNvPr id="28" name="Shape 26"/>
          <p:cNvSpPr/>
          <p:nvPr/>
        </p:nvSpPr>
        <p:spPr>
          <a:xfrm>
            <a:off x="5991149" y="3383280"/>
            <a:ext cx="206654" cy="0"/>
          </a:xfrm>
          <a:prstGeom prst="line">
            <a:avLst/>
          </a:prstGeom>
          <a:noFill/>
          <a:ln w="19050">
            <a:solidFill>
              <a:srgbClr val="35D0E8"/>
            </a:solidFill>
            <a:prstDash val="solid"/>
            <a:tailEnd type="triangle"/>
          </a:ln>
        </p:spPr>
      </p:sp>
      <p:sp>
        <p:nvSpPr>
          <p:cNvPr id="29" name="Shape 27"/>
          <p:cNvSpPr/>
          <p:nvPr/>
        </p:nvSpPr>
        <p:spPr>
          <a:xfrm>
            <a:off x="6197803" y="2926080"/>
            <a:ext cx="1691640" cy="914400"/>
          </a:xfrm>
          <a:prstGeom prst="rect">
            <a:avLst/>
          </a:prstGeom>
          <a:solidFill>
            <a:srgbClr val="262C37"/>
          </a:solidFill>
          <a:ln w="15875">
            <a:solidFill>
              <a:srgbClr val="35D0E8"/>
            </a:solidFill>
            <a:prstDash val="solid"/>
          </a:ln>
        </p:spPr>
      </p:sp>
      <p:sp>
        <p:nvSpPr>
          <p:cNvPr id="30" name="Text 28"/>
          <p:cNvSpPr txBox="1"/>
          <p:nvPr/>
        </p:nvSpPr>
        <p:spPr>
          <a:xfrm>
            <a:off x="6270955"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Detail update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MultiMesh tier / count, hysteresis, change budget</a:t>
            </a:r>
            <a:endParaRPr lang="en-US" sz="1200" dirty="0"/>
          </a:p>
        </p:txBody>
      </p:sp>
      <p:sp>
        <p:nvSpPr>
          <p:cNvPr id="31" name="Shape 29"/>
          <p:cNvSpPr/>
          <p:nvPr/>
        </p:nvSpPr>
        <p:spPr>
          <a:xfrm>
            <a:off x="7889443" y="3383280"/>
            <a:ext cx="206654" cy="0"/>
          </a:xfrm>
          <a:prstGeom prst="line">
            <a:avLst/>
          </a:prstGeom>
          <a:noFill/>
          <a:ln w="19050">
            <a:solidFill>
              <a:srgbClr val="35D0E8"/>
            </a:solidFill>
            <a:prstDash val="solid"/>
            <a:tailEnd type="triangle"/>
          </a:ln>
        </p:spPr>
      </p:sp>
      <p:sp>
        <p:nvSpPr>
          <p:cNvPr id="32" name="Shape 30"/>
          <p:cNvSpPr/>
          <p:nvPr/>
        </p:nvSpPr>
        <p:spPr>
          <a:xfrm>
            <a:off x="8096098" y="2926080"/>
            <a:ext cx="1691640" cy="914400"/>
          </a:xfrm>
          <a:prstGeom prst="rect">
            <a:avLst/>
          </a:prstGeom>
          <a:solidFill>
            <a:srgbClr val="262C37"/>
          </a:solidFill>
          <a:ln w="15875">
            <a:solidFill>
              <a:srgbClr val="35D0E8"/>
            </a:solidFill>
            <a:prstDash val="solid"/>
          </a:ln>
        </p:spPr>
      </p:sp>
      <p:sp>
        <p:nvSpPr>
          <p:cNvPr id="33" name="Text 31"/>
          <p:cNvSpPr txBox="1"/>
          <p:nvPr/>
        </p:nvSpPr>
        <p:spPr>
          <a:xfrm>
            <a:off x="8169250"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Rendered frame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MetricsSampler: frame, GPU, draws</a:t>
            </a:r>
            <a:endParaRPr lang="en-US" sz="1200" dirty="0"/>
          </a:p>
        </p:txBody>
      </p:sp>
      <p:sp>
        <p:nvSpPr>
          <p:cNvPr id="34" name="Shape 32"/>
          <p:cNvSpPr/>
          <p:nvPr/>
        </p:nvSpPr>
        <p:spPr>
          <a:xfrm>
            <a:off x="9787738" y="3383280"/>
            <a:ext cx="206654" cy="0"/>
          </a:xfrm>
          <a:prstGeom prst="line">
            <a:avLst/>
          </a:prstGeom>
          <a:noFill/>
          <a:ln w="19050">
            <a:solidFill>
              <a:srgbClr val="35D0E8"/>
            </a:solidFill>
            <a:prstDash val="solid"/>
            <a:tailEnd type="triangle"/>
          </a:ln>
        </p:spPr>
      </p:sp>
      <p:sp>
        <p:nvSpPr>
          <p:cNvPr id="35" name="Shape 33"/>
          <p:cNvSpPr/>
          <p:nvPr/>
        </p:nvSpPr>
        <p:spPr>
          <a:xfrm>
            <a:off x="9994392" y="2926080"/>
            <a:ext cx="1691640" cy="914400"/>
          </a:xfrm>
          <a:prstGeom prst="rect">
            <a:avLst/>
          </a:prstGeom>
          <a:solidFill>
            <a:srgbClr val="262C37"/>
          </a:solidFill>
          <a:ln w="15875">
            <a:solidFill>
              <a:srgbClr val="35D0E8"/>
            </a:solidFill>
            <a:prstDash val="solid"/>
          </a:ln>
        </p:spPr>
      </p:sp>
      <p:sp>
        <p:nvSpPr>
          <p:cNvPr id="36" name="Text 34"/>
          <p:cNvSpPr txBox="1"/>
          <p:nvPr/>
        </p:nvSpPr>
        <p:spPr>
          <a:xfrm>
            <a:off x="10067544"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CSV + JSON</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benchmark_summary: avg, p50, p95, p99</a:t>
            </a:r>
            <a:endParaRPr lang="en-US" sz="1200" dirty="0"/>
          </a:p>
        </p:txBody>
      </p:sp>
      <p:sp>
        <p:nvSpPr>
          <p:cNvPr id="37" name="Shape 35"/>
          <p:cNvSpPr/>
          <p:nvPr/>
        </p:nvSpPr>
        <p:spPr>
          <a:xfrm>
            <a:off x="10652760" y="2286000"/>
            <a:ext cx="0" cy="182880"/>
          </a:xfrm>
          <a:prstGeom prst="line">
            <a:avLst/>
          </a:prstGeom>
          <a:noFill/>
          <a:ln w="19050">
            <a:solidFill>
              <a:srgbClr val="A78BFA"/>
            </a:solidFill>
            <a:prstDash val="solid"/>
          </a:ln>
        </p:spPr>
      </p:sp>
      <p:sp>
        <p:nvSpPr>
          <p:cNvPr id="38" name="Shape 36"/>
          <p:cNvSpPr/>
          <p:nvPr/>
        </p:nvSpPr>
        <p:spPr>
          <a:xfrm>
            <a:off x="5145329" y="2468880"/>
            <a:ext cx="5507431" cy="0"/>
          </a:xfrm>
          <a:prstGeom prst="line">
            <a:avLst/>
          </a:prstGeom>
          <a:noFill/>
          <a:ln w="19050">
            <a:solidFill>
              <a:srgbClr val="A78BFA"/>
            </a:solidFill>
            <a:prstDash val="solid"/>
          </a:ln>
        </p:spPr>
      </p:sp>
      <p:sp>
        <p:nvSpPr>
          <p:cNvPr id="39" name="Shape 37"/>
          <p:cNvSpPr/>
          <p:nvPr/>
        </p:nvSpPr>
        <p:spPr>
          <a:xfrm>
            <a:off x="5145329" y="2468880"/>
            <a:ext cx="0" cy="457200"/>
          </a:xfrm>
          <a:prstGeom prst="line">
            <a:avLst/>
          </a:prstGeom>
          <a:noFill/>
          <a:ln w="19050">
            <a:solidFill>
              <a:srgbClr val="A78BFA"/>
            </a:solidFill>
            <a:prstDash val="solid"/>
            <a:tailEnd type="triangle"/>
          </a:ln>
        </p:spPr>
      </p:sp>
      <p:sp>
        <p:nvSpPr>
          <p:cNvPr id="40" name="Text 38"/>
          <p:cNvSpPr txBox="1"/>
          <p:nvPr/>
        </p:nvSpPr>
        <p:spPr>
          <a:xfrm>
            <a:off x="5236769" y="2487168"/>
            <a:ext cx="548640" cy="201168"/>
          </a:xfrm>
          <a:prstGeom prst="rect">
            <a:avLst/>
          </a:prstGeom>
          <a:noFill/>
          <a:ln/>
        </p:spPr>
        <p:txBody>
          <a:bodyPr wrap="square" lIns="0" tIns="0" rIns="0" bIns="0" rtlCol="0" anchor="t"/>
          <a:lstStyle/>
          <a:p>
            <a:pPr indent="0" marL="0">
              <a:buNone/>
            </a:pPr>
            <a:r>
              <a:rPr lang="en-US" sz="1000" b="1" dirty="0">
                <a:solidFill>
                  <a:srgbClr val="A78BFA"/>
                </a:solidFill>
                <a:latin typeface="Calibri" pitchFamily="34" charset="0"/>
                <a:ea typeface="Calibri" pitchFamily="34" charset="-122"/>
                <a:cs typeface="Calibri" pitchFamily="34" charset="-120"/>
              </a:rPr>
              <a:t>bias</a:t>
            </a:r>
            <a:endParaRPr lang="en-US" sz="1000" dirty="0"/>
          </a:p>
        </p:txBody>
      </p:sp>
      <p:sp>
        <p:nvSpPr>
          <p:cNvPr id="41" name="Shape 39"/>
          <p:cNvSpPr/>
          <p:nvPr/>
        </p:nvSpPr>
        <p:spPr>
          <a:xfrm>
            <a:off x="502920" y="4069080"/>
            <a:ext cx="3611880" cy="2286000"/>
          </a:xfrm>
          <a:prstGeom prst="rect">
            <a:avLst/>
          </a:prstGeom>
          <a:solidFill>
            <a:srgbClr val="1F242D"/>
          </a:solidFill>
          <a:ln w="9525">
            <a:solidFill>
              <a:srgbClr val="3A4150"/>
            </a:solidFill>
            <a:prstDash val="solid"/>
          </a:ln>
        </p:spPr>
      </p:sp>
      <p:sp>
        <p:nvSpPr>
          <p:cNvPr id="42" name="Text 40"/>
          <p:cNvSpPr txBox="1"/>
          <p:nvPr/>
        </p:nvSpPr>
        <p:spPr>
          <a:xfrm>
            <a:off x="640080" y="4133088"/>
            <a:ext cx="3383280" cy="274320"/>
          </a:xfrm>
          <a:prstGeom prst="rect">
            <a:avLst/>
          </a:prstGeom>
          <a:noFill/>
          <a:ln/>
        </p:spPr>
        <p:txBody>
          <a:bodyPr wrap="square" lIns="0" tIns="0" rIns="0" bIns="0" rtlCol="0" anchor="t"/>
          <a:lstStyle/>
          <a:p>
            <a:pPr indent="0" marL="0">
              <a:buNone/>
            </a:pPr>
            <a:r>
              <a:rPr lang="en-US" sz="1500" b="1" dirty="0">
                <a:solidFill>
                  <a:srgbClr val="35D0E8"/>
                </a:solidFill>
                <a:latin typeface="Calibri" pitchFamily="34" charset="0"/>
                <a:ea typeface="Calibri" pitchFamily="34" charset="-122"/>
                <a:cs typeface="Calibri" pitchFamily="34" charset="-120"/>
              </a:rPr>
              <a:t>Thresholds in metres</a:t>
            </a:r>
            <a:endParaRPr lang="en-US" sz="1500" dirty="0"/>
          </a:p>
        </p:txBody>
      </p:sp>
      <p:sp>
        <p:nvSpPr>
          <p:cNvPr id="43" name="Text 41"/>
          <p:cNvSpPr txBox="1"/>
          <p:nvPr/>
        </p:nvSpPr>
        <p:spPr>
          <a:xfrm>
            <a:off x="640080" y="4434840"/>
            <a:ext cx="3383280" cy="18745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Trees: effective = max(floor, base / (1 + bias)), never above base</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Hysteresis added in metres (10 m)</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Bias 0 gives exactly the baseline, so the same code serves both modes</a:t>
            </a:r>
            <a:endParaRPr lang="en-US" sz="1200" dirty="0"/>
          </a:p>
        </p:txBody>
      </p:sp>
      <p:sp>
        <p:nvSpPr>
          <p:cNvPr id="44" name="Shape 42"/>
          <p:cNvSpPr/>
          <p:nvPr/>
        </p:nvSpPr>
        <p:spPr>
          <a:xfrm>
            <a:off x="4251960" y="4069080"/>
            <a:ext cx="3611880" cy="2286000"/>
          </a:xfrm>
          <a:prstGeom prst="rect">
            <a:avLst/>
          </a:prstGeom>
          <a:solidFill>
            <a:srgbClr val="1F242D"/>
          </a:solidFill>
          <a:ln w="9525">
            <a:solidFill>
              <a:srgbClr val="3A4150"/>
            </a:solidFill>
            <a:prstDash val="solid"/>
          </a:ln>
        </p:spPr>
      </p:sp>
      <p:sp>
        <p:nvSpPr>
          <p:cNvPr id="45" name="Text 43"/>
          <p:cNvSpPr txBox="1"/>
          <p:nvPr/>
        </p:nvSpPr>
        <p:spPr>
          <a:xfrm>
            <a:off x="4389120" y="4133088"/>
            <a:ext cx="3383280" cy="274320"/>
          </a:xfrm>
          <a:prstGeom prst="rect">
            <a:avLst/>
          </a:prstGeom>
          <a:noFill/>
          <a:ln/>
        </p:spPr>
        <p:txBody>
          <a:bodyPr wrap="square" lIns="0" tIns="0" rIns="0" bIns="0" rtlCol="0" anchor="t"/>
          <a:lstStyle/>
          <a:p>
            <a:pPr indent="0" marL="0">
              <a:buNone/>
            </a:pPr>
            <a:r>
              <a:rPr lang="en-US" sz="1500" b="1" dirty="0">
                <a:solidFill>
                  <a:srgbClr val="35D0E8"/>
                </a:solidFill>
                <a:latin typeface="Calibri" pitchFamily="34" charset="0"/>
                <a:ea typeface="Calibri" pitchFamily="34" charset="-122"/>
                <a:cs typeface="Calibri" pitchFamily="34" charset="-120"/>
              </a:rPr>
              <a:t>Bounded coarsening</a:t>
            </a:r>
            <a:endParaRPr lang="en-US" sz="1500" dirty="0"/>
          </a:p>
        </p:txBody>
      </p:sp>
      <p:sp>
        <p:nvSpPr>
          <p:cNvPr id="46" name="Text 44"/>
          <p:cNvSpPr txBox="1"/>
          <p:nvPr/>
        </p:nvSpPr>
        <p:spPr>
          <a:xfrm>
            <a:off x="4389120" y="4434840"/>
            <a:ext cx="3383280" cy="18745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Tree floors: LOD1 never before 60 m, LOD2 never before 100 m</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Per-category caps: grass 1.0, trees 1.0, bushes 0.5, debris 0.5</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bias_min 0: never finer than baseline. bias_max 2.0</a:t>
            </a:r>
            <a:endParaRPr lang="en-US" sz="1200" dirty="0"/>
          </a:p>
        </p:txBody>
      </p:sp>
      <p:sp>
        <p:nvSpPr>
          <p:cNvPr id="47" name="Shape 45"/>
          <p:cNvSpPr/>
          <p:nvPr/>
        </p:nvSpPr>
        <p:spPr>
          <a:xfrm>
            <a:off x="8001000" y="4069080"/>
            <a:ext cx="3703320" cy="2286000"/>
          </a:xfrm>
          <a:prstGeom prst="rect">
            <a:avLst/>
          </a:prstGeom>
          <a:solidFill>
            <a:srgbClr val="0E1116"/>
          </a:solidFill>
          <a:ln w="9525">
            <a:solidFill>
              <a:srgbClr val="3A4150"/>
            </a:solidFill>
            <a:prstDash val="solid"/>
          </a:ln>
        </p:spPr>
      </p:sp>
      <p:sp>
        <p:nvSpPr>
          <p:cNvPr id="48" name="Text 46"/>
          <p:cNvSpPr txBox="1"/>
          <p:nvPr/>
        </p:nvSpPr>
        <p:spPr>
          <a:xfrm>
            <a:off x="8119872" y="4114800"/>
            <a:ext cx="3474720" cy="201168"/>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baseline_lod.gd: _rebuild_thresholds()</a:t>
            </a:r>
            <a:endParaRPr lang="en-US" sz="1000" dirty="0"/>
          </a:p>
        </p:txBody>
      </p:sp>
      <p:sp>
        <p:nvSpPr>
          <p:cNvPr id="49" name="Text 47"/>
          <p:cNvSpPr txBox="1"/>
          <p:nvPr/>
        </p:nvSpPr>
        <p:spPr>
          <a:xfrm>
            <a:off x="8119872" y="4389120"/>
            <a:ext cx="3520440" cy="1874520"/>
          </a:xfrm>
          <a:prstGeom prst="rect">
            <a:avLst/>
          </a:prstGeom>
          <a:noFill/>
          <a:ln/>
        </p:spPr>
        <p:txBody>
          <a:bodyPr wrap="square" lIns="0" tIns="0" rIns="0" bIns="0" rtlCol="0" anchor="t"/>
          <a:lstStyle/>
          <a:p>
            <a:pPr indent="0" marL="0">
              <a:buNone/>
            </a:pPr>
            <a:r>
              <a:rPr lang="en-US" sz="1100" dirty="0">
                <a:solidFill>
                  <a:srgbClr val="35D0E8"/>
                </a:solidFill>
                <a:latin typeface="Courier New" pitchFamily="34" charset="0"/>
                <a:ea typeface="Courier New" pitchFamily="34" charset="-122"/>
                <a:cs typeface="Courier New" pitchFamily="34" charset="-120"/>
              </a:rPr>
              <a:t>for i in 2:</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var effective: float = base[i] / _dist_scale</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if _dist_scale &gt; 1.0:  # coarser</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effective = minf(base[i],</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maxf(effective, floors[i]))</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_thresholds[i] = effective</a:t>
            </a:r>
            <a:endParaRPr lang="en-US" sz="11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NOVELTY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Technical contributions, and what the evidence supports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1691640"/>
                <a:gridCol w="1554480"/>
                <a:gridCol w="2423160"/>
                <a:gridCol w="1600200"/>
                <a:gridCol w="2926080"/>
                <a:gridCol w="1051560"/>
              </a:tblGrid>
              <a:tr h="320040">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Contribution</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Baseline does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Adaptive changes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r>
              <a:tr h="777240">
                <a:tc>
                  <a:txBody>
                    <a:bodyPr/>
                    <a:lstStyle/>
                    <a:p>
                      <a:pPr indent="0" marL="0">
                        <a:buNone/>
                      </a:pPr>
                      <a:r>
                        <a:rPr lang="en-US" sz="1050" b="1" dirty="0">
                          <a:solidFill>
                            <a:srgbClr val="E6E9EF"/>
                          </a:solidFill>
                          <a:latin typeface="Calibri" pitchFamily="34" charset="0"/>
                          <a:ea typeface="Calibri" pitchFamily="34" charset="-122"/>
                          <a:cs typeface="Calibri" pitchFamily="34" charset="-120"/>
                        </a:rPr>
                        <a:t>1  Adaptive thresholds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Fixed distances, 60 / 150 m for trees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One PI-controlled bias scales all thresholds from GPU time</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Reacts to load instead of ignoring it</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Controller self-tests (documented passing); bias saturates at 2.0 in stress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b="1" dirty="0">
                          <a:solidFill>
                            <a:srgbClr val="35D0E8"/>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050" b="1" dirty="0">
                          <a:solidFill>
                            <a:srgbClr val="E6E9EF"/>
                          </a:solidFill>
                          <a:latin typeface="Calibri" pitchFamily="34" charset="0"/>
                          <a:ea typeface="Calibri" pitchFamily="34" charset="-122"/>
                          <a:cs typeface="Calibri" pitchFamily="34" charset="-120"/>
                        </a:rPr>
                        <a:t>2  Real-world units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Metres, fixed</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Floors, caps and hysteresis in metres; coarser = distance x (1+bias)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Visible effect is predictable and tunable in scene units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Code + tests: tree LOD never differs from baseline within 100 m</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b="1" dirty="0">
                          <a:solidFill>
                            <a:srgbClr val="35D0E8"/>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868680">
                <a:tc>
                  <a:txBody>
                    <a:bodyPr/>
                    <a:lstStyle/>
                    <a:p>
                      <a:pPr indent="0" marL="0">
                        <a:buNone/>
                      </a:pPr>
                      <a:r>
                        <a:rPr lang="en-US" sz="1050" b="1" dirty="0">
                          <a:solidFill>
                            <a:srgbClr val="E6E9EF"/>
                          </a:solidFill>
                          <a:latin typeface="Calibri" pitchFamily="34" charset="0"/>
                          <a:ea typeface="Calibri" pitchFamily="34" charset="-122"/>
                          <a:cs typeface="Calibri" pitchFamily="34" charset="-120"/>
                        </a:rPr>
                        <a:t>3  Constrained coarsening</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No notion of a limit</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Tree floors 60 / 100 m, category caps, bias range 0..2</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Keeps nearby detail intact</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0 tree violations within 100 m at bias 2.0 (self-test). Not literally a 2-level limit</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b="1" dirty="0">
                          <a:solidFill>
                            <a:srgbClr val="F5B14C"/>
                          </a:solidFill>
                          <a:latin typeface="Calibri" pitchFamily="34" charset="0"/>
                          <a:ea typeface="Calibri" pitchFamily="34" charset="-122"/>
                          <a:cs typeface="Calibri" pitchFamily="34" charset="-120"/>
                        </a:rPr>
                        <a:t>Partly as stated</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050" b="1" dirty="0">
                          <a:solidFill>
                            <a:srgbClr val="E6E9EF"/>
                          </a:solidFill>
                          <a:latin typeface="Calibri" pitchFamily="34" charset="0"/>
                          <a:ea typeface="Calibri" pitchFamily="34" charset="-122"/>
                          <a:cs typeface="Calibri" pitchFamily="34" charset="-120"/>
                        </a:rPr>
                        <a:t>4  Unified benchmark</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Same scene, seed, path (sha256 logged), interleaved runs, CSV + JSON</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Fair, repeatable comparison</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11 runs in the m4 series; hardware state drifted between some runs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b="1" dirty="0">
                          <a:solidFill>
                            <a:srgbClr val="F5B14C"/>
                          </a:solidFill>
                          <a:latin typeface="Calibri" pitchFamily="34" charset="0"/>
                          <a:ea typeface="Calibri" pitchFamily="34" charset="-122"/>
                          <a:cs typeface="Calibri" pitchFamily="34" charset="-120"/>
                        </a:rPr>
                        <a:t>Implemented, noisy</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868680">
                <a:tc>
                  <a:txBody>
                    <a:bodyPr/>
                    <a:lstStyle/>
                    <a:p>
                      <a:pPr indent="0" marL="0">
                        <a:buNone/>
                      </a:pPr>
                      <a:r>
                        <a:rPr lang="en-US" sz="1050" b="1" dirty="0">
                          <a:solidFill>
                            <a:srgbClr val="E6E9EF"/>
                          </a:solidFill>
                          <a:latin typeface="Calibri" pitchFamily="34" charset="0"/>
                          <a:ea typeface="Calibri" pitchFamily="34" charset="-122"/>
                          <a:cs typeface="Calibri" pitchFamily="34" charset="-120"/>
                        </a:rPr>
                        <a:t>5  Quality / speed trade-off</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Full detail baseline</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Measures primitives, draws, GPU ms and image difference</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Shows what a saving costs</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dirty="0">
                          <a:solidFill>
                            <a:srgbClr val="DDE1E8"/>
                          </a:solidFill>
                          <a:latin typeface="Calibri" pitchFamily="34" charset="0"/>
                          <a:ea typeface="Calibri" pitchFamily="34" charset="-122"/>
                          <a:cs typeface="Calibri" pitchFamily="34" charset="-120"/>
                        </a:rPr>
                        <a:t>Primitives -5 to -10% (fixed view). GPU gain only in stress: -5.5%. No perceptual metric</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50" b="1" dirty="0">
                          <a:solidFill>
                            <a:srgbClr val="F5B14C"/>
                          </a:solidFill>
                          <a:latin typeface="Calibri" pitchFamily="34" charset="0"/>
                          <a:ea typeface="Calibri" pitchFamily="34" charset="-122"/>
                          <a:cs typeface="Calibri" pitchFamily="34" charset="-120"/>
                        </a:rPr>
                        <a:t>Partly demonstrated</a:t>
                      </a:r>
                      <a:endParaRPr lang="en-US" sz="105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bl>
          </a:graphicData>
        </a:graphic>
      </p:graphicFrame>
      <p:sp>
        <p:nvSpPr>
          <p:cNvPr id="5" name="Shape 2"/>
          <p:cNvSpPr/>
          <p:nvPr/>
        </p:nvSpPr>
        <p:spPr>
          <a:xfrm>
            <a:off x="457200" y="5806440"/>
            <a:ext cx="11247120" cy="566928"/>
          </a:xfrm>
          <a:prstGeom prst="rect">
            <a:avLst/>
          </a:prstGeom>
          <a:solidFill>
            <a:srgbClr val="262C37"/>
          </a:solidFill>
          <a:ln w="9525">
            <a:solidFill>
              <a:srgbClr val="3A4150"/>
            </a:solidFill>
            <a:prstDash val="solid"/>
          </a:ln>
        </p:spPr>
      </p:sp>
      <p:sp>
        <p:nvSpPr>
          <p:cNvPr id="6" name="Text 3"/>
          <p:cNvSpPr txBox="1"/>
          <p:nvPr/>
        </p:nvSpPr>
        <p:spPr>
          <a:xfrm>
            <a:off x="594360" y="5852160"/>
            <a:ext cx="10972800" cy="475488"/>
          </a:xfrm>
          <a:prstGeom prst="rect">
            <a:avLst/>
          </a:prstGeom>
          <a:noFill/>
          <a:ln/>
        </p:spPr>
        <p:txBody>
          <a:bodyPr wrap="square" lIns="0" tIns="0" rIns="0" bIns="0" rtlCol="0" anchor="ctr"/>
          <a:lstStyle/>
          <a:p>
            <a:pPr indent="0" marL="0">
              <a:buNone/>
            </a:pPr>
            <a:r>
              <a:rPr lang="en-US" sz="1200" b="1" dirty="0">
                <a:solidFill>
                  <a:srgbClr val="A78BFA"/>
                </a:solidFill>
                <a:latin typeface="Calibri" pitchFamily="34" charset="0"/>
                <a:ea typeface="Calibri" pitchFamily="34" charset="-122"/>
                <a:cs typeface="Calibri" pitchFamily="34" charset="-120"/>
              </a:rPr>
              <a:t>Scope of the claim:  </a:t>
            </a:r>
            <a:pPr indent="0" marL="0">
              <a:buNone/>
            </a:pPr>
            <a:r>
              <a:rPr lang="en-US" sz="1200" dirty="0">
                <a:solidFill>
                  <a:srgbClr val="E6E9EF"/>
                </a:solidFill>
                <a:latin typeface="Calibri" pitchFamily="34" charset="0"/>
                <a:ea typeface="Calibri" pitchFamily="34" charset="-122"/>
                <a:cs typeface="Calibri" pitchFamily="34" charset="-120"/>
              </a:rPr>
              <a:t>these are this project's technical contributions. No literature review was done, so none is claimed as globally novel; feedback-controlled quality scaling is an established idea in general.</a:t>
            </a:r>
            <a:endParaRPr lang="en-US" sz="12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Experimental setup and fairness of the comparison</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7223760" cy="914400"/>
        </p:xfrm>
        <a:graphic>
          <a:graphicData uri="http://schemas.openxmlformats.org/drawingml/2006/table">
            <a:tbl>
              <a:tblPr/>
              <a:tblGrid>
                <a:gridCol w="1097280"/>
                <a:gridCol w="3566160"/>
                <a:gridCol w="2560320"/>
              </a:tblGrid>
              <a:tr h="292608">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Condition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Adaptive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r>
              <a:tr h="41148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Software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Godot 4.7.2-stable, DEBUG + EDITOR build, Windows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1148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Hardware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Intel i7-8850H (12 threads), NVIDIA Quadro P3200 laptop GPU</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 machine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1148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Renderer</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Forward+, D3D12, no MSAA / TAA, VSync off, FPS uncapped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36576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Normal 1920x1080  |  Stress 2560x1440</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1148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Scene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Terrain3D 1.0.2, 41,698 instances + 403k grass clumps, seed 1337</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1148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Camera</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528 m path, 8 m/s, 10 s warm-up, 60 s measured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 controller reset to bias 0 at start</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50292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LOD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Fixed thresholds, 4 categories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 thresholds x PI bias; target 16.67 ms (normal), 8 ms (stress)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36576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Normal 3, stress 2</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Normal 3, stress 2 (+1 reachable-target run)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566928">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Metrics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Per-frame frame time, GPU ms, draws, primitives, switches, policy CPU ms (CSV, ~2k to 6k rows per run)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 bias, controller terms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bl>
          </a:graphicData>
        </a:graphic>
      </p:graphicFrame>
      <p:sp>
        <p:nvSpPr>
          <p:cNvPr id="5" name="Shape 2"/>
          <p:cNvSpPr/>
          <p:nvPr/>
        </p:nvSpPr>
        <p:spPr>
          <a:xfrm>
            <a:off x="7909560" y="1234440"/>
            <a:ext cx="3794760" cy="2514600"/>
          </a:xfrm>
          <a:prstGeom prst="rect">
            <a:avLst/>
          </a:prstGeom>
          <a:solidFill>
            <a:srgbClr val="1F242D"/>
          </a:solidFill>
          <a:ln w="9525">
            <a:solidFill>
              <a:srgbClr val="3A4150"/>
            </a:solidFill>
            <a:prstDash val="solid"/>
          </a:ln>
        </p:spPr>
      </p:sp>
      <p:sp>
        <p:nvSpPr>
          <p:cNvPr id="6" name="Text 3"/>
          <p:cNvSpPr txBox="1"/>
          <p:nvPr/>
        </p:nvSpPr>
        <p:spPr>
          <a:xfrm>
            <a:off x="8046720" y="1307592"/>
            <a:ext cx="3566160" cy="274320"/>
          </a:xfrm>
          <a:prstGeom prst="rect">
            <a:avLst/>
          </a:prstGeom>
          <a:noFill/>
          <a:ln/>
        </p:spPr>
        <p:txBody>
          <a:bodyPr wrap="square" lIns="0" tIns="0" rIns="0" bIns="0" rtlCol="0" anchor="t"/>
          <a:lstStyle/>
          <a:p>
            <a:pPr indent="0" marL="0">
              <a:buNone/>
            </a:pPr>
            <a:r>
              <a:rPr lang="en-US" sz="1600" b="1" dirty="0">
                <a:solidFill>
                  <a:srgbClr val="F5B14C"/>
                </a:solidFill>
                <a:latin typeface="Calibri" pitchFamily="34" charset="0"/>
                <a:ea typeface="Calibri" pitchFamily="34" charset="-122"/>
                <a:cs typeface="Calibri" pitchFamily="34" charset="-120"/>
              </a:rPr>
              <a:t>Fairness risks found</a:t>
            </a:r>
            <a:endParaRPr lang="en-US" sz="1600" dirty="0"/>
          </a:p>
        </p:txBody>
      </p:sp>
      <p:sp>
        <p:nvSpPr>
          <p:cNvPr id="7" name="Text 4"/>
          <p:cNvSpPr txBox="1"/>
          <p:nvPr/>
        </p:nvSpPr>
        <p:spPr>
          <a:xfrm>
            <a:off x="8046720" y="1627632"/>
            <a:ext cx="3611880" cy="21031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Runs alternate baseline / adaptive, but GPU speed drifted: normal baseline #1 ran at 9.3 ms GPU, #2 and #3 at ~19 ms</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Debug + editor build, so CPU timings are inflated</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Results used the milestone-4 mapping; the current, gentler mapping has no timed run</a:t>
            </a:r>
            <a:endParaRPr lang="en-US" sz="1150" dirty="0"/>
          </a:p>
        </p:txBody>
      </p:sp>
      <p:sp>
        <p:nvSpPr>
          <p:cNvPr id="8" name="Shape 5"/>
          <p:cNvSpPr/>
          <p:nvPr/>
        </p:nvSpPr>
        <p:spPr>
          <a:xfrm>
            <a:off x="7909560" y="3886200"/>
            <a:ext cx="3794760" cy="2468880"/>
          </a:xfrm>
          <a:prstGeom prst="rect">
            <a:avLst/>
          </a:prstGeom>
          <a:solidFill>
            <a:srgbClr val="1F242D"/>
          </a:solidFill>
          <a:ln w="9525">
            <a:solidFill>
              <a:srgbClr val="3A4150"/>
            </a:solidFill>
            <a:prstDash val="solid"/>
          </a:ln>
        </p:spPr>
      </p:sp>
      <p:sp>
        <p:nvSpPr>
          <p:cNvPr id="9" name="Text 6"/>
          <p:cNvSpPr txBox="1"/>
          <p:nvPr/>
        </p:nvSpPr>
        <p:spPr>
          <a:xfrm>
            <a:off x="8046720" y="3959352"/>
            <a:ext cx="3566160" cy="274320"/>
          </a:xfrm>
          <a:prstGeom prst="rect">
            <a:avLst/>
          </a:prstGeom>
          <a:noFill/>
          <a:ln/>
        </p:spPr>
        <p:txBody>
          <a:bodyPr wrap="square" lIns="0" tIns="0" rIns="0" bIns="0" rtlCol="0" anchor="t"/>
          <a:lstStyle/>
          <a:p>
            <a:pPr indent="0" marL="0">
              <a:buNone/>
            </a:pPr>
            <a:r>
              <a:rPr lang="en-US" sz="1600" b="1" dirty="0">
                <a:solidFill>
                  <a:srgbClr val="FF6B6B"/>
                </a:solidFill>
                <a:latin typeface="Calibri" pitchFamily="34" charset="0"/>
                <a:ea typeface="Calibri" pitchFamily="34" charset="-122"/>
                <a:cs typeface="Calibri" pitchFamily="34" charset="-120"/>
              </a:rPr>
              <a:t>Missing, please supply</a:t>
            </a:r>
            <a:endParaRPr lang="en-US" sz="1600" dirty="0"/>
          </a:p>
        </p:txBody>
      </p:sp>
      <p:sp>
        <p:nvSpPr>
          <p:cNvPr id="10" name="Text 7"/>
          <p:cNvSpPr txBox="1"/>
          <p:nvPr/>
        </p:nvSpPr>
        <p:spPr>
          <a:xfrm>
            <a:off x="8046720" y="4279392"/>
            <a:ext cx="3611880" cy="20116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GPU driver version, RAM, power plan, thermals</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Release / export-build run</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More repeats (2 to 3 per cell is thin)</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Idle machine, editor closed</a:t>
            </a:r>
            <a:endParaRPr lang="en-US" sz="115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BENCHMARK ANALYSIS</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Results: a small gain under stress, no gain at 1080p</a:t>
            </a:r>
            <a:endParaRPr lang="en-US" sz="3000" dirty="0"/>
          </a:p>
        </p:txBody>
      </p:sp>
      <p:graphicFrame>
        <p:nvGraphicFramePr>
          <p:cNvPr id="4" name="Chart 0" descr=""/>
          <p:cNvGraphicFramePr/>
          <p:nvPr/>
        </p:nvGraphicFramePr>
        <p:xfrm>
          <a:off x="457200" y="1188720"/>
          <a:ext cx="566928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309360" y="1188720"/>
          <a:ext cx="5394960" cy="28346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114800"/>
          <a:ext cx="7406640" cy="914400"/>
        </p:xfrm>
        <a:graphic>
          <a:graphicData uri="http://schemas.openxmlformats.org/drawingml/2006/table">
            <a:tbl>
              <a:tblPr/>
              <a:tblGrid>
                <a:gridCol w="2011680"/>
                <a:gridCol w="868680"/>
                <a:gridCol w="868680"/>
                <a:gridCol w="777240"/>
                <a:gridCol w="960120"/>
                <a:gridCol w="1005840"/>
                <a:gridCol w="777240"/>
              </a:tblGrid>
              <a:tr h="274320">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Stress base</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Stress adapt</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Change</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Normal base*</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Normal adapt</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Change</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Average FPS</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31.5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33.4</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47.3</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46.6</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FF6B6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Median FPS</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31.6</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33.3</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48.3</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46.8</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FF6B6B"/>
                          </a:solidFill>
                          <a:latin typeface="Calibri" pitchFamily="34" charset="0"/>
                          <a:ea typeface="Calibri" pitchFamily="34" charset="-122"/>
                          <a:cs typeface="Calibri" pitchFamily="34" charset="-120"/>
                        </a:rPr>
                        <a:t>-3.1%</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1% low FPS</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22.5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23.5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29.4</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Min FPS</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20.6</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21.0</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27.5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+21.5%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Mean frame ms (lower = better)</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31.7</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21.1</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21.5</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FF6B6B"/>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54864" marR="54864"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bl>
          </a:graphicData>
        </a:graphic>
      </p:graphicFrame>
      <p:sp>
        <p:nvSpPr>
          <p:cNvPr id="7" name="Text 2"/>
          <p:cNvSpPr txBox="1"/>
          <p:nvPr/>
        </p:nvSpPr>
        <p:spPr>
          <a:xfrm>
            <a:off x="457200" y="5806440"/>
            <a:ext cx="7406640" cy="594360"/>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*Normal baseline = runs #2 and #3. Including run #1 (104 FPS avg, GPU state changed) gives 66.2 vs 46.6 FPS avg, -29.6% for adaptive; that run is shown, not hidden, but is not a like-for-like pair. Change = (Adaptive - Baseline) / Baseline x 100. Normal n = 3 adapt vs 2 base.</a:t>
            </a:r>
            <a:endParaRPr lang="en-US" sz="1000" dirty="0"/>
          </a:p>
        </p:txBody>
      </p:sp>
      <p:sp>
        <p:nvSpPr>
          <p:cNvPr id="8" name="Shape 3"/>
          <p:cNvSpPr/>
          <p:nvPr/>
        </p:nvSpPr>
        <p:spPr>
          <a:xfrm>
            <a:off x="8046720" y="4114800"/>
            <a:ext cx="3657600" cy="2286000"/>
          </a:xfrm>
          <a:prstGeom prst="rect">
            <a:avLst/>
          </a:prstGeom>
          <a:solidFill>
            <a:srgbClr val="1F242D"/>
          </a:solidFill>
          <a:ln w="9525">
            <a:solidFill>
              <a:srgbClr val="3A4150"/>
            </a:solidFill>
            <a:prstDash val="solid"/>
          </a:ln>
        </p:spPr>
      </p:sp>
      <p:sp>
        <p:nvSpPr>
          <p:cNvPr id="9" name="Text 4"/>
          <p:cNvSpPr txBox="1"/>
          <p:nvPr/>
        </p:nvSpPr>
        <p:spPr>
          <a:xfrm>
            <a:off x="8183880" y="4178808"/>
            <a:ext cx="3383280" cy="274320"/>
          </a:xfrm>
          <a:prstGeom prst="rect">
            <a:avLst/>
          </a:prstGeom>
          <a:noFill/>
          <a:ln/>
        </p:spPr>
        <p:txBody>
          <a:bodyPr wrap="square" lIns="0" tIns="0" rIns="0" bIns="0" rtlCol="0" anchor="t"/>
          <a:lstStyle/>
          <a:p>
            <a:pPr indent="0" marL="0">
              <a:buNone/>
            </a:pPr>
            <a:r>
              <a:rPr lang="en-US" sz="1500" b="1" dirty="0">
                <a:solidFill>
                  <a:srgbClr val="F5B14C"/>
                </a:solidFill>
                <a:latin typeface="Calibri" pitchFamily="34" charset="0"/>
                <a:ea typeface="Calibri" pitchFamily="34" charset="-122"/>
                <a:cs typeface="Calibri" pitchFamily="34" charset="-120"/>
              </a:rPr>
              <a:t>Sub-10 FPS check</a:t>
            </a:r>
            <a:endParaRPr lang="en-US" sz="1500" dirty="0"/>
          </a:p>
        </p:txBody>
      </p:sp>
      <p:sp>
        <p:nvSpPr>
          <p:cNvPr id="10" name="Text 5"/>
          <p:cNvSpPr txBox="1"/>
          <p:nvPr/>
        </p:nvSpPr>
        <p:spPr>
          <a:xfrm>
            <a:off x="8183880" y="4480560"/>
            <a:ext cx="3429000" cy="18745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E6E9EF"/>
                </a:solidFill>
                <a:latin typeface="Calibri" pitchFamily="34" charset="0"/>
                <a:ea typeface="Calibri" pitchFamily="34" charset="-122"/>
                <a:cs typeface="Calibri" pitchFamily="34" charset="-120"/>
              </a:rPr>
              <a:t>0 frames under 10 FPS in all 6 adaptive 60 s runs; worst frame 20.7 FPS (48 ms)</a:t>
            </a:r>
            <a:endParaRPr lang="en-US" sz="1100" dirty="0"/>
          </a:p>
          <a:p>
            <a:pPr marL="342900" indent="-342900">
              <a:spcAft>
                <a:spcPts val="300"/>
              </a:spcAft>
              <a:buSzPct val="100000"/>
              <a:buChar char="•"/>
            </a:pPr>
            <a:r>
              <a:rPr lang="en-US" sz="1100" dirty="0">
                <a:solidFill>
                  <a:srgbClr val="E6E9EF"/>
                </a:solidFill>
                <a:latin typeface="Calibri" pitchFamily="34" charset="0"/>
                <a:ea typeface="Calibri" pitchFamily="34" charset="-122"/>
                <a:cs typeface="Calibri" pitchFamily="34" charset="-120"/>
              </a:rPr>
              <a:t>One frame at 3.7 FPS: baseline #1 (not adaptive)</a:t>
            </a:r>
            <a:endParaRPr lang="en-US" sz="1100" dirty="0"/>
          </a:p>
          <a:p>
            <a:pPr marL="342900" indent="-342900">
              <a:spcAft>
                <a:spcPts val="300"/>
              </a:spcAft>
              <a:buSzPct val="100000"/>
              <a:buChar char="•"/>
            </a:pPr>
            <a:r>
              <a:rPr lang="en-US" sz="1100" dirty="0">
                <a:solidFill>
                  <a:srgbClr val="E6E9EF"/>
                </a:solidFill>
                <a:latin typeface="Calibri" pitchFamily="34" charset="0"/>
                <a:ea typeface="Calibri" pitchFamily="34" charset="-122"/>
                <a:cs typeface="Calibri" pitchFamily="34" charset="-120"/>
              </a:rPr>
              <a:t>Not logged: your live drops. Hypothesis only: the ~0.7 to 1 s first-enable build when switching mode</a:t>
            </a:r>
            <a:endParaRPr lang="en-US" sz="11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VISUAL QUALITY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Visual comparison: baseline vs adaptive at the same view</a:t>
            </a:r>
            <a:endParaRPr lang="en-US" sz="3000" dirty="0"/>
          </a:p>
        </p:txBody>
      </p:sp>
      <p:pic>
        <p:nvPicPr>
          <p:cNvPr id="4" name="Image 0" descr="Baseline, full view">    </p:cNvPr>
          <p:cNvPicPr>
            <a:picLocks noChangeAspect="1"/>
          </p:cNvPicPr>
          <p:nvPr/>
        </p:nvPicPr>
        <p:blipFill>
          <a:blip r:embed="rId1"/>
          <a:stretch>
            <a:fillRect/>
          </a:stretch>
        </p:blipFill>
        <p:spPr>
          <a:xfrm>
            <a:off x="457200" y="1188720"/>
            <a:ext cx="3657600" cy="2057400"/>
          </a:xfrm>
          <a:prstGeom prst="rect">
            <a:avLst/>
          </a:prstGeom>
        </p:spPr>
      </p:pic>
      <p:sp>
        <p:nvSpPr>
          <p:cNvPr id="5" name="Text 2"/>
          <p:cNvSpPr txBox="1"/>
          <p:nvPr/>
        </p:nvSpPr>
        <p:spPr>
          <a:xfrm>
            <a:off x="457200" y="3264408"/>
            <a:ext cx="3657600" cy="22860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Baseline, full view</a:t>
            </a:r>
            <a:endParaRPr lang="en-US" sz="1050" dirty="0"/>
          </a:p>
        </p:txBody>
      </p:sp>
      <p:pic>
        <p:nvPicPr>
          <p:cNvPr id="6" name="Image 1" descr="Adaptive (bias 2.0), full view">    </p:cNvPr>
          <p:cNvPicPr>
            <a:picLocks noChangeAspect="1"/>
          </p:cNvPicPr>
          <p:nvPr/>
        </p:nvPicPr>
        <p:blipFill>
          <a:blip r:embed="rId2"/>
          <a:stretch>
            <a:fillRect/>
          </a:stretch>
        </p:blipFill>
        <p:spPr>
          <a:xfrm>
            <a:off x="4251960" y="1188720"/>
            <a:ext cx="3657600" cy="2057400"/>
          </a:xfrm>
          <a:prstGeom prst="rect">
            <a:avLst/>
          </a:prstGeom>
        </p:spPr>
      </p:pic>
      <p:sp>
        <p:nvSpPr>
          <p:cNvPr id="7" name="Text 3"/>
          <p:cNvSpPr txBox="1"/>
          <p:nvPr/>
        </p:nvSpPr>
        <p:spPr>
          <a:xfrm>
            <a:off x="4251960" y="3264408"/>
            <a:ext cx="3657600" cy="22860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Adaptive (bias 2.0), full view</a:t>
            </a:r>
            <a:endParaRPr lang="en-US" sz="1050" dirty="0"/>
          </a:p>
        </p:txBody>
      </p:sp>
      <p:pic>
        <p:nvPicPr>
          <p:cNvPr id="8" name="Image 2" descr="Baseline, crop of left treeline and mid grass">    </p:cNvPr>
          <p:cNvPicPr>
            <a:picLocks noChangeAspect="1"/>
          </p:cNvPicPr>
          <p:nvPr/>
        </p:nvPicPr>
        <p:blipFill>
          <a:blip r:embed="rId3"/>
          <a:stretch>
            <a:fillRect/>
          </a:stretch>
        </p:blipFill>
        <p:spPr>
          <a:xfrm>
            <a:off x="457200" y="3611880"/>
            <a:ext cx="3657600" cy="2057400"/>
          </a:xfrm>
          <a:prstGeom prst="rect">
            <a:avLst/>
          </a:prstGeom>
        </p:spPr>
      </p:pic>
      <p:sp>
        <p:nvSpPr>
          <p:cNvPr id="9" name="Text 4"/>
          <p:cNvSpPr txBox="1"/>
          <p:nvPr/>
        </p:nvSpPr>
        <p:spPr>
          <a:xfrm>
            <a:off x="457200" y="5687568"/>
            <a:ext cx="3657600" cy="22860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Baseline, crop of left treeline and mid grass</a:t>
            </a:r>
            <a:endParaRPr lang="en-US" sz="1050" dirty="0"/>
          </a:p>
        </p:txBody>
      </p:sp>
      <p:pic>
        <p:nvPicPr>
          <p:cNvPr id="10" name="Image 3" descr="Adaptive, same crop">    </p:cNvPr>
          <p:cNvPicPr>
            <a:picLocks noChangeAspect="1"/>
          </p:cNvPicPr>
          <p:nvPr/>
        </p:nvPicPr>
        <p:blipFill>
          <a:blip r:embed="rId4"/>
          <a:stretch>
            <a:fillRect/>
          </a:stretch>
        </p:blipFill>
        <p:spPr>
          <a:xfrm>
            <a:off x="4251960" y="3611880"/>
            <a:ext cx="3657600" cy="2057400"/>
          </a:xfrm>
          <a:prstGeom prst="rect">
            <a:avLst/>
          </a:prstGeom>
        </p:spPr>
      </p:pic>
      <p:sp>
        <p:nvSpPr>
          <p:cNvPr id="11" name="Text 5"/>
          <p:cNvSpPr txBox="1"/>
          <p:nvPr/>
        </p:nvSpPr>
        <p:spPr>
          <a:xfrm>
            <a:off x="4251960" y="5687568"/>
            <a:ext cx="3657600" cy="22860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Adaptive, same crop</a:t>
            </a:r>
            <a:endParaRPr lang="en-US" sz="1050" dirty="0"/>
          </a:p>
        </p:txBody>
      </p:sp>
      <p:sp>
        <p:nvSpPr>
          <p:cNvPr id="12" name="Text 6"/>
          <p:cNvSpPr txBox="1"/>
          <p:nvPr/>
        </p:nvSpPr>
        <p:spPr>
          <a:xfrm>
            <a:off x="8138160" y="1188720"/>
            <a:ext cx="3566160" cy="274320"/>
          </a:xfrm>
          <a:prstGeom prst="rect">
            <a:avLst/>
          </a:prstGeom>
          <a:noFill/>
          <a:ln/>
        </p:spPr>
        <p:txBody>
          <a:bodyPr wrap="square" lIns="0" tIns="0" rIns="0" bIns="0" rtlCol="0" anchor="t"/>
          <a:lstStyle/>
          <a:p>
            <a:pPr indent="0" marL="0">
              <a:buNone/>
            </a:pPr>
            <a:r>
              <a:rPr lang="en-US" sz="1600" b="1" dirty="0">
                <a:solidFill>
                  <a:srgbClr val="35D0E8"/>
                </a:solidFill>
                <a:latin typeface="Calibri" pitchFamily="34" charset="0"/>
                <a:ea typeface="Calibri" pitchFamily="34" charset="-122"/>
                <a:cs typeface="Calibri" pitchFamily="34" charset="-120"/>
              </a:rPr>
              <a:t>What changes</a:t>
            </a:r>
            <a:endParaRPr lang="en-US" sz="1600" dirty="0"/>
          </a:p>
        </p:txBody>
      </p:sp>
      <p:sp>
        <p:nvSpPr>
          <p:cNvPr id="13" name="Text 7"/>
          <p:cNvSpPr txBox="1"/>
          <p:nvPr/>
        </p:nvSpPr>
        <p:spPr>
          <a:xfrm>
            <a:off x="8138160" y="1508760"/>
            <a:ext cx="3566160" cy="22860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6E9EF"/>
                </a:solidFill>
                <a:latin typeface="Calibri" pitchFamily="34" charset="0"/>
                <a:ea typeface="Calibri" pitchFamily="34" charset="-122"/>
                <a:cs typeface="Calibri" pitchFamily="34" charset="-120"/>
              </a:rPr>
              <a:t>Near field is identical: nearby trees keep baseline LOD (floors)</a:t>
            </a:r>
            <a:endParaRPr lang="en-US" sz="1200" dirty="0"/>
          </a:p>
          <a:p>
            <a:pPr marL="342900" indent="-342900">
              <a:spcAft>
                <a:spcPts val="400"/>
              </a:spcAft>
              <a:buSzPct val="100000"/>
              <a:buChar char="•"/>
            </a:pPr>
            <a:r>
              <a:rPr lang="en-US" sz="1200" dirty="0">
                <a:solidFill>
                  <a:srgbClr val="E6E9EF"/>
                </a:solidFill>
                <a:latin typeface="Calibri" pitchFamily="34" charset="0"/>
                <a:ea typeface="Calibri" pitchFamily="34" charset="-122"/>
                <a:cs typeface="Calibri" pitchFamily="34" charset="-120"/>
              </a:rPr>
              <a:t>Mid-field grass is thinner; distant bushes sparser</a:t>
            </a:r>
            <a:endParaRPr lang="en-US" sz="1200" dirty="0"/>
          </a:p>
          <a:p>
            <a:pPr marL="342900" indent="-342900">
              <a:spcAft>
                <a:spcPts val="400"/>
              </a:spcAft>
              <a:buSzPct val="100000"/>
              <a:buChar char="•"/>
            </a:pPr>
            <a:r>
              <a:rPr lang="en-US" sz="1200" dirty="0">
                <a:solidFill>
                  <a:srgbClr val="E6E9EF"/>
                </a:solidFill>
                <a:latin typeface="Calibri" pitchFamily="34" charset="0"/>
                <a:ea typeface="Calibri" pitchFamily="34" charset="-122"/>
                <a:cs typeface="Calibri" pitchFamily="34" charset="-120"/>
              </a:rPr>
              <a:t>Main-pass primitives -9% at this view (-5% at 150 m, -10% at 300 m)</a:t>
            </a:r>
            <a:endParaRPr lang="en-US" sz="1200" dirty="0"/>
          </a:p>
          <a:p>
            <a:pPr marL="342900" indent="-342900">
              <a:spcAft>
                <a:spcPts val="400"/>
              </a:spcAft>
              <a:buSzPct val="100000"/>
              <a:buChar char="•"/>
            </a:pPr>
            <a:r>
              <a:rPr lang="en-US" sz="1200" dirty="0">
                <a:solidFill>
                  <a:srgbClr val="E6E9EF"/>
                </a:solidFill>
                <a:latin typeface="Calibri" pitchFamily="34" charset="0"/>
                <a:ea typeface="Calibri" pitchFamily="34" charset="-122"/>
                <a:cs typeface="Calibri" pitchFamily="34" charset="-120"/>
              </a:rPr>
              <a:t>Mean abs image difference 4.27 / 0.87 / 0.98 (0 / 150 / 300 m)</a:t>
            </a:r>
            <a:endParaRPr lang="en-US" sz="1200" dirty="0"/>
          </a:p>
        </p:txBody>
      </p:sp>
      <p:sp>
        <p:nvSpPr>
          <p:cNvPr id="14" name="Text 8"/>
          <p:cNvSpPr txBox="1"/>
          <p:nvPr/>
        </p:nvSpPr>
        <p:spPr>
          <a:xfrm>
            <a:off x="8138160" y="3657600"/>
            <a:ext cx="3566160" cy="59436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Fixed-view probe with bias pinned at 2.0, not a live controller run. Tree mesh swaps still pop (no cross-fade).</a:t>
            </a:r>
            <a:endParaRPr lang="en-US" sz="1050" dirty="0"/>
          </a:p>
        </p:txBody>
      </p:sp>
      <p:sp>
        <p:nvSpPr>
          <p:cNvPr id="15" name="Shape 9"/>
          <p:cNvSpPr/>
          <p:nvPr/>
        </p:nvSpPr>
        <p:spPr>
          <a:xfrm>
            <a:off x="8138160" y="4343400"/>
            <a:ext cx="3566160" cy="2011680"/>
          </a:xfrm>
          <a:prstGeom prst="rect">
            <a:avLst/>
          </a:prstGeom>
          <a:solidFill>
            <a:srgbClr val="1F242D"/>
          </a:solidFill>
          <a:ln w="15875">
            <a:solidFill>
              <a:srgbClr val="F5B14C"/>
            </a:solidFill>
            <a:prstDash val="dash"/>
          </a:ln>
        </p:spPr>
      </p:sp>
      <p:sp>
        <p:nvSpPr>
          <p:cNvPr id="16" name="Text 10"/>
          <p:cNvSpPr txBox="1"/>
          <p:nvPr/>
        </p:nvSpPr>
        <p:spPr>
          <a:xfrm>
            <a:off x="8275320" y="4434840"/>
            <a:ext cx="3291840" cy="1828800"/>
          </a:xfrm>
          <a:prstGeom prst="rect">
            <a:avLst/>
          </a:prstGeom>
          <a:noFill/>
          <a:ln/>
        </p:spPr>
        <p:txBody>
          <a:bodyPr wrap="square" lIns="0" tIns="0" rIns="0" bIns="0" rtlCol="0" anchor="ctr"/>
          <a:lstStyle/>
          <a:p>
            <a:pPr algn="ctr" indent="0" marL="0">
              <a:buNone/>
            </a:pPr>
            <a:r>
              <a:rPr lang="en-US" sz="1400" b="1" dirty="0">
                <a:solidFill>
                  <a:srgbClr val="F5B14C"/>
                </a:solidFill>
                <a:latin typeface="Calibri" pitchFamily="34" charset="0"/>
                <a:ea typeface="Calibri" pitchFamily="34" charset="-122"/>
                <a:cs typeface="Calibri" pitchFamily="34" charset="-120"/>
              </a:rPr>
              <a:t>VIDEO PLACEHOLDER</a:t>
            </a:r>
            <a:endParaRPr lang="en-US" sz="1400" dirty="0"/>
          </a:p>
          <a:p>
            <a:pPr algn="ctr" indent="0" marL="0">
              <a:buNone/>
            </a:pPr>
            <a:r>
              <a:rPr lang="en-US" sz="1100" dirty="0">
                <a:solidFill>
                  <a:srgbClr val="9AA3B2"/>
                </a:solidFill>
                <a:latin typeface="Calibri" pitchFamily="34" charset="0"/>
                <a:ea typeface="Calibri" pitchFamily="34" charset="-122"/>
                <a:cs typeface="Calibri" pitchFamily="34" charset="-120"/>
              </a:rPr>
              <a:t>No screen recording or URL exists in the project folder. In PowerPoint: Insert &gt; Video &gt; This Device, then choose your Godot capture (baseline vs adaptive, same path).</a:t>
            </a:r>
            <a:endParaRPr lang="en-US" sz="14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Conclusion, limitations and next steps</a:t>
            </a:r>
            <a:endParaRPr lang="en-US" sz="3000" dirty="0"/>
          </a:p>
        </p:txBody>
      </p:sp>
      <p:sp>
        <p:nvSpPr>
          <p:cNvPr id="4" name="Shape 2"/>
          <p:cNvSpPr/>
          <p:nvPr/>
        </p:nvSpPr>
        <p:spPr>
          <a:xfrm>
            <a:off x="457200" y="1234440"/>
            <a:ext cx="3657600" cy="3063240"/>
          </a:xfrm>
          <a:prstGeom prst="rect">
            <a:avLst/>
          </a:prstGeom>
          <a:solidFill>
            <a:srgbClr val="1F242D"/>
          </a:solidFill>
          <a:ln w="9525">
            <a:solidFill>
              <a:srgbClr val="3A4150"/>
            </a:solidFill>
            <a:prstDash val="solid"/>
          </a:ln>
        </p:spPr>
      </p:sp>
      <p:sp>
        <p:nvSpPr>
          <p:cNvPr id="5" name="Text 3"/>
          <p:cNvSpPr txBox="1"/>
          <p:nvPr/>
        </p:nvSpPr>
        <p:spPr>
          <a:xfrm>
            <a:off x="640080" y="1325880"/>
            <a:ext cx="3291840" cy="320040"/>
          </a:xfrm>
          <a:prstGeom prst="rect">
            <a:avLst/>
          </a:prstGeom>
          <a:noFill/>
          <a:ln/>
        </p:spPr>
        <p:txBody>
          <a:bodyPr wrap="square" lIns="0" tIns="0" rIns="0" bIns="0" rtlCol="0" anchor="t"/>
          <a:lstStyle/>
          <a:p>
            <a:pPr indent="0" marL="0">
              <a:buNone/>
            </a:pPr>
            <a:r>
              <a:rPr lang="en-US" sz="1800" b="1" dirty="0">
                <a:solidFill>
                  <a:srgbClr val="35D0E8"/>
                </a:solidFill>
                <a:latin typeface="Calibri" pitchFamily="34" charset="0"/>
                <a:ea typeface="Calibri" pitchFamily="34" charset="-122"/>
                <a:cs typeface="Calibri" pitchFamily="34" charset="-120"/>
              </a:rPr>
              <a:t>Implemented</a:t>
            </a:r>
            <a:endParaRPr lang="en-US" sz="1800" dirty="0"/>
          </a:p>
        </p:txBody>
      </p:sp>
      <p:sp>
        <p:nvSpPr>
          <p:cNvPr id="6" name="Text 4"/>
          <p:cNvSpPr txBox="1"/>
          <p:nvPr/>
        </p:nvSpPr>
        <p:spPr>
          <a:xfrm>
            <a:off x="640080" y="1737360"/>
            <a:ext cx="3337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Baseline and adaptive LOD for 4 vegetation categories</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PI controller with rate limits, deadband, anti-windup</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Metre-based floors keep near-field detail</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Reproducible benchmark with CSV + JSON</a:t>
            </a:r>
            <a:endParaRPr lang="en-US" sz="1300" dirty="0"/>
          </a:p>
        </p:txBody>
      </p:sp>
      <p:sp>
        <p:nvSpPr>
          <p:cNvPr id="7" name="Shape 5"/>
          <p:cNvSpPr/>
          <p:nvPr/>
        </p:nvSpPr>
        <p:spPr>
          <a:xfrm>
            <a:off x="4251960" y="1234440"/>
            <a:ext cx="3657600" cy="3063240"/>
          </a:xfrm>
          <a:prstGeom prst="rect">
            <a:avLst/>
          </a:prstGeom>
          <a:solidFill>
            <a:srgbClr val="1F242D"/>
          </a:solidFill>
          <a:ln w="9525">
            <a:solidFill>
              <a:srgbClr val="3A4150"/>
            </a:solidFill>
            <a:prstDash val="solid"/>
          </a:ln>
        </p:spPr>
      </p:sp>
      <p:sp>
        <p:nvSpPr>
          <p:cNvPr id="8" name="Text 6"/>
          <p:cNvSpPr txBox="1"/>
          <p:nvPr/>
        </p:nvSpPr>
        <p:spPr>
          <a:xfrm>
            <a:off x="4434840" y="1325880"/>
            <a:ext cx="3291840" cy="320040"/>
          </a:xfrm>
          <a:prstGeom prst="rect">
            <a:avLst/>
          </a:prstGeom>
          <a:noFill/>
          <a:ln/>
        </p:spPr>
        <p:txBody>
          <a:bodyPr wrap="square" lIns="0" tIns="0" rIns="0" bIns="0" rtlCol="0" anchor="t"/>
          <a:lstStyle/>
          <a:p>
            <a:pPr indent="0" marL="0">
              <a:buNone/>
            </a:pPr>
            <a:r>
              <a:rPr lang="en-US" sz="1800" b="1" dirty="0">
                <a:solidFill>
                  <a:srgbClr val="A78BFA"/>
                </a:solidFill>
                <a:latin typeface="Calibri" pitchFamily="34" charset="0"/>
                <a:ea typeface="Calibri" pitchFamily="34" charset="-122"/>
                <a:cs typeface="Calibri" pitchFamily="34" charset="-120"/>
              </a:rPr>
              <a:t>What the data shows</a:t>
            </a:r>
            <a:endParaRPr lang="en-US" sz="1800" dirty="0"/>
          </a:p>
        </p:txBody>
      </p:sp>
      <p:sp>
        <p:nvSpPr>
          <p:cNvPr id="9" name="Text 7"/>
          <p:cNvSpPr txBox="1"/>
          <p:nvPr/>
        </p:nvSpPr>
        <p:spPr>
          <a:xfrm>
            <a:off x="4434840" y="1737360"/>
            <a:ext cx="3337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Stress 1440p: +5.8% avg FPS, -5.5% frame time (n=2)</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1080p: no measurable change (-1.5% avg FPS)</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Visual change small and localised, primitives -5 to -10%</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Targets (16.67 / 8 ms) never reached</a:t>
            </a:r>
            <a:endParaRPr lang="en-US" sz="1300" dirty="0"/>
          </a:p>
        </p:txBody>
      </p:sp>
      <p:sp>
        <p:nvSpPr>
          <p:cNvPr id="10" name="Shape 8"/>
          <p:cNvSpPr/>
          <p:nvPr/>
        </p:nvSpPr>
        <p:spPr>
          <a:xfrm>
            <a:off x="8046720" y="1234440"/>
            <a:ext cx="3657600" cy="3063240"/>
          </a:xfrm>
          <a:prstGeom prst="rect">
            <a:avLst/>
          </a:prstGeom>
          <a:solidFill>
            <a:srgbClr val="1F242D"/>
          </a:solidFill>
          <a:ln w="9525">
            <a:solidFill>
              <a:srgbClr val="3A4150"/>
            </a:solidFill>
            <a:prstDash val="solid"/>
          </a:ln>
        </p:spPr>
      </p:sp>
      <p:sp>
        <p:nvSpPr>
          <p:cNvPr id="11" name="Text 9"/>
          <p:cNvSpPr txBox="1"/>
          <p:nvPr/>
        </p:nvSpPr>
        <p:spPr>
          <a:xfrm>
            <a:off x="8229600" y="1325880"/>
            <a:ext cx="3291840" cy="320040"/>
          </a:xfrm>
          <a:prstGeom prst="rect">
            <a:avLst/>
          </a:prstGeom>
          <a:noFill/>
          <a:ln/>
        </p:spPr>
        <p:txBody>
          <a:bodyPr wrap="square" lIns="0" tIns="0" rIns="0" bIns="0" rtlCol="0" anchor="t"/>
          <a:lstStyle/>
          <a:p>
            <a:pPr indent="0" marL="0">
              <a:buNone/>
            </a:pPr>
            <a:r>
              <a:rPr lang="en-US" sz="1800" b="1" dirty="0">
                <a:solidFill>
                  <a:srgbClr val="F5B14C"/>
                </a:solidFill>
                <a:latin typeface="Calibri" pitchFamily="34" charset="0"/>
                <a:ea typeface="Calibri" pitchFamily="34" charset="-122"/>
                <a:cs typeface="Calibri" pitchFamily="34" charset="-120"/>
              </a:rPr>
              <a:t>Limitations</a:t>
            </a:r>
            <a:endParaRPr lang="en-US" sz="1800" dirty="0"/>
          </a:p>
        </p:txBody>
      </p:sp>
      <p:sp>
        <p:nvSpPr>
          <p:cNvPr id="12" name="Text 10"/>
          <p:cNvSpPr txBox="1"/>
          <p:nvPr/>
        </p:nvSpPr>
        <p:spPr>
          <a:xfrm>
            <a:off x="8229600" y="1737360"/>
            <a:ext cx="3337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Few runs, drifting GPU state, debug build</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No timed run of the current mapping</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Live &lt;10 FPS drops not captured in logs</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No perceptual metric, tree pops, no importance</a:t>
            </a:r>
            <a:endParaRPr lang="en-US" sz="1300" dirty="0"/>
          </a:p>
        </p:txBody>
      </p:sp>
      <p:sp>
        <p:nvSpPr>
          <p:cNvPr id="13" name="Text 11"/>
          <p:cNvSpPr txBox="1"/>
          <p:nvPr/>
        </p:nvSpPr>
        <p:spPr>
          <a:xfrm>
            <a:off x="457200" y="4480560"/>
            <a:ext cx="2743200" cy="274320"/>
          </a:xfrm>
          <a:prstGeom prst="rect">
            <a:avLst/>
          </a:prstGeom>
          <a:noFill/>
          <a:ln/>
        </p:spPr>
        <p:txBody>
          <a:bodyPr wrap="square" lIns="0" tIns="0" rIns="0" bIns="0" rtlCol="0" anchor="t"/>
          <a:lstStyle/>
          <a:p>
            <a:pPr indent="0" marL="0">
              <a:buNone/>
            </a:pPr>
            <a:r>
              <a:rPr lang="en-US" sz="1600" b="1" dirty="0">
                <a:solidFill>
                  <a:srgbClr val="35D0E8"/>
                </a:solidFill>
                <a:latin typeface="Calibri" pitchFamily="34" charset="0"/>
                <a:ea typeface="Calibri" pitchFamily="34" charset="-122"/>
                <a:cs typeface="Calibri" pitchFamily="34" charset="-120"/>
              </a:rPr>
              <a:t>Future work</a:t>
            </a:r>
            <a:endParaRPr lang="en-US" sz="1600" dirty="0"/>
          </a:p>
        </p:txBody>
      </p:sp>
      <p:sp>
        <p:nvSpPr>
          <p:cNvPr id="14" name="Text 12"/>
          <p:cNvSpPr txBox="1"/>
          <p:nvPr/>
        </p:nvSpPr>
        <p:spPr>
          <a:xfrm>
            <a:off x="457200" y="4800600"/>
            <a:ext cx="11247120" cy="685800"/>
          </a:xfrm>
          <a:prstGeom prst="rect">
            <a:avLst/>
          </a:prstGeom>
          <a:noFill/>
          <a:ln/>
        </p:spPr>
        <p:txBody>
          <a:bodyPr wrap="square" lIns="0" tIns="0" rIns="0" bIns="0" rtlCol="0" anchor="t"/>
          <a:lstStyle/>
          <a:p>
            <a:pPr indent="0" marL="0">
              <a:buNone/>
            </a:pPr>
            <a:r>
              <a:rPr lang="en-US" sz="1300" dirty="0">
                <a:solidFill>
                  <a:srgbClr val="E6E9EF"/>
                </a:solidFill>
                <a:latin typeface="Calibri" pitchFamily="34" charset="0"/>
                <a:ea typeface="Calibri" pitchFamily="34" charset="-122"/>
                <a:cs typeface="Calibri" pitchFamily="34" charset="-120"/>
              </a:rPr>
              <a:t>Tune floors and caps, add cross-fade to remove pops, profile with release builds and a GPU profiler, move the first-enable build off the live frame, add a CPU-bound signal, repeat on an idle machine with more runs, add SSIM or FLIP.</a:t>
            </a:r>
            <a:endParaRPr lang="en-US" sz="1300" dirty="0"/>
          </a:p>
        </p:txBody>
      </p:sp>
      <p:sp>
        <p:nvSpPr>
          <p:cNvPr id="15" name="Shape 13"/>
          <p:cNvSpPr/>
          <p:nvPr/>
        </p:nvSpPr>
        <p:spPr>
          <a:xfrm>
            <a:off x="457200" y="5577840"/>
            <a:ext cx="11247120" cy="777240"/>
          </a:xfrm>
          <a:prstGeom prst="rect">
            <a:avLst/>
          </a:prstGeom>
          <a:solidFill>
            <a:srgbClr val="262C37"/>
          </a:solidFill>
          <a:ln w="15875">
            <a:solidFill>
              <a:srgbClr val="35D0E8"/>
            </a:solidFill>
            <a:prstDash val="solid"/>
          </a:ln>
        </p:spPr>
      </p:sp>
      <p:sp>
        <p:nvSpPr>
          <p:cNvPr id="16" name="Text 14"/>
          <p:cNvSpPr txBox="1"/>
          <p:nvPr/>
        </p:nvSpPr>
        <p:spPr>
          <a:xfrm>
            <a:off x="640080" y="5623560"/>
            <a:ext cx="10881360" cy="685800"/>
          </a:xfrm>
          <a:prstGeom prst="rect">
            <a:avLst/>
          </a:prstGeom>
          <a:noFill/>
          <a:ln/>
        </p:spPr>
        <p:txBody>
          <a:bodyPr wrap="square" lIns="0" tIns="0" rIns="0" bIns="0" rtlCol="0" anchor="ctr"/>
          <a:lstStyle/>
          <a:p>
            <a:pPr indent="0" marL="0">
              <a:buNone/>
            </a:pPr>
            <a:r>
              <a:rPr lang="en-US" sz="1400" b="1" dirty="0">
                <a:solidFill>
                  <a:srgbClr val="35D0E8"/>
                </a:solidFill>
                <a:latin typeface="Calibri" pitchFamily="34" charset="0"/>
                <a:ea typeface="Calibri" pitchFamily="34" charset="-122"/>
                <a:cs typeface="Calibri" pitchFamily="34" charset="-120"/>
              </a:rPr>
              <a:t>Takeaway  </a:t>
            </a:r>
            <a:pPr indent="0" marL="0">
              <a:buNone/>
            </a:pPr>
            <a:r>
              <a:rPr lang="en-US" sz="1400" dirty="0">
                <a:solidFill>
                  <a:srgbClr val="E6E9EF"/>
                </a:solidFill>
                <a:latin typeface="Calibri" pitchFamily="34" charset="0"/>
                <a:ea typeface="Calibri" pitchFamily="34" charset="-122"/>
                <a:cs typeface="Calibri" pitchFamily="34" charset="-120"/>
              </a:rPr>
              <a:t>The adaptive mechanism is implemented and bounded, and it saves a few percent of GPU time only when the GPU is heavily overloaded. Visual quality is largely preserved. Improved performance is not yet demonstrated in the normal profile.</a:t>
            </a:r>
            <a:endParaRPr lang="en-US" sz="14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Level of Detail for Real-Time Rendering in Godot</dc:title>
  <dc:subject>PptxGenJS Presentation</dc:subject>
  <dc:creator>Shreeniwas Salian</dc:creator>
  <cp:lastModifiedBy>Shreeniwas Salian</cp:lastModifiedBy>
  <cp:revision>1</cp:revision>
  <dcterms:created xsi:type="dcterms:W3CDTF">2026-10-22T17:59:30Z</dcterms:created>
  <dcterms:modified xsi:type="dcterms:W3CDTF">2026-10-22T17:59:30Z</dcterms:modified>
</cp:coreProperties>
</file>